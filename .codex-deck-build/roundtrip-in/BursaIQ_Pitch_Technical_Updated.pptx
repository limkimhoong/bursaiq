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96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BursaIQ  ·  Technical Architecture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A5E"/>
          </a:solidFill>
          <a:ln w="12700">
            <a:solidFill>
              <a:srgbClr val="09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909560" y="-1051560"/>
            <a:ext cx="5303520" cy="5303520"/>
          </a:xfrm>
          <a:prstGeom prst="arc">
            <a:avLst/>
          </a:prstGeom>
          <a:solidFill>
            <a:srgbClr val="092A5E">
              <a:alpha val="0"/>
            </a:srgbClr>
          </a:solidFill>
          <a:ln w="43180">
            <a:solidFill>
              <a:srgbClr val="1B70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300000">
            <a:off x="8503920" y="2880360"/>
            <a:ext cx="4480560" cy="4480560"/>
          </a:xfrm>
          <a:prstGeom prst="arc">
            <a:avLst/>
          </a:prstGeom>
          <a:solidFill>
            <a:srgbClr val="092A5E">
              <a:alpha val="0"/>
            </a:srgbClr>
          </a:solidFill>
          <a:ln w="27940">
            <a:solidFill>
              <a:srgbClr val="14B8D4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12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BursaIQ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5216" y="1408176"/>
            <a:ext cx="2514600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76756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B9D6FF"/>
                </a:solidFill>
              </a:rPr>
              <a:t>REPOSITORY-ALIGNED · OCT 2026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566928" y="1856232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Technical Architecture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&amp; Implemented Platform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8E5F7"/>
                </a:solidFill>
              </a:rPr>
              <a:t>Flask APIs, governed AI execution, deterministic analytics, role-filtered knowledge, human approval and reusable intelligence—implemented as one local prototype.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594360" y="4608576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677156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4B8D4"/>
                </a:solidFill>
              </a:rPr>
              <a:t>Python 3.11+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1947672" y="4608576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4677156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Flask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300984" y="4608576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4677156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SQLite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654296" y="4608576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4677156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A5AF8"/>
                </a:solidFill>
              </a:rPr>
              <a:t>JavaScript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94360" y="504748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116068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4B8D4"/>
                </a:solidFill>
              </a:rPr>
              <a:t>Ollama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1947672" y="504748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5116068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Copilot Studio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3300984" y="504748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5116068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RAG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654296" y="504748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5116068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A5AF8"/>
                </a:solidFill>
              </a:rPr>
              <a:t>PDF output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94360" y="5852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C8"/>
                </a:solidFill>
              </a:rPr>
              <a:t>Scope: code architecture, feature wiring, data paths, governance controls and demo boundaries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0B5FFF"/>
                </a:solidFill>
              </a:rPr>
              <a:t>IMPLEMENTED SURFACE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64008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92A5E"/>
                </a:solidFill>
              </a:rPr>
              <a:t>Twelve connected pages share one governed backend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Navigation is grouped by execution, follow-through and administration; all stateful features persist through Flask APIs.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64208"/>
            <a:ext cx="64008" cy="107899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19656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8823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ENTRY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40080" y="21579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Home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40080" y="245973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Live semantic routing to conversational Q&amp;A or an active registered mission capability.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834640" y="1664208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1664208"/>
            <a:ext cx="64008" cy="107899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819656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88823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EXECUTE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3017520" y="21579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AI Assistant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017520" y="245973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Live answers, evidence, metrics and hybrid HTML/SVG analytics charts.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212080" y="1664208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1664208"/>
            <a:ext cx="64008" cy="107899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819656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88823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KNOWLEDGE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394960" y="21579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Ask Bursa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394960" y="245973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Role-filtered RAG over indexed documents with citations and source-scope disclosure.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589520" y="1664208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1664208"/>
            <a:ext cx="64008" cy="107899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819656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88823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MISSIONS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7772400" y="21579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My Workforce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7772400" y="245973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Governed missions, worker stages, agents, teams and capabilities.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966960" y="1664208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66960" y="1664208"/>
            <a:ext cx="64008" cy="107899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1819656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188823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COLLAB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10149840" y="21579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Collaborative Rooms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10149840" y="245973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Persisted rooms, tasks, files, AI teammates and decisions.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7200" y="2999232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2999232"/>
            <a:ext cx="64008" cy="107899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315468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22326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WORKFLOW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640080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Automation Studio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640080" y="379476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Persisted visual workflows with validation, retries, approvals and resumable runs.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834640" y="2999232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834640" y="2999232"/>
            <a:ext cx="64008" cy="107899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315468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322326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REUSE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3017520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Intelligence Exchange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3017520" y="379476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Approved, versioned assets with provenance and traceable reuse as a new mission.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212080" y="2999232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212080" y="2999232"/>
            <a:ext cx="64008" cy="1078992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94960" y="315468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322326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A5AF8"/>
                </a:solidFill>
              </a:rPr>
              <a:t>FOLLOW-UP</a:t>
            </a:r>
            <a:endParaRPr lang="en-US" sz="870" dirty="0"/>
          </a:p>
        </p:txBody>
      </p:sp>
      <p:sp>
        <p:nvSpPr>
          <p:cNvPr id="51" name="Text 49"/>
          <p:cNvSpPr/>
          <p:nvPr/>
        </p:nvSpPr>
        <p:spPr>
          <a:xfrm>
            <a:off x="5394960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Action</a:t>
            </a:r>
            <a:endParaRPr lang="en-US" sz="1320" dirty="0"/>
          </a:p>
        </p:txBody>
      </p:sp>
      <p:sp>
        <p:nvSpPr>
          <p:cNvPr id="52" name="Text 50"/>
          <p:cNvSpPr/>
          <p:nvPr/>
        </p:nvSpPr>
        <p:spPr>
          <a:xfrm>
            <a:off x="5394960" y="379476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Backend-derived attention queue, decision memory and reviewable email schedules.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589520" y="2999232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589520" y="2999232"/>
            <a:ext cx="64008" cy="1078992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315468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322326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A5AF8"/>
                </a:solidFill>
              </a:rPr>
              <a:t>GOVERN</a:t>
            </a:r>
            <a:endParaRPr lang="en-US" sz="870" dirty="0"/>
          </a:p>
        </p:txBody>
      </p:sp>
      <p:sp>
        <p:nvSpPr>
          <p:cNvPr id="57" name="Text 55"/>
          <p:cNvSpPr/>
          <p:nvPr/>
        </p:nvSpPr>
        <p:spPr>
          <a:xfrm>
            <a:off x="7772400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Verification Centre</a:t>
            </a:r>
            <a:endParaRPr lang="en-US" sz="1320" dirty="0"/>
          </a:p>
        </p:txBody>
      </p:sp>
      <p:sp>
        <p:nvSpPr>
          <p:cNvPr id="58" name="Text 56"/>
          <p:cNvSpPr/>
          <p:nvPr/>
        </p:nvSpPr>
        <p:spPr>
          <a:xfrm>
            <a:off x="7772400" y="379476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Review, approval, requested changes, resubmission and audit history.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9966960" y="2999232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966960" y="2999232"/>
            <a:ext cx="64008" cy="1078992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149840" y="315468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41280" y="322326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ADMIN</a:t>
            </a:r>
            <a:endParaRPr lang="en-US" sz="870" dirty="0"/>
          </a:p>
        </p:txBody>
      </p:sp>
      <p:sp>
        <p:nvSpPr>
          <p:cNvPr id="63" name="Text 61"/>
          <p:cNvSpPr/>
          <p:nvPr/>
        </p:nvSpPr>
        <p:spPr>
          <a:xfrm>
            <a:off x="10149840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Knowledge Admin</a:t>
            </a:r>
            <a:endParaRPr lang="en-US" sz="1320" dirty="0"/>
          </a:p>
        </p:txBody>
      </p:sp>
      <p:sp>
        <p:nvSpPr>
          <p:cNvPr id="64" name="Text 62"/>
          <p:cNvSpPr/>
          <p:nvPr/>
        </p:nvSpPr>
        <p:spPr>
          <a:xfrm>
            <a:off x="10149840" y="379476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Upload, metadata, permissions, indexing, failures, removal and suggestions.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457200" y="4334256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57200" y="4334256"/>
            <a:ext cx="64008" cy="1078992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4489704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4558284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ADMIN</a:t>
            </a:r>
            <a:endParaRPr lang="en-US" sz="870" dirty="0"/>
          </a:p>
        </p:txBody>
      </p:sp>
      <p:sp>
        <p:nvSpPr>
          <p:cNvPr id="69" name="Text 67"/>
          <p:cNvSpPr/>
          <p:nvPr/>
        </p:nvSpPr>
        <p:spPr>
          <a:xfrm>
            <a:off x="640080" y="482803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Connectors</a:t>
            </a:r>
            <a:endParaRPr lang="en-US" sz="1320" dirty="0"/>
          </a:p>
        </p:txBody>
      </p:sp>
      <p:sp>
        <p:nvSpPr>
          <p:cNvPr id="70" name="Text 68"/>
          <p:cNvSpPr/>
          <p:nvPr/>
        </p:nvSpPr>
        <p:spPr>
          <a:xfrm>
            <a:off x="640080" y="512978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Governed requests; external access stays unavailable until configured.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2834640" y="4334256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834640" y="4334256"/>
            <a:ext cx="64008" cy="1078992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17520" y="4489704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8960" y="4558284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PLATFORM</a:t>
            </a:r>
            <a:endParaRPr lang="en-US" sz="870" dirty="0"/>
          </a:p>
        </p:txBody>
      </p:sp>
      <p:sp>
        <p:nvSpPr>
          <p:cNvPr id="75" name="Text 73"/>
          <p:cNvSpPr/>
          <p:nvPr/>
        </p:nvSpPr>
        <p:spPr>
          <a:xfrm>
            <a:off x="3017520" y="482803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Settings</a:t>
            </a:r>
            <a:endParaRPr lang="en-US" sz="1320" dirty="0"/>
          </a:p>
        </p:txBody>
      </p:sp>
      <p:sp>
        <p:nvSpPr>
          <p:cNvPr id="76" name="Text 74"/>
          <p:cNvSpPr/>
          <p:nvPr/>
        </p:nvSpPr>
        <p:spPr>
          <a:xfrm>
            <a:off x="3017520" y="512978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Local preferences and live model-provider availability.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5212080" y="4334256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092A5E"/>
          </a:solidFill>
          <a:ln w="12700">
            <a:solidFill>
              <a:srgbClr val="092A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0" y="45354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Shared rendering contract</a:t>
            </a:r>
            <a:endParaRPr lang="en-US" sz="1320" dirty="0"/>
          </a:p>
        </p:txBody>
      </p:sp>
      <p:sp>
        <p:nvSpPr>
          <p:cNvPr id="79" name="Text 77"/>
          <p:cNvSpPr/>
          <p:nvPr/>
        </p:nvSpPr>
        <p:spPr>
          <a:xfrm>
            <a:off x="5486400" y="4910328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8E5F7"/>
                </a:solidFill>
              </a:rPr>
              <a:t>Summary metrics · tables · charts · findings · evidence · quality checks · interpretation boundaries · downloadable outputs</a:t>
            </a:r>
            <a:endParaRPr lang="en-US" sz="1040" dirty="0"/>
          </a:p>
        </p:txBody>
      </p:sp>
      <p:sp>
        <p:nvSpPr>
          <p:cNvPr id="80" name="Shape 78"/>
          <p:cNvSpPr/>
          <p:nvPr/>
        </p:nvSpPr>
        <p:spPr>
          <a:xfrm>
            <a:off x="457200" y="5797296"/>
            <a:ext cx="1129284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" y="595274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All surfaces are implemented in index.html + static/js/workforce.js and backed by server.py / bursaiq modules.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0B5FFF"/>
                </a:solidFill>
              </a:rPr>
              <a:t>DESIGN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64008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92A5E"/>
                </a:solidFill>
              </a:rPr>
              <a:t>Layered system with explicit execution and trust boundaries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The model interprets intent and generates language; Python owns capability allowlisting, deterministic analytics, validation, persistence and reports.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6089904" y="2267712"/>
            <a:ext cx="0" cy="182880"/>
          </a:xfrm>
          <a:prstGeom prst="line">
            <a:avLst/>
          </a:prstGeom>
          <a:noFill/>
          <a:ln w="20320">
            <a:solidFill>
              <a:srgbClr val="91A8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9904" y="3108960"/>
            <a:ext cx="0" cy="182880"/>
          </a:xfrm>
          <a:prstGeom prst="line">
            <a:avLst/>
          </a:prstGeom>
          <a:noFill/>
          <a:ln w="20320">
            <a:solidFill>
              <a:srgbClr val="91A8C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9904" y="3950208"/>
            <a:ext cx="0" cy="182880"/>
          </a:xfrm>
          <a:prstGeom prst="line">
            <a:avLst/>
          </a:prstGeom>
          <a:noFill/>
          <a:ln w="20320">
            <a:solidFill>
              <a:srgbClr val="91A8C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9904" y="4791456"/>
            <a:ext cx="0" cy="182880"/>
          </a:xfrm>
          <a:prstGeom prst="line">
            <a:avLst/>
          </a:prstGeom>
          <a:noFill/>
          <a:ln w="20320">
            <a:solidFill>
              <a:srgbClr val="91A8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18120" y="3703320"/>
            <a:ext cx="960120" cy="0"/>
          </a:xfrm>
          <a:prstGeom prst="line">
            <a:avLst/>
          </a:prstGeom>
          <a:noFill/>
          <a:ln w="17780">
            <a:solidFill>
              <a:srgbClr val="91A8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59952" y="3703320"/>
            <a:ext cx="-941832" cy="0"/>
          </a:xfrm>
          <a:prstGeom prst="line">
            <a:avLst/>
          </a:prstGeom>
          <a:noFill/>
          <a:ln w="17780">
            <a:solidFill>
              <a:srgbClr val="91A8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1609344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EDF4FF"/>
          </a:solidFill>
          <a:ln w="8890">
            <a:solidFill>
              <a:srgbClr val="C8D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55648"/>
            <a:ext cx="347472" cy="347472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3794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33856" y="17282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2A5E"/>
                </a:solidFill>
              </a:rPr>
              <a:t>Browser interface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80360" y="17282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Responsive HTML/CSS/JavaScript · 11 pages · safe Markdown · HTML/SVG analytics charts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02920" y="2450592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EAF3FF"/>
          </a:solidFill>
          <a:ln w="8890">
            <a:solidFill>
              <a:srgbClr val="C8D5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596896"/>
            <a:ext cx="347472" cy="347472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7919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3856" y="2569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2A5E"/>
                </a:solidFill>
              </a:rPr>
              <a:t>Flask API boundary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80360" y="25694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Routing, request validation, role checks, provider gateway and feature-specific APIs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F1EEFF"/>
          </a:solidFill>
          <a:ln w="8890">
            <a:solidFill>
              <a:srgbClr val="C8D5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438144"/>
            <a:ext cx="347472" cy="347472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520440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33856" y="3410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2A5E"/>
                </a:solidFill>
              </a:rPr>
              <a:t>Orchestration &amp; governance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80360" y="34107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Mission engine · Agent Registry · teams · Capability Registry · workflow engine · approval gates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02920" y="4133088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E8F8F5"/>
          </a:solidFill>
          <a:ln w="8890">
            <a:solidFill>
              <a:srgbClr val="C8D5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279392"/>
            <a:ext cx="347472" cy="347472"/>
          </a:xfrm>
          <a:prstGeom prst="ellipse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36168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33856" y="4251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2A5E"/>
                </a:solidFill>
              </a:rPr>
              <a:t>Execution services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80360" y="4251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Allowlisted Python executors · RAG · PDF generation · model providers · structured result validation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02920" y="4974336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 w="8890">
            <a:solidFill>
              <a:srgbClr val="C8D5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5120640"/>
            <a:ext cx="347472" cy="347472"/>
          </a:xfrm>
          <a:prstGeom prst="ellipse">
            <a:avLst/>
          </a:prstGeom>
          <a:solidFill>
            <a:srgbClr val="092A5E"/>
          </a:solidFill>
          <a:ln w="12700">
            <a:solidFill>
              <a:srgbClr val="092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5202936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3856" y="5093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2A5E"/>
                </a:solidFill>
              </a:rPr>
              <a:t>State &amp; governed assets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80360" y="50932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SQLite runtime store · controlled knowledge files · synthetic CSV inputs · output/pdf deliverables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8275320" y="1609344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1609344"/>
            <a:ext cx="64008" cy="1024128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58200" y="1764792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1833372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LANGUAGE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8458200" y="210312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Model providers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8458200" y="2404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Ollama: qwen2.5:3b + nomic-embed-text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Copilot Studio: server-side Direct Line token exchange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275320" y="2953512"/>
            <a:ext cx="3401568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75320" y="2953512"/>
            <a:ext cx="64008" cy="1335024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58200" y="310896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317754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A5AF8"/>
                </a:solidFill>
              </a:rPr>
              <a:t>ALLOWLIST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8458200" y="34472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Capability safety boundary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8458200" y="3749040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A registry record cannot install code. Only executor IDs in MISSION_EXECUTORS can run; missing, disabled, changed or input-incomplete contracts are rejected.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8275320" y="4608576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75320" y="4608576"/>
            <a:ext cx="64008" cy="1024128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58200" y="4764024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4832604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STATE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8458200" y="51023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Persistence boundary</a:t>
            </a:r>
            <a:endParaRPr lang="en-US" sz="1320" dirty="0"/>
          </a:p>
        </p:txBody>
      </p:sp>
      <p:sp>
        <p:nvSpPr>
          <p:cNvPr id="53" name="Text 51"/>
          <p:cNvSpPr/>
          <p:nvPr/>
        </p:nvSpPr>
        <p:spPr>
          <a:xfrm>
            <a:off x="8458200" y="540410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SQLite persists governed platform state. Local Analysis uploads remain in memory; reports are written to output/pdf/.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8549640" y="5879592"/>
            <a:ext cx="1700784" cy="274320"/>
          </a:xfrm>
          <a:prstGeom prst="roundRect">
            <a:avLst>
              <a:gd name="adj" fmla="val 26667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41080" y="5948172"/>
            <a:ext cx="15179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45A00"/>
                </a:solidFill>
              </a:rPr>
              <a:t>NO SECRETS IN BROWSER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10314432" y="5879592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05872" y="594817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45A00"/>
                </a:solidFill>
              </a:rPr>
              <a:t>NO SILENT FAKE SUCCESS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0B5FFF"/>
                </a:solidFill>
              </a:rPr>
              <a:t>RUNTIME BEHAVIOR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64008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92A5E"/>
                </a:solidFill>
              </a:rPr>
              <a:t>One request can become a governed, reusable technical artifact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Execution freezes the selected capability, team and agent versions; approval and reuse retain provenance.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1975104" y="2386584"/>
            <a:ext cx="137160" cy="0"/>
          </a:xfrm>
          <a:prstGeom prst="line">
            <a:avLst/>
          </a:prstGeom>
          <a:noFill/>
          <a:ln w="19050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48456" y="2386584"/>
            <a:ext cx="137160" cy="0"/>
          </a:xfrm>
          <a:prstGeom prst="line">
            <a:avLst/>
          </a:prstGeom>
          <a:noFill/>
          <a:ln w="19050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21808" y="2386584"/>
            <a:ext cx="137160" cy="0"/>
          </a:xfrm>
          <a:prstGeom prst="line">
            <a:avLst/>
          </a:prstGeom>
          <a:noFill/>
          <a:ln w="19050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95160" y="2386584"/>
            <a:ext cx="137160" cy="0"/>
          </a:xfrm>
          <a:prstGeom prst="line">
            <a:avLst/>
          </a:prstGeom>
          <a:noFill/>
          <a:ln w="19050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68512" y="2386584"/>
            <a:ext cx="137160" cy="0"/>
          </a:xfrm>
          <a:prstGeom prst="line">
            <a:avLst/>
          </a:prstGeom>
          <a:noFill/>
          <a:ln w="19050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341864" y="2386584"/>
            <a:ext cx="137160" cy="0"/>
          </a:xfrm>
          <a:prstGeom prst="line">
            <a:avLst/>
          </a:prstGeom>
          <a:noFill/>
          <a:ln w="19050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" y="1847088"/>
            <a:ext cx="1536192" cy="1097280"/>
          </a:xfrm>
          <a:prstGeom prst="roundRect">
            <a:avLst>
              <a:gd name="adj" fmla="val 5000"/>
            </a:avLst>
          </a:prstGeom>
          <a:solidFill>
            <a:srgbClr val="EDF4FF"/>
          </a:solidFill>
          <a:ln w="10160">
            <a:solidFill>
              <a:srgbClr val="C8D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" y="1975104"/>
            <a:ext cx="310896" cy="310896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04825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32688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5FFF"/>
                </a:solidFill>
              </a:rPr>
              <a:t>Request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2350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Home or New AI Mission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112264" y="1847088"/>
            <a:ext cx="1536192" cy="1097280"/>
          </a:xfrm>
          <a:prstGeom prst="roundRect">
            <a:avLst>
              <a:gd name="adj" fmla="val 5000"/>
            </a:avLst>
          </a:prstGeom>
          <a:solidFill>
            <a:srgbClr val="EDF4FF"/>
          </a:solidFill>
          <a:ln w="10160">
            <a:solidFill>
              <a:srgbClr val="C8D5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31136" y="1975104"/>
            <a:ext cx="310896" cy="310896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204825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5FFF"/>
                </a:solidFill>
              </a:rPr>
              <a:t>Route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40280" y="2350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Live provider classifies intent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785616" y="1847088"/>
            <a:ext cx="1536192" cy="1097280"/>
          </a:xfrm>
          <a:prstGeom prst="roundRect">
            <a:avLst>
              <a:gd name="adj" fmla="val 5000"/>
            </a:avLst>
          </a:prstGeom>
          <a:solidFill>
            <a:srgbClr val="F1EEFF"/>
          </a:solidFill>
          <a:ln w="10160">
            <a:solidFill>
              <a:srgbClr val="C8D5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04488" y="1975104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204825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79392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A5AF8"/>
                </a:solidFill>
              </a:rPr>
              <a:t>Validate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13632" y="2350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Capability, files, team, agents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458968" y="1847088"/>
            <a:ext cx="1536192" cy="1097280"/>
          </a:xfrm>
          <a:prstGeom prst="roundRect">
            <a:avLst>
              <a:gd name="adj" fmla="val 5000"/>
            </a:avLst>
          </a:prstGeom>
          <a:solidFill>
            <a:srgbClr val="F1EEFF"/>
          </a:solidFill>
          <a:ln w="10160">
            <a:solidFill>
              <a:srgbClr val="C8D5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975104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04825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52744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A5AF8"/>
                </a:solidFill>
              </a:rPr>
              <a:t>Execute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86984" y="2350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Allowlisted deterministic Python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132320" y="1847088"/>
            <a:ext cx="1536192" cy="1097280"/>
          </a:xfrm>
          <a:prstGeom prst="roundRect">
            <a:avLst>
              <a:gd name="adj" fmla="val 5000"/>
            </a:avLst>
          </a:prstGeom>
          <a:solidFill>
            <a:srgbClr val="E8F8F5"/>
          </a:solidFill>
          <a:ln w="10160">
            <a:solidFill>
              <a:srgbClr val="C8D5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51192" y="1975104"/>
            <a:ext cx="310896" cy="310896"/>
          </a:xfrm>
          <a:prstGeom prst="ellipse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204825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626096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B7A5"/>
                </a:solidFill>
              </a:rPr>
              <a:t>Review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60336" y="2350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Approve or request changes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805672" y="1847088"/>
            <a:ext cx="1536192" cy="1097280"/>
          </a:xfrm>
          <a:prstGeom prst="roundRect">
            <a:avLst>
              <a:gd name="adj" fmla="val 5000"/>
            </a:avLst>
          </a:prstGeom>
          <a:solidFill>
            <a:srgbClr val="E8F8F5"/>
          </a:solidFill>
          <a:ln w="10160">
            <a:solidFill>
              <a:srgbClr val="C8D5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24544" y="1975104"/>
            <a:ext cx="310896" cy="310896"/>
          </a:xfrm>
          <a:prstGeom prst="ellipse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24544" y="204825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299448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B7A5"/>
                </a:solidFill>
              </a:rPr>
              <a:t>Publish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933688" y="2350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Versioned Exchange asset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10479024" y="1847088"/>
            <a:ext cx="1536192" cy="109728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0160">
            <a:solidFill>
              <a:srgbClr val="C8D5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97896" y="1975104"/>
            <a:ext cx="310896" cy="310896"/>
          </a:xfrm>
          <a:prstGeom prst="ellipse">
            <a:avLst/>
          </a:prstGeom>
          <a:solidFill>
            <a:srgbClr val="092A5E"/>
          </a:solidFill>
          <a:ln w="12700">
            <a:solidFill>
              <a:srgbClr val="092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97896" y="204825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972800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92A5E"/>
                </a:solidFill>
              </a:rPr>
              <a:t>Reuse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607040" y="2350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New mission with provenance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457200" y="3410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A5E"/>
                </a:solidFill>
              </a:rPr>
              <a:t>Workflow Builder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3749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Persisted node graph and run state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3849624" y="3739896"/>
            <a:ext cx="182880" cy="0"/>
          </a:xfrm>
          <a:prstGeom prst="line">
            <a:avLst/>
          </a:prstGeom>
          <a:noFill/>
          <a:ln w="15875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230368" y="3739896"/>
            <a:ext cx="182880" cy="0"/>
          </a:xfrm>
          <a:prstGeom prst="line">
            <a:avLst/>
          </a:prstGeom>
          <a:noFill/>
          <a:ln w="15875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611112" y="3739896"/>
            <a:ext cx="182880" cy="0"/>
          </a:xfrm>
          <a:prstGeom prst="line">
            <a:avLst/>
          </a:prstGeom>
          <a:noFill/>
          <a:ln w="15875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991856" y="3739896"/>
            <a:ext cx="182880" cy="0"/>
          </a:xfrm>
          <a:prstGeom prst="line">
            <a:avLst/>
          </a:prstGeom>
          <a:noFill/>
          <a:ln w="15875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372600" y="3739896"/>
            <a:ext cx="182880" cy="0"/>
          </a:xfrm>
          <a:prstGeom prst="line">
            <a:avLst/>
          </a:prstGeom>
          <a:noFill/>
          <a:ln w="15875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753344" y="3739896"/>
            <a:ext cx="182880" cy="0"/>
          </a:xfrm>
          <a:prstGeom prst="line">
            <a:avLst/>
          </a:prstGeom>
          <a:noFill/>
          <a:ln w="15875">
            <a:solidFill>
              <a:srgbClr val="8CA6C7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651760" y="3456432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24912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Trigger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4032504" y="3456432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05656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Gather Data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5413248" y="3456432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AI Agent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6793992" y="3456432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67144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Condition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8174736" y="3456432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FFF5D9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47888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9E0B"/>
                </a:solidFill>
              </a:rPr>
              <a:t>Human Approval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9555480" y="3456432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E8F8F5"/>
          </a:solidFill>
          <a:ln w="13970">
            <a:solidFill>
              <a:srgbClr val="19B7A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28632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Generate Report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10936224" y="3456432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E8F8F5"/>
          </a:solidFill>
          <a:ln w="13970">
            <a:solidFill>
              <a:srgbClr val="19B7A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009376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Publish / Send</a:t>
            </a:r>
            <a:endParaRPr lang="en-US" sz="870" dirty="0"/>
          </a:p>
        </p:txBody>
      </p:sp>
      <p:sp>
        <p:nvSpPr>
          <p:cNvPr id="68" name="Shape 66"/>
          <p:cNvSpPr/>
          <p:nvPr/>
        </p:nvSpPr>
        <p:spPr>
          <a:xfrm>
            <a:off x="457200" y="441655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57200" y="4416552"/>
            <a:ext cx="64008" cy="11430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46177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Human approval is resumable</a:t>
            </a:r>
            <a:endParaRPr lang="en-US" sz="1320" dirty="0"/>
          </a:p>
        </p:txBody>
      </p:sp>
      <p:sp>
        <p:nvSpPr>
          <p:cNvPr id="71" name="Text 69"/>
          <p:cNvSpPr/>
          <p:nvPr/>
        </p:nvSpPr>
        <p:spPr>
          <a:xfrm>
            <a:off x="640080" y="4919472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Workflow approval uses the same review queue. A valid decision resumes the original run at the next node; repeated decisions are rejected.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4160520" y="441655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160520" y="4416552"/>
            <a:ext cx="64008" cy="114300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43400" y="46177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Result envelope is schema-driven</a:t>
            </a:r>
            <a:endParaRPr lang="en-US" sz="1320" dirty="0"/>
          </a:p>
        </p:txBody>
      </p:sp>
      <p:sp>
        <p:nvSpPr>
          <p:cNvPr id="75" name="Text 73"/>
          <p:cNvSpPr/>
          <p:nvPr/>
        </p:nvSpPr>
        <p:spPr>
          <a:xfrm>
            <a:off x="4343400" y="4919472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Metrics, tables, charts, evidence, quality checks and boundaries render consistently across Assistant, Workforce and Verification.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7863840" y="4416552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863840" y="4416552"/>
            <a:ext cx="64008" cy="114300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46720" y="46177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Unsupported integrations fail honestly</a:t>
            </a:r>
            <a:endParaRPr lang="en-US" sz="1320" dirty="0"/>
          </a:p>
        </p:txBody>
      </p:sp>
      <p:sp>
        <p:nvSpPr>
          <p:cNvPr id="79" name="Text 77"/>
          <p:cNvSpPr/>
          <p:nvPr/>
        </p:nvSpPr>
        <p:spPr>
          <a:xfrm>
            <a:off x="8046720" y="4919472"/>
            <a:ext cx="3493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Publish / Send only executes an explicitly supported integration. Unconfigured external send paths are blocked and recorded as unavailable.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0B5FFF"/>
                </a:solidFill>
              </a:rPr>
              <a:t>IMPLEMENTATION SNAPSHOT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64008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92A5E"/>
                </a:solidFill>
              </a:rPr>
              <a:t>Technology stack, data contracts and current demo boundaries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This slide replaces the business-comparison content with what the repository actually runs and validates.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475488" y="160020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600200"/>
            <a:ext cx="64008" cy="160020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5564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2422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RUNTIME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58368" y="20939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Application stack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58368" y="2395728"/>
            <a:ext cx="31455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13232" y="2450592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Python 3.11+ / Flask service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Responsive vanilla JavaScript frontend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SQLite persistence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Node.js frontend contract tests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PDF generation and validation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169664" y="160020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9664" y="1600200"/>
            <a:ext cx="64008" cy="16002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175564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182422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A5AF8"/>
                </a:solidFill>
              </a:rPr>
              <a:t>PROVIDERS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352544" y="20939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AI and knowledge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352544" y="2395728"/>
            <a:ext cx="31455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407408" y="2450592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Ollama generation + embeddings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Microsoft Copilot Studio / Direct Line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Role-filtered document retrieval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PDF, Office, CSV, text, Markdown, HTML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No OCR for image-only PDFs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863840" y="160020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  <a:effectLst>
            <a:outerShdw sx="100000" sy="100000" kx="0" ky="0" algn="bl" rotWithShape="0" blurRad="15240" dist="50800" dir="2700000">
              <a:srgbClr val="B9C6D8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0" y="1600200"/>
            <a:ext cx="64008" cy="160020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75564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82422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EXECUTORS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8046720" y="209397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92A5E"/>
                </a:solidFill>
              </a:rPr>
              <a:t>Registered analytics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046720" y="2395728"/>
            <a:ext cx="34930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119872" y="2450592"/>
            <a:ext cx="32735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ADV / investor participation analysis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Security liquidity and turnover analysis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market_trades_demo.csv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investor_participation_demo.csv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14213D"/>
                </a:solidFill>
              </a:rPr>
              <a:t>daily_security_trading_demo.csv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75488" y="3511296"/>
            <a:ext cx="7187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7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A5E"/>
                </a:solidFill>
              </a:rPr>
              <a:t>Persistence map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" y="4187952"/>
            <a:ext cx="1069848" cy="27432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256532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5FFF"/>
                </a:solidFill>
              </a:rPr>
              <a:t>SQLITE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1938528" y="4224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missions, versions, worker events, agents, teams, capabilities, workflows, rooms, approvals, settings, RAG chunks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13232" y="4581144"/>
            <a:ext cx="1069848" cy="27432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649724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9B7A5"/>
                </a:solidFill>
              </a:rPr>
              <a:t>FILESYSTEM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1938528" y="46177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controlled knowledge sources, synthetic CSV inputs, generated PDF reports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13232" y="4974336"/>
            <a:ext cx="1069848" cy="27432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042916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A5AF8"/>
                </a:solidFill>
              </a:rPr>
              <a:t>MEMORY ONLY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1938528" y="501091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Local Analysis uploads; cleared at process restart or session deletion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863840" y="3511296"/>
            <a:ext cx="3840480" cy="1965960"/>
          </a:xfrm>
          <a:prstGeom prst="roundRect">
            <a:avLst>
              <a:gd name="adj" fmla="val 3721"/>
            </a:avLst>
          </a:prstGeom>
          <a:solidFill>
            <a:srgbClr val="FFF5D9"/>
          </a:solidFill>
          <a:ln w="11430">
            <a:solidFill>
              <a:srgbClr val="F5C9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74D00"/>
                </a:solidFill>
              </a:rPr>
              <a:t>Current boundaries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19872" y="4187952"/>
            <a:ext cx="32644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694100"/>
                </a:solidFill>
              </a:rPr>
              <a:t>Synthetic demonstration data and identities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694100"/>
                </a:solidFill>
              </a:rPr>
              <a:t>Local role checks—not production SSO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694100"/>
                </a:solidFill>
              </a:rPr>
              <a:t>External connectors require administrator configuration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694100"/>
                </a:solidFill>
              </a:rPr>
              <a:t>Provider failures surface as unavailable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694100"/>
                </a:solidFill>
              </a:rPr>
              <a:t>No production market feed is claimed</a:t>
            </a:r>
            <a:endParaRPr lang="en-US" sz="990" dirty="0"/>
          </a:p>
        </p:txBody>
      </p:sp>
      <p:sp>
        <p:nvSpPr>
          <p:cNvPr id="40" name="Shape 38"/>
          <p:cNvSpPr/>
          <p:nvPr/>
        </p:nvSpPr>
        <p:spPr>
          <a:xfrm>
            <a:off x="475488" y="5806440"/>
            <a:ext cx="11228832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59618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Primary implementation: server.py · index.html · static/js/workforce.js · bursaiq/*.py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8915400" y="5925312"/>
            <a:ext cx="2788920" cy="274320"/>
          </a:xfrm>
          <a:prstGeom prst="roundRect">
            <a:avLst>
              <a:gd name="adj" fmla="val 26667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06840" y="5993892"/>
            <a:ext cx="2606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74D00"/>
                </a:solidFill>
              </a:rPr>
              <a:t>TECHNICAL DEMO — NOT MARKET GUIDANCE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BursaIQ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BursaIQ — Technical Architecture &amp; Implemented Platform</dc:title>
  <dc:subject>Technical architecture and implemented feature overview</dc:subject>
  <dc:creator>BursaIQ</dc:creator>
  <cp:lastModifiedBy>BursaIQ</cp:lastModifiedBy>
  <cp:revision>1</cp:revision>
  <dcterms:created xsi:type="dcterms:W3CDTF">2026-10-21T09:33:08Z</dcterms:created>
  <dcterms:modified xsi:type="dcterms:W3CDTF">2026-10-21T09:33:08Z</dcterms:modified>
</cp:coreProperties>
</file>