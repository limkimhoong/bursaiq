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f214edae554ef3" /><Relationship Type="http://schemas.openxmlformats.org/officeDocument/2006/relationships/extended-properties" Target="/docProps/app.xml" Id="R1c6cd019ae6f44c3" /><Relationship Type="http://schemas.openxmlformats.org/officeDocument/2006/relationships/officeDocument" Target="/ppt/presentation.xml" Id="Re6ae317716224f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8f4dbf050f4780"/>
  </p:sldMasterIdLst>
  <p:notesMasterIdLst>
    <p:notesMasterId xmlns:r="http://schemas.openxmlformats.org/officeDocument/2006/relationships" r:id="R0be968f2b05741b6"/>
  </p:notesMasterIdLst>
  <p:sldIdLst>
    <p:sldId xmlns:r="http://schemas.openxmlformats.org/officeDocument/2006/relationships" id="256" r:id="Rd957b61aff0f42ce"/>
    <p:sldId xmlns:r="http://schemas.openxmlformats.org/officeDocument/2006/relationships" id="257" r:id="R1d0c9f992df84aed"/>
    <p:sldId xmlns:r="http://schemas.openxmlformats.org/officeDocument/2006/relationships" id="258" r:id="R12640c3c98d1469a"/>
    <p:sldId xmlns:r="http://schemas.openxmlformats.org/officeDocument/2006/relationships" id="259" r:id="R8d0deeb869654b05"/>
    <p:sldId xmlns:r="http://schemas.openxmlformats.org/officeDocument/2006/relationships" id="260" r:id="R5f2438182285411b"/>
    <p:sldId xmlns:r="http://schemas.openxmlformats.org/officeDocument/2006/relationships" id="261" r:id="R4b3d36a022c94310"/>
    <p:sldId xmlns:r="http://schemas.openxmlformats.org/officeDocument/2006/relationships" id="262" r:id="R98039b758ec84648"/>
    <p:sldId xmlns:r="http://schemas.openxmlformats.org/officeDocument/2006/relationships" id="263" r:id="R1add44d373354153"/>
    <p:sldId xmlns:r="http://schemas.openxmlformats.org/officeDocument/2006/relationships" id="264" r:id="R9a358ed6546e42fa"/>
    <p:sldId xmlns:r="http://schemas.openxmlformats.org/officeDocument/2006/relationships" id="265" r:id="R152dbb50098945e2"/>
    <p:sldId xmlns:r="http://schemas.openxmlformats.org/officeDocument/2006/relationships" id="266" r:id="Rc24d77ce4a394788"/>
    <p:sldId xmlns:r="http://schemas.openxmlformats.org/officeDocument/2006/relationships" id="267" r:id="R23bccaf766ff4ca3"/>
    <p:sldId xmlns:r="http://schemas.openxmlformats.org/officeDocument/2006/relationships" id="268" r:id="R009b66d28e8a4d71"/>
    <p:sldId xmlns:r="http://schemas.openxmlformats.org/officeDocument/2006/relationships" id="269" r:id="R408aed544ae243f5"/>
    <p:sldId xmlns:r="http://schemas.openxmlformats.org/officeDocument/2006/relationships" id="270" r:id="R5148fe59a2074944"/>
    <p:sldId xmlns:r="http://schemas.openxmlformats.org/officeDocument/2006/relationships" id="271" r:id="R9c8dd428dd054a99"/>
    <p:sldId xmlns:r="http://schemas.openxmlformats.org/officeDocument/2006/relationships" id="272" r:id="Rbe6ae23131084ce8"/>
    <p:sldId xmlns:r="http://schemas.openxmlformats.org/officeDocument/2006/relationships" id="273" r:id="Ra58ceb096c5c4f14"/>
    <p:sldId xmlns:r="http://schemas.openxmlformats.org/officeDocument/2006/relationships" id="274" r:id="R61ba46b8d4ec443f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91df2afb104d55" /><Relationship Type="http://schemas.openxmlformats.org/officeDocument/2006/relationships/slideMaster" Target="/ppt/slideMasters/slideMaster1.xml" Id="R198f4dbf050f4780" /><Relationship Type="http://schemas.openxmlformats.org/officeDocument/2006/relationships/notesMaster" Target="/ppt/notesMasters/notesMaster1.xml" Id="R0be968f2b05741b6" /><Relationship Type="http://schemas.openxmlformats.org/officeDocument/2006/relationships/presProps" Target="/ppt/presProps.xml" Id="R1741cddb1fa74386" /><Relationship Type="http://schemas.openxmlformats.org/officeDocument/2006/relationships/viewProps" Target="/ppt/viewProps.xml" Id="R1c1f37b6a0af4a26" /><Relationship Type="http://schemas.openxmlformats.org/officeDocument/2006/relationships/tableStyles" Target="/ppt/tableStyles.xml" Id="R80a70f4ffd2f4692" /><Relationship Type="http://schemas.openxmlformats.org/officeDocument/2006/relationships/slide" Target="/ppt/slides/slide1.xml" Id="Rd957b61aff0f42ce" /><Relationship Type="http://schemas.openxmlformats.org/officeDocument/2006/relationships/slide" Target="/ppt/slides/slide2.xml" Id="R1d0c9f992df84aed" /><Relationship Type="http://schemas.openxmlformats.org/officeDocument/2006/relationships/slide" Target="/ppt/slides/slide3.xml" Id="R12640c3c98d1469a" /><Relationship Type="http://schemas.openxmlformats.org/officeDocument/2006/relationships/slide" Target="/ppt/slides/slide4.xml" Id="R8d0deeb869654b05" /><Relationship Type="http://schemas.openxmlformats.org/officeDocument/2006/relationships/slide" Target="/ppt/slides/slide5.xml" Id="R5f2438182285411b" /><Relationship Type="http://schemas.openxmlformats.org/officeDocument/2006/relationships/slide" Target="/ppt/slides/slide6.xml" Id="R4b3d36a022c94310" /><Relationship Type="http://schemas.openxmlformats.org/officeDocument/2006/relationships/slide" Target="/ppt/slides/slide7.xml" Id="R98039b758ec84648" /><Relationship Type="http://schemas.openxmlformats.org/officeDocument/2006/relationships/slide" Target="/ppt/slides/slide8.xml" Id="R1add44d373354153" /><Relationship Type="http://schemas.openxmlformats.org/officeDocument/2006/relationships/slide" Target="/ppt/slides/slide9.xml" Id="R9a358ed6546e42fa" /><Relationship Type="http://schemas.openxmlformats.org/officeDocument/2006/relationships/slide" Target="/ppt/slides/slide10.xml" Id="R152dbb50098945e2" /><Relationship Type="http://schemas.openxmlformats.org/officeDocument/2006/relationships/slide" Target="/ppt/slides/slide11.xml" Id="Rc24d77ce4a394788" /><Relationship Type="http://schemas.openxmlformats.org/officeDocument/2006/relationships/slide" Target="/ppt/slides/slide12.xml" Id="R23bccaf766ff4ca3" /><Relationship Type="http://schemas.openxmlformats.org/officeDocument/2006/relationships/slide" Target="/ppt/slides/slide13.xml" Id="R009b66d28e8a4d71" /><Relationship Type="http://schemas.openxmlformats.org/officeDocument/2006/relationships/slide" Target="/ppt/slides/slide14.xml" Id="R408aed544ae243f5" /><Relationship Type="http://schemas.openxmlformats.org/officeDocument/2006/relationships/slide" Target="/ppt/slides/slide15.xml" Id="R5148fe59a2074944" /><Relationship Type="http://schemas.openxmlformats.org/officeDocument/2006/relationships/slide" Target="/ppt/slides/slide16.xml" Id="R9c8dd428dd054a99" /><Relationship Type="http://schemas.openxmlformats.org/officeDocument/2006/relationships/slide" Target="/ppt/slides/slide17.xml" Id="Rbe6ae23131084ce8" /><Relationship Type="http://schemas.openxmlformats.org/officeDocument/2006/relationships/slide" Target="/ppt/slides/slide18.xml" Id="Ra58ceb096c5c4f14" /><Relationship Type="http://schemas.openxmlformats.org/officeDocument/2006/relationships/slide" Target="/ppt/slides/slide19.xml" Id="R61ba46b8d4ec44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e94087a8a84e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0bb13762614811" /><Relationship Type="http://schemas.openxmlformats.org/officeDocument/2006/relationships/notesMaster" Target="/ppt/notesMasters/notesMaster1.xml" Id="Rbdd2426c471547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721728d3f747dd" /><Relationship Type="http://schemas.openxmlformats.org/officeDocument/2006/relationships/notesMaster" Target="/ppt/notesMasters/notesMaster1.xml" Id="R92bab2ea261545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ff41f3525e4b5d" /><Relationship Type="http://schemas.openxmlformats.org/officeDocument/2006/relationships/notesMaster" Target="/ppt/notesMasters/notesMaster1.xml" Id="Ra86ec20b767d45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60ea2bf6b8440e" /><Relationship Type="http://schemas.openxmlformats.org/officeDocument/2006/relationships/notesMaster" Target="/ppt/notesMasters/notesMaster1.xml" Id="Raa8b75e785c248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68e2c15b2a4612" /><Relationship Type="http://schemas.openxmlformats.org/officeDocument/2006/relationships/notesMaster" Target="/ppt/notesMasters/notesMaster1.xml" Id="Rb8fb957400e843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0277c3ace04c8e" /><Relationship Type="http://schemas.openxmlformats.org/officeDocument/2006/relationships/notesMaster" Target="/ppt/notesMasters/notesMaster1.xml" Id="R5d957a1519ae42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e2577f1cc94d45" /><Relationship Type="http://schemas.openxmlformats.org/officeDocument/2006/relationships/notesMaster" Target="/ppt/notesMasters/notesMaster1.xml" Id="R1313c6c106f447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4641256f6846d0" /><Relationship Type="http://schemas.openxmlformats.org/officeDocument/2006/relationships/notesMaster" Target="/ppt/notesMasters/notesMaster1.xml" Id="R398e05328d9444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b994fc82704066" /><Relationship Type="http://schemas.openxmlformats.org/officeDocument/2006/relationships/notesMaster" Target="/ppt/notesMasters/notesMaster1.xml" Id="R28fbdd24669d4f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803837ee684ef1" /><Relationship Type="http://schemas.openxmlformats.org/officeDocument/2006/relationships/notesMaster" Target="/ppt/notesMasters/notesMaster1.xml" Id="R85abd3fc749040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a38286a9b64f18" /><Relationship Type="http://schemas.openxmlformats.org/officeDocument/2006/relationships/notesMaster" Target="/ppt/notesMasters/notesMaster1.xml" Id="R1be87d4802a24f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24e265d1934bb8" /><Relationship Type="http://schemas.openxmlformats.org/officeDocument/2006/relationships/notesMaster" Target="/ppt/notesMasters/notesMaster1.xml" Id="R89ab7c51ceab47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e6fba55aea4232" /><Relationship Type="http://schemas.openxmlformats.org/officeDocument/2006/relationships/notesMaster" Target="/ppt/notesMasters/notesMaster1.xml" Id="R4d821e8cda6243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7c859f0eaf4684" /><Relationship Type="http://schemas.openxmlformats.org/officeDocument/2006/relationships/notesMaster" Target="/ppt/notesMasters/notesMaster1.xml" Id="Rbc17c45065144e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ac36262c934ad3" /><Relationship Type="http://schemas.openxmlformats.org/officeDocument/2006/relationships/notesMaster" Target="/ppt/notesMasters/notesMaster1.xml" Id="R0b250935c93e4e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99485076204333" /><Relationship Type="http://schemas.openxmlformats.org/officeDocument/2006/relationships/notesMaster" Target="/ppt/notesMasters/notesMaster1.xml" Id="R551d77b3d94c40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56fabdfd65c46ae" /><Relationship Type="http://schemas.openxmlformats.org/officeDocument/2006/relationships/notesMaster" Target="/ppt/notesMasters/notesMaster1.xml" Id="R671a887868fc46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733394c3524333" /><Relationship Type="http://schemas.openxmlformats.org/officeDocument/2006/relationships/notesMaster" Target="/ppt/notesMasters/notesMaster1.xml" Id="Rfd79ac81ec494e2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5f39ff71f824196" /><Relationship Type="http://schemas.openxmlformats.org/officeDocument/2006/relationships/notesMaster" Target="/ppt/notesMasters/notesMaster1.xml" Id="R121a5eae64614c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8b8858c794f9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3f54a7b66d4ff9" /><Relationship Type="http://schemas.openxmlformats.org/officeDocument/2006/relationships/slideLayout" Target="/ppt/slideLayouts/slideLayout1.xml" Id="Rdb7c635b27b048c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7c635b27b048c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d61943aa34e29" /><Relationship Type="http://schemas.openxmlformats.org/officeDocument/2006/relationships/image" Target="/ppt/media/image.png" Id="Rde9d0a07eaab4c72" /><Relationship Type="http://schemas.openxmlformats.org/officeDocument/2006/relationships/notesSlide" Target="/ppt/notesSlides/notesSlide1.xml" Id="R3d9809f1544d40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baa54aac64ac0" /><Relationship Type="http://schemas.openxmlformats.org/officeDocument/2006/relationships/image" Target="/ppt/media/image2.png" Id="R838862a949e14590" /><Relationship Type="http://schemas.openxmlformats.org/officeDocument/2006/relationships/image" Target="/ppt/media/image3.png" Id="Rde2becd76ace4b5f" /><Relationship Type="http://schemas.openxmlformats.org/officeDocument/2006/relationships/image" Target="/ppt/media/image4.png" Id="R80cb47d946fa4d22" /><Relationship Type="http://schemas.openxmlformats.org/officeDocument/2006/relationships/image" Target="/ppt/media/image5.png" Id="Rf84c72097a504efd" /><Relationship Type="http://schemas.openxmlformats.org/officeDocument/2006/relationships/notesSlide" Target="/ppt/notesSlides/notesSlide2.xml" Id="Rbc52465afa9447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edb2a32644d2a" /><Relationship Type="http://schemas.openxmlformats.org/officeDocument/2006/relationships/image" Target="/ppt/media/image6.png" Id="R13b0031c8d8248a8" /><Relationship Type="http://schemas.openxmlformats.org/officeDocument/2006/relationships/image" Target="/ppt/media/image7.png" Id="R14d55d16f5364597" /><Relationship Type="http://schemas.openxmlformats.org/officeDocument/2006/relationships/image" Target="/ppt/media/image8.png" Id="R4f01e059a0144858" /><Relationship Type="http://schemas.openxmlformats.org/officeDocument/2006/relationships/image" Target="/ppt/media/image9.png" Id="R42203b10315445d6" /><Relationship Type="http://schemas.openxmlformats.org/officeDocument/2006/relationships/image" Target="/ppt/media/image10.png" Id="Rbbfd381bd6284548" /><Relationship Type="http://schemas.openxmlformats.org/officeDocument/2006/relationships/image" Target="/ppt/media/image11.png" Id="R322e42a479c942d2" /><Relationship Type="http://schemas.openxmlformats.org/officeDocument/2006/relationships/image" Target="/ppt/media/image12.png" Id="Rab65b3b040b445a1" /><Relationship Type="http://schemas.openxmlformats.org/officeDocument/2006/relationships/notesSlide" Target="/ppt/notesSlides/notesSlide3.xml" Id="Re22c0ee2ab094a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1c823c4e34bd9" /><Relationship Type="http://schemas.openxmlformats.org/officeDocument/2006/relationships/image" Target="/ppt/media/image13.png" Id="R5a7addbac66140c4" /><Relationship Type="http://schemas.openxmlformats.org/officeDocument/2006/relationships/image" Target="/ppt/media/image14.png" Id="R42db482bc0ce410d" /><Relationship Type="http://schemas.openxmlformats.org/officeDocument/2006/relationships/notesSlide" Target="/ppt/notesSlides/notesSlide4.xml" Id="R1ca370342ca64b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77770e4e34e20" /><Relationship Type="http://schemas.openxmlformats.org/officeDocument/2006/relationships/image" Target="/ppt/media/image15.png" Id="R341d641e4c0841fe" /><Relationship Type="http://schemas.openxmlformats.org/officeDocument/2006/relationships/image" Target="/ppt/media/image16.png" Id="Rc2f706035f8f4804" /><Relationship Type="http://schemas.openxmlformats.org/officeDocument/2006/relationships/image" Target="/ppt/media/image17.png" Id="R4abf4167e8a646d8" /><Relationship Type="http://schemas.openxmlformats.org/officeDocument/2006/relationships/image" Target="/ppt/media/image18.png" Id="R18929c33eb82499c" /><Relationship Type="http://schemas.openxmlformats.org/officeDocument/2006/relationships/image" Target="/ppt/media/image19.png" Id="Ra6c9339bf94b4ccb" /><Relationship Type="http://schemas.openxmlformats.org/officeDocument/2006/relationships/image" Target="/ppt/media/image20.png" Id="R6ec45fcefdcc43aa" /><Relationship Type="http://schemas.openxmlformats.org/officeDocument/2006/relationships/image" Target="/ppt/media/image21.png" Id="Rbbe58dde2eff4254" /><Relationship Type="http://schemas.openxmlformats.org/officeDocument/2006/relationships/image" Target="/ppt/media/image12.png" Id="R0154fc9676804de0" /><Relationship Type="http://schemas.openxmlformats.org/officeDocument/2006/relationships/notesSlide" Target="/ppt/notesSlides/notesSlide5.xml" Id="R6595c656b99b4e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8dee3d4a2421a" /><Relationship Type="http://schemas.openxmlformats.org/officeDocument/2006/relationships/image" Target="/ppt/media/image6.png" Id="R49f3b10927ed4033" /><Relationship Type="http://schemas.openxmlformats.org/officeDocument/2006/relationships/image" Target="/ppt/media/image22.png" Id="Rcc9b847aa1274411" /><Relationship Type="http://schemas.openxmlformats.org/officeDocument/2006/relationships/image" Target="/ppt/media/image23.png" Id="Rf624acff83304b03" /><Relationship Type="http://schemas.openxmlformats.org/officeDocument/2006/relationships/image" Target="/ppt/media/image24.png" Id="Rbdb1363aa2254b5f" /><Relationship Type="http://schemas.openxmlformats.org/officeDocument/2006/relationships/image" Target="/ppt/media/image25.png" Id="Rce4f668efcde4eef" /><Relationship Type="http://schemas.openxmlformats.org/officeDocument/2006/relationships/image" Target="/ppt/media/image12.png" Id="R5512922f8143467b" /><Relationship Type="http://schemas.openxmlformats.org/officeDocument/2006/relationships/notesSlide" Target="/ppt/notesSlides/notesSlide6.xml" Id="R20dbdf0c701e4c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15df581bf4a38" /><Relationship Type="http://schemas.openxmlformats.org/officeDocument/2006/relationships/image" Target="/ppt/media/image13.png" Id="R70e5a02c17484391" /><Relationship Type="http://schemas.openxmlformats.org/officeDocument/2006/relationships/image" Target="/ppt/media/image26.png" Id="Rc70c16144e86479a" /><Relationship Type="http://schemas.openxmlformats.org/officeDocument/2006/relationships/image" Target="/ppt/media/image27.png" Id="Raa00dc19093e4437" /><Relationship Type="http://schemas.openxmlformats.org/officeDocument/2006/relationships/image" Target="/ppt/media/image28.png" Id="R69d10d4d3823453a" /><Relationship Type="http://schemas.openxmlformats.org/officeDocument/2006/relationships/notesSlide" Target="/ppt/notesSlides/notesSlide7.xml" Id="Ree6a939d946444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d3e86958f4532" /><Relationship Type="http://schemas.openxmlformats.org/officeDocument/2006/relationships/image" Target="/ppt/media/image29.png" Id="R468f6de622484f54" /><Relationship Type="http://schemas.openxmlformats.org/officeDocument/2006/relationships/image" Target="/ppt/media/image30.png" Id="R44050a9908d34e68" /><Relationship Type="http://schemas.openxmlformats.org/officeDocument/2006/relationships/image" Target="/ppt/media/image31.png" Id="R7bba353c82dd481a" /><Relationship Type="http://schemas.openxmlformats.org/officeDocument/2006/relationships/image" Target="/ppt/media/image32.png" Id="Reb62f58a71e349be" /><Relationship Type="http://schemas.openxmlformats.org/officeDocument/2006/relationships/image" Target="/ppt/media/image33.png" Id="Rd1c9280983fb48b0" /><Relationship Type="http://schemas.openxmlformats.org/officeDocument/2006/relationships/notesSlide" Target="/ppt/notesSlides/notesSlide8.xml" Id="Rbc6de501f18942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1ecc74adf4001" /><Relationship Type="http://schemas.openxmlformats.org/officeDocument/2006/relationships/image" Target="/ppt/media/image6.png" Id="Re67435f4d3654e9a" /><Relationship Type="http://schemas.openxmlformats.org/officeDocument/2006/relationships/image" Target="/ppt/media/image34.png" Id="R2415e155ba1d47f7" /><Relationship Type="http://schemas.openxmlformats.org/officeDocument/2006/relationships/image" Target="/ppt/media/image11.png" Id="R229010c7eda24909" /><Relationship Type="http://schemas.openxmlformats.org/officeDocument/2006/relationships/notesSlide" Target="/ppt/notesSlides/notesSlide9.xml" Id="Ra6e5b166c0c64a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17e43e4d740a2" /><Relationship Type="http://schemas.openxmlformats.org/officeDocument/2006/relationships/image" Target="/ppt/media/image15.png" Id="Rba95ed4164ac4dc1" /><Relationship Type="http://schemas.openxmlformats.org/officeDocument/2006/relationships/image" Target="/ppt/media/image35.png" Id="Rcb24076a3ded41e5" /><Relationship Type="http://schemas.openxmlformats.org/officeDocument/2006/relationships/notesSlide" Target="/ppt/notesSlides/notesSlide10.xml" Id="Rf21bf78282b144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26ec510d24529" /><Relationship Type="http://schemas.openxmlformats.org/officeDocument/2006/relationships/image" Target="/ppt/media/image13.png" Id="R12a59c35e6694106" /><Relationship Type="http://schemas.openxmlformats.org/officeDocument/2006/relationships/image" Target="/ppt/media/image36.png" Id="R22a4fd7e867548f5" /><Relationship Type="http://schemas.openxmlformats.org/officeDocument/2006/relationships/image" Target="/ppt/media/image37.png" Id="R92f6dcbf6d6d4527" /><Relationship Type="http://schemas.openxmlformats.org/officeDocument/2006/relationships/image" Target="/ppt/media/image38.png" Id="R7235030c50e64d56" /><Relationship Type="http://schemas.openxmlformats.org/officeDocument/2006/relationships/image" Target="/ppt/media/image39.png" Id="R0d7a91b9d53641e9" /><Relationship Type="http://schemas.openxmlformats.org/officeDocument/2006/relationships/image" Target="/ppt/media/image40.png" Id="Rcbc9e14451114a92" /><Relationship Type="http://schemas.openxmlformats.org/officeDocument/2006/relationships/notesSlide" Target="/ppt/notesSlides/notesSlide11.xml" Id="Ra012f2aaee7943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0c09a321f4358" /><Relationship Type="http://schemas.openxmlformats.org/officeDocument/2006/relationships/image" Target="/ppt/media/image6.png" Id="R56c3848a7eb14938" /><Relationship Type="http://schemas.openxmlformats.org/officeDocument/2006/relationships/image" Target="/ppt/media/image30.png" Id="R78244401adbf4c29" /><Relationship Type="http://schemas.openxmlformats.org/officeDocument/2006/relationships/image" Target="/ppt/media/image41.png" Id="Rdcea897ccf02429a" /><Relationship Type="http://schemas.openxmlformats.org/officeDocument/2006/relationships/image" Target="/ppt/media/image42.png" Id="R3e41b42bbcfe4842" /><Relationship Type="http://schemas.openxmlformats.org/officeDocument/2006/relationships/image" Target="/ppt/media/image43.png" Id="R422efd15bcda4901" /><Relationship Type="http://schemas.openxmlformats.org/officeDocument/2006/relationships/notesSlide" Target="/ppt/notesSlides/notesSlide12.xml" Id="R67b03ee4c2374e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c3c0d110848d3" /><Relationship Type="http://schemas.openxmlformats.org/officeDocument/2006/relationships/image" Target="/ppt/media/image15.png" Id="R138b5d5f981147df" /><Relationship Type="http://schemas.openxmlformats.org/officeDocument/2006/relationships/image" Target="/ppt/media/image44.png" Id="R54b2166725814a62" /><Relationship Type="http://schemas.openxmlformats.org/officeDocument/2006/relationships/image" Target="/ppt/media/image45.png" Id="R1d799f7911f644f0" /><Relationship Type="http://schemas.openxmlformats.org/officeDocument/2006/relationships/image" Target="/ppt/media/image46.png" Id="R6cbdad1968894921" /><Relationship Type="http://schemas.openxmlformats.org/officeDocument/2006/relationships/image" Target="/ppt/media/image47.png" Id="Rcb805b6e5ee34dc6" /><Relationship Type="http://schemas.openxmlformats.org/officeDocument/2006/relationships/image" Target="/ppt/media/image48.png" Id="R597fd343de8d465b" /><Relationship Type="http://schemas.openxmlformats.org/officeDocument/2006/relationships/image" Target="/ppt/media/image49.png" Id="Rf3ff5c444aa1495c" /><Relationship Type="http://schemas.openxmlformats.org/officeDocument/2006/relationships/image" Target="/ppt/media/image50.png" Id="R90f728245b7d412e" /><Relationship Type="http://schemas.openxmlformats.org/officeDocument/2006/relationships/notesSlide" Target="/ppt/notesSlides/notesSlide13.xml" Id="R34fba7aa3e7647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27347df4b4dd4" /><Relationship Type="http://schemas.openxmlformats.org/officeDocument/2006/relationships/image" Target="/ppt/media/image13.png" Id="R212f697af310474b" /><Relationship Type="http://schemas.openxmlformats.org/officeDocument/2006/relationships/image" Target="/ppt/media/image51.png" Id="Reb71fa345dd1484c" /><Relationship Type="http://schemas.openxmlformats.org/officeDocument/2006/relationships/image" Target="/ppt/media/image52.png" Id="Rc18c90952de24bd7" /><Relationship Type="http://schemas.openxmlformats.org/officeDocument/2006/relationships/image" Target="/ppt/media/image53.png" Id="Rb2c455e7e00148e4" /><Relationship Type="http://schemas.openxmlformats.org/officeDocument/2006/relationships/image" Target="/ppt/media/image54.png" Id="R1e69d7603b7841e9" /><Relationship Type="http://schemas.openxmlformats.org/officeDocument/2006/relationships/image" Target="/ppt/media/image55.png" Id="R666ffc24ba1a4bcf" /><Relationship Type="http://schemas.openxmlformats.org/officeDocument/2006/relationships/image" Target="/ppt/media/image56.png" Id="Rd4dad994aef243b8" /><Relationship Type="http://schemas.openxmlformats.org/officeDocument/2006/relationships/image" Target="/ppt/media/image57.png" Id="Rd55254dd86bf49c6" /><Relationship Type="http://schemas.openxmlformats.org/officeDocument/2006/relationships/image" Target="/ppt/media/image49.png" Id="Rfd63b3a2c7c44e4f" /><Relationship Type="http://schemas.openxmlformats.org/officeDocument/2006/relationships/notesSlide" Target="/ppt/notesSlides/notesSlide14.xml" Id="Rf2b4450b5ab44c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0f15351d34e5d" /><Relationship Type="http://schemas.openxmlformats.org/officeDocument/2006/relationships/image" Target="/ppt/media/image15.png" Id="R141cd3a4687f4e39" /><Relationship Type="http://schemas.openxmlformats.org/officeDocument/2006/relationships/notesSlide" Target="/ppt/notesSlides/notesSlide15.xml" Id="R9cb3b9ec751f4a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5e112930f45ec" /><Relationship Type="http://schemas.openxmlformats.org/officeDocument/2006/relationships/image" Target="/ppt/media/image6.png" Id="R22c6a19236a34ac2" /><Relationship Type="http://schemas.openxmlformats.org/officeDocument/2006/relationships/image" Target="/ppt/media/image58.png" Id="Rae1f71f8954244b3" /><Relationship Type="http://schemas.openxmlformats.org/officeDocument/2006/relationships/image" Target="/ppt/media/image59.png" Id="R850e43c8634541d3" /><Relationship Type="http://schemas.openxmlformats.org/officeDocument/2006/relationships/image" Target="/ppt/media/image60.png" Id="R9a92bb84aec64e59" /><Relationship Type="http://schemas.openxmlformats.org/officeDocument/2006/relationships/image" Target="/ppt/media/image61.png" Id="Ra6b0d093c8e3405e" /><Relationship Type="http://schemas.openxmlformats.org/officeDocument/2006/relationships/notesSlide" Target="/ppt/notesSlides/notesSlide16.xml" Id="R1d53e035afde47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8d540b5d9465d" /><Relationship Type="http://schemas.openxmlformats.org/officeDocument/2006/relationships/image" Target="/ppt/media/image62.png" Id="Rfcdca9d25f134730" /><Relationship Type="http://schemas.openxmlformats.org/officeDocument/2006/relationships/image" Target="/ppt/media/image63.png" Id="R3a7ccc8eac6d4d89" /><Relationship Type="http://schemas.openxmlformats.org/officeDocument/2006/relationships/image" Target="/ppt/media/image64.png" Id="R9611c8290f664da2" /><Relationship Type="http://schemas.openxmlformats.org/officeDocument/2006/relationships/image" Target="/ppt/media/image65.png" Id="R89270a9f5bda4a87" /><Relationship Type="http://schemas.openxmlformats.org/officeDocument/2006/relationships/image" Target="/ppt/media/image24.png" Id="R384cc27d65cd440c" /><Relationship Type="http://schemas.openxmlformats.org/officeDocument/2006/relationships/image" Target="/ppt/media/image41.png" Id="R55304a7e3e0443a4" /><Relationship Type="http://schemas.openxmlformats.org/officeDocument/2006/relationships/notesSlide" Target="/ppt/notesSlides/notesSlide17.xml" Id="Rd0f7cbdca23e40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aa82477e4440c" /><Relationship Type="http://schemas.openxmlformats.org/officeDocument/2006/relationships/image" Target="/ppt/media/image2.png" Id="R90fcfd4b555049aa" /><Relationship Type="http://schemas.openxmlformats.org/officeDocument/2006/relationships/image" Target="/ppt/media/image66.png" Id="Rd7d962d1e35e4659" /><Relationship Type="http://schemas.openxmlformats.org/officeDocument/2006/relationships/image" Target="/ppt/media/image67.png" Id="R375b88fcf7e2492a" /><Relationship Type="http://schemas.openxmlformats.org/officeDocument/2006/relationships/image" Target="/ppt/media/image68.png" Id="R768e525aabcc401e" /><Relationship Type="http://schemas.openxmlformats.org/officeDocument/2006/relationships/image" Target="/ppt/media/image69.png" Id="R627b1606f7974f0c" /><Relationship Type="http://schemas.openxmlformats.org/officeDocument/2006/relationships/notesSlide" Target="/ppt/notesSlides/notesSlide18.xml" Id="R19c526f61bd9431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af21a526e4b63" /><Relationship Type="http://schemas.openxmlformats.org/officeDocument/2006/relationships/image" Target="/ppt/media/image70.png" Id="R81ff1f634e5146cc" /><Relationship Type="http://schemas.openxmlformats.org/officeDocument/2006/relationships/image" Target="/ppt/media/image71.png" Id="Rca93da6eb51c4963" /><Relationship Type="http://schemas.openxmlformats.org/officeDocument/2006/relationships/image" Target="/ppt/media/image72.png" Id="R1ab1f8a86bf34934" /><Relationship Type="http://schemas.openxmlformats.org/officeDocument/2006/relationships/image" Target="/ppt/media/image73.png" Id="R2a54cc53c80643b0" /><Relationship Type="http://schemas.openxmlformats.org/officeDocument/2006/relationships/image" Target="/ppt/media/image74.png" Id="R784aa87865fb4443" /><Relationship Type="http://schemas.openxmlformats.org/officeDocument/2006/relationships/notesSlide" Target="/ppt/notesSlides/notesSlide19.xml" Id="Rc6078169f01e45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1F8B239B-1E74-4B57-864A-D365FEE765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d0a07eaab4c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B61E9514-5D8B-431C-B7C8-2446A377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FEF29F2-C01B-4631-A678-3A91455D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072" y="521208"/>
            <a:ext cx="2788920" cy="34747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DDFC">
              <a:alpha val="14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A2D2F9-B479-4CFD-A2FC-A1F25228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072" y="521208"/>
            <a:ext cx="2788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 spc="25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PROMPT-A-THON 2026</a:t>
            </a:r>
            <a:endParaRPr sz="10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A164E45-E13C-404A-9A7D-6A476EFC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89888"/>
            <a:ext cx="86868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7200" b="1">
                <a:gradFill>
                  <a:gsLst>
                    <a:gs pos="0">
                      <a:srgbClr val="5B8DEF"/>
                    </a:gs>
                    <a:gs pos="50000">
                      <a:srgbClr val="A26BFA"/>
                    </a:gs>
                    <a:gs pos="100000">
                      <a:srgbClr val="3DDDFC"/>
                    </a:gs>
                  </a:gsLst>
                  <a:lin ang="0" scaled="1"/>
                </a:gradFill>
                <a:latin typeface="Segoe UI"/>
                <a:ea typeface="Segoe UI"/>
                <a:cs typeface="Segoe UI"/>
              </a:rPr>
              <a:t>IQ</a:t>
            </a:r>
            <a:endParaRPr sz="7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30F0009-EE61-43CA-8AFC-1EEE10D5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651760"/>
            <a:ext cx="877824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From Escalating Experts to Empowering Everyone in the Exchange</a:t>
            </a:r>
            <a:endParaRPr sz="2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CD6F277-354B-43C4-9D40-1EE0CBEE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401568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A governed decision-intelligence workspace that connects Microsoft Copilot Studio to evidence, metrics and accountable workflow.</a:t>
            </a:r>
            <a:endParaRPr sz="12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8FA6742-F570-465E-A88A-D8A048BB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370832"/>
            <a:ext cx="1298448" cy="42062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DDFC">
              <a:alpha val="18000"/>
            </a:srgbClr>
          </a:solidFill>
          <a:ln xmlns:a="http://schemas.openxmlformats.org/drawingml/2006/main" w="9525">
            <a:solidFill>
              <a:srgbClr val="3DDDFC">
                <a:alpha val="5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48BCBC4-CFB5-446C-9809-B3863F8B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370832"/>
            <a:ext cx="12984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2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ASK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FC8F4E4-BC5F-48AF-8B67-606B6B93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4370832"/>
            <a:ext cx="384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→</a:t>
            </a:r>
            <a:endParaRPr sz="14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D3E5656-B076-4DE3-8839-5A62BCF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44" y="4370832"/>
            <a:ext cx="1298448" cy="42062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6BFA">
              <a:alpha val="18000"/>
            </a:srgbClr>
          </a:solidFill>
          <a:ln xmlns:a="http://schemas.openxmlformats.org/drawingml/2006/main" w="9525">
            <a:solidFill>
              <a:srgbClr val="A26BFA">
                <a:alpha val="5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577E513-DB23-4249-ADEC-F92102E1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44" y="4370832"/>
            <a:ext cx="12984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200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ANALYSE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96ECC15-26FC-46A9-87E5-72FC5515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370832"/>
            <a:ext cx="384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→</a:t>
            </a:r>
            <a:endParaRPr sz="14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A169C7B-6B46-4762-914E-C87FD029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216" y="4370832"/>
            <a:ext cx="1298448" cy="42062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DEF">
              <a:alpha val="18000"/>
            </a:srgbClr>
          </a:solidFill>
          <a:ln xmlns:a="http://schemas.openxmlformats.org/drawingml/2006/main" w="9525">
            <a:solidFill>
              <a:srgbClr val="5B8DEF">
                <a:alpha val="5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0216B76-83C3-4833-998F-A251AC7B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216" y="4370832"/>
            <a:ext cx="12984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200">
                <a:solidFill>
                  <a:srgbClr val="5B8DEF"/>
                </a:solidFill>
                <a:latin typeface="Segoe UI"/>
                <a:ea typeface="Segoe UI"/>
                <a:cs typeface="Segoe UI"/>
              </a:rPr>
              <a:t>ANSWER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4995284-81D8-41D6-850C-350DF127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4370832"/>
            <a:ext cx="3840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→</a:t>
            </a:r>
            <a:endParaRPr sz="14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8DD85A8-F88E-4172-8E6D-762DA4BC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4370832"/>
            <a:ext cx="1298448" cy="42062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DE80">
              <a:alpha val="18000"/>
            </a:srgbClr>
          </a:solidFill>
          <a:ln xmlns:a="http://schemas.openxmlformats.org/drawingml/2006/main" w="9525">
            <a:solidFill>
              <a:srgbClr val="4ADE80">
                <a:alpha val="5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E294C75-E3FB-471D-A63A-FFEA3B58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4370832"/>
            <a:ext cx="129844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200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ACT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B86EA6D-980A-47AA-9583-E294C525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Bursa Malaysia   |   October 2026</a:t>
            </a:r>
            <a:endParaRPr sz="975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9BA50D2-CDAE-42E3-8FFD-1809CCC8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01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8257253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1429295E-CA7E-4734-80EC-CE4598C2BA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862a949e145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51AD964-BD70-4FFA-96DD-61423F92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2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7CB8BB0-93D9-404F-B7F5-152821CE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96A2EA1-E2EF-4FE3-AC09-5D7A5031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A84BAC0-5672-4715-8290-8C04E7EF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C8C4125-9B53-43F6-983A-A680373A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072B203-AD5D-47A5-9C15-7CBC7DE2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0D6D676-B05E-4584-A2B4-5A440CC9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00 · THE TEAM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43D208F-219B-47CF-ABF7-61F7E067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Three minds. One mission.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4001C88-FD0A-452A-9307-802BC36B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Different strengths, one shared direction — People behind BursaIQ.</a:t>
            </a:r>
            <a:endParaRPr sz="11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ED97F6C-3B58-42D3-9603-E363C227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148840"/>
            <a:ext cx="3429000" cy="2880360"/>
          </a:xfrm>
          <a:prstGeom xmlns:a="http://schemas.openxmlformats.org/drawingml/2006/main" prst="roundRect">
            <a:avLst>
              <a:gd name="adj" fmla="val 2222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3CFE717-F52F-4125-B146-33560338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38658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01</a:t>
            </a:r>
            <a:endParaRPr sz="13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E1E1DBE-04F6-40E1-96CA-A4C6BF12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524" y="2807208"/>
            <a:ext cx="768096" cy="7680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" name="Image 1">
            <a:extLst xmlns:a="http://schemas.openxmlformats.org/drawingml/2006/main">
              <a:ext uri="{FF2B5EF4-FFF2-40B4-BE49-F238E27FC236}">
                <a16:creationId xmlns:a16="http://schemas.microsoft.com/office/drawing/2014/main" id="{326E5BF6-DE53-4B82-929B-98D61616F6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becd76ace4b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0867" y="2991551"/>
            <a:ext cx="399410" cy="399410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736B4CD-FC52-42A6-B56B-53578B96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758184"/>
            <a:ext cx="3063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Lim Kim Hoong</a:t>
            </a:r>
            <a:endParaRPr sz="17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CB30B29-C355-4104-BF17-9394DDD8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215384"/>
            <a:ext cx="3063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 spc="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GCMC   ·   Age 27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CB2936B-24DE-4851-A98E-51EE89CF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348" y="2148840"/>
            <a:ext cx="3429000" cy="2880360"/>
          </a:xfrm>
          <a:prstGeom xmlns:a="http://schemas.openxmlformats.org/drawingml/2006/main" prst="roundRect">
            <a:avLst>
              <a:gd name="adj" fmla="val 2222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17AE1825-BDED-4F35-BB64-D9A992F1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380" y="238658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02</a:t>
            </a:r>
            <a:endParaRPr sz="13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CAC18774-E5BA-4447-8BA3-FD55631F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800" y="2807208"/>
            <a:ext cx="768096" cy="7680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A26BFA">
              <a:alpha val="16000"/>
            </a:srgbClr>
          </a:solidFill>
          <a:ln xmlns:a="http://schemas.openxmlformats.org/drawingml/2006/main"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Image 2">
            <a:extLst xmlns:a="http://schemas.openxmlformats.org/drawingml/2006/main">
              <a:ext uri="{FF2B5EF4-FFF2-40B4-BE49-F238E27FC236}">
                <a16:creationId xmlns:a16="http://schemas.microsoft.com/office/drawing/2014/main" id="{404D0222-3D91-45B6-9C61-F9FB19E189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b47d946fa4d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6143" y="2991551"/>
            <a:ext cx="399410" cy="399410"/>
          </a:xfrm>
          <a:prstGeom xmlns:a="http://schemas.openxmlformats.org/drawingml/2006/main" prst="rect">
            <a:avLst/>
          </a:prstGeom>
        </p:spPr>
      </p:pic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B8497CCB-29BC-41E3-A469-DB74A09B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228" y="3758184"/>
            <a:ext cx="3063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Abby Tiew Mei Qing</a:t>
            </a:r>
            <a:endParaRPr sz="1700"/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9606299-A9DD-4B7A-80EB-FB9808D0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228" y="4215384"/>
            <a:ext cx="3063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 spc="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GCMC   ·   Age 28</a:t>
            </a:r>
            <a:endParaRPr sz="1050"/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742AC02B-9C33-49CB-84EF-970BB2A5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623" y="2148840"/>
            <a:ext cx="3429000" cy="2880360"/>
          </a:xfrm>
          <a:prstGeom xmlns:a="http://schemas.openxmlformats.org/drawingml/2006/main" prst="roundRect">
            <a:avLst>
              <a:gd name="adj" fmla="val 2222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D184FAFD-108A-4906-BC40-E26553D0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2655" y="238658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5B8DEF"/>
                </a:solidFill>
                <a:latin typeface="Segoe UI"/>
                <a:ea typeface="Segoe UI"/>
                <a:cs typeface="Segoe UI"/>
              </a:rPr>
              <a:t>03</a:t>
            </a:r>
            <a:endParaRPr sz="1300"/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11D48A27-1057-44A7-A45B-4549997C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075" y="2807208"/>
            <a:ext cx="768096" cy="7680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5B8DEF">
              <a:alpha val="16000"/>
            </a:srgbClr>
          </a:solidFill>
          <a:ln xmlns:a="http://schemas.openxmlformats.org/drawingml/2006/main"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7" name="Image 3">
            <a:extLst xmlns:a="http://schemas.openxmlformats.org/drawingml/2006/main">
              <a:ext uri="{FF2B5EF4-FFF2-40B4-BE49-F238E27FC236}">
                <a16:creationId xmlns:a16="http://schemas.microsoft.com/office/drawing/2014/main" id="{84E90755-9F25-45A3-88EF-2404AB3A42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c72097a504e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01418" y="2991551"/>
            <a:ext cx="399410" cy="399410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9FEA68C7-A69E-4C31-8100-7210D2A6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503" y="3758184"/>
            <a:ext cx="3063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Pert Song Sow</a:t>
            </a:r>
            <a:endParaRPr sz="17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7BA637AD-137F-4FF6-9835-5470D802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503" y="4215384"/>
            <a:ext cx="3063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 spc="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GCMC   ·   Age 32</a:t>
            </a:r>
            <a:endParaRPr sz="105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637848E6-F50E-423F-AA01-B9E7C3A2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EC4C0B51-23BE-4155-B895-E17ADF1D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02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260733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2FBB4D97-5A9D-487C-BD3C-C4BF6A79D4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0031c8d8248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4792AE24-1D1D-4926-997F-930B69FD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686AF11-DE66-4F1F-A4C4-9648FA36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ABCBF76-85A2-4906-982E-D83258ED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D4ACDEF-363D-49E9-8AF8-CB3348E3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212750D-823D-407D-8804-FD818AFB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E8DFB8A-40C1-460E-833E-DF9B8191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363F15A-C055-4A72-9B78-0AA2CCB7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01 · THE PROBLEM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76AD235-2E12-42EC-8C10-8CE04369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One question. Five hidden steps.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2C94336-FDDF-433F-8D31-2659DD28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A simple question triggers a multi-step retrieval chase and the answer often delays after the decision is made.</a:t>
            </a:r>
            <a:endParaRPr sz="11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0895180-6FD0-4F45-91C0-181C5AD6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103120"/>
            <a:ext cx="1956816" cy="3063240"/>
          </a:xfrm>
          <a:prstGeom xmlns:a="http://schemas.openxmlformats.org/drawingml/2006/main" prst="roundRect">
            <a:avLst>
              <a:gd name="adj" fmla="val 3271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84FA174-8CF8-4F0E-9F70-D4DE3C6B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2860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5B8DEF"/>
                </a:solidFill>
                <a:latin typeface="Segoe UI"/>
                <a:ea typeface="Segoe UI"/>
                <a:cs typeface="Segoe UI"/>
              </a:rPr>
              <a:t>1</a:t>
            </a:r>
            <a:endParaRPr sz="13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34F6D4C-3BE4-4CBF-9C50-57E1A894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2670048"/>
            <a:ext cx="566928" cy="566928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5B8DEF">
              <a:alpha val="16000"/>
            </a:srgbClr>
          </a:solidFill>
          <a:ln xmlns:a="http://schemas.openxmlformats.org/drawingml/2006/main"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" name="Image 1">
            <a:extLst xmlns:a="http://schemas.openxmlformats.org/drawingml/2006/main">
              <a:ext uri="{FF2B5EF4-FFF2-40B4-BE49-F238E27FC236}">
                <a16:creationId xmlns:a16="http://schemas.microsoft.com/office/drawing/2014/main" id="{0ABD86A3-C210-4F5D-8D37-DC24A0FAA8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55d16f5364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7079" y="2806111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9CAE679-2BE0-4830-8A0A-20F085C9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3280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Find</a:t>
            </a:r>
            <a:endParaRPr sz="15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0400B2E-707D-464B-9680-93B3532B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767328"/>
            <a:ext cx="1664208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Locate the right dashboard or dataset</a:t>
            </a:r>
            <a:endParaRPr sz="105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3515117B-CBF5-40AC-8B7F-5760C168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024" y="3461004"/>
            <a:ext cx="4235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→</a:t>
            </a:r>
            <a:endParaRPr sz="15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18D2EC7-37DE-4A29-AC2D-5500156A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756" y="2103120"/>
            <a:ext cx="1956816" cy="3063240"/>
          </a:xfrm>
          <a:prstGeom xmlns:a="http://schemas.openxmlformats.org/drawingml/2006/main" prst="roundRect">
            <a:avLst>
              <a:gd name="adj" fmla="val 3271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EFFE2994-A035-4F55-A448-10EE67B0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9636" y="22860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2</a:t>
            </a:r>
            <a:endParaRPr sz="13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B53007E-C5C6-46F2-A508-23BF6D2B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700" y="2670048"/>
            <a:ext cx="566928" cy="566928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A26BFA">
              <a:alpha val="16000"/>
            </a:srgbClr>
          </a:solidFill>
          <a:ln xmlns:a="http://schemas.openxmlformats.org/drawingml/2006/main"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Image 2">
            <a:extLst xmlns:a="http://schemas.openxmlformats.org/drawingml/2006/main">
              <a:ext uri="{FF2B5EF4-FFF2-40B4-BE49-F238E27FC236}">
                <a16:creationId xmlns:a16="http://schemas.microsoft.com/office/drawing/2014/main" id="{C2033F31-5433-424A-B27D-C59CD8E291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1e059a0144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77763" y="2806111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11C00F2-0602-45E8-9BA6-81BFE69B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484" y="3383280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Filter</a:t>
            </a:r>
            <a:endParaRPr sz="1500"/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A3FF9146-ECAB-4045-8941-643AA516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060" y="3767328"/>
            <a:ext cx="1664208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Set dates, segments and measures</a:t>
            </a:r>
            <a:endParaRPr sz="1050"/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458FCED2-9FD4-41A9-B8E8-88E57FEE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708" y="3461004"/>
            <a:ext cx="4235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→</a:t>
            </a:r>
            <a:endParaRPr sz="1500"/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77E884F2-BB6B-4A74-80A1-DEA616F8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440" y="2103120"/>
            <a:ext cx="1956816" cy="3063240"/>
          </a:xfrm>
          <a:prstGeom xmlns:a="http://schemas.openxmlformats.org/drawingml/2006/main" prst="roundRect">
            <a:avLst>
              <a:gd name="adj" fmla="val 3271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0184D795-DC1A-4889-9A7C-C03ABAA6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320" y="22860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3</a:t>
            </a:r>
            <a:endParaRPr sz="1300"/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AD502FF1-68DF-49DC-A550-696566C7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384" y="2670048"/>
            <a:ext cx="566928" cy="566928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9" name="Image 3">
            <a:extLst xmlns:a="http://schemas.openxmlformats.org/drawingml/2006/main">
              <a:ext uri="{FF2B5EF4-FFF2-40B4-BE49-F238E27FC236}">
                <a16:creationId xmlns:a16="http://schemas.microsoft.com/office/drawing/2014/main" id="{24FFB98A-FE09-41B7-9117-2B52DCFC67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03b10315445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8446" y="2806111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410D0639-48FF-4BDD-A13C-5EF0BFA1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168" y="3383280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Interpret</a:t>
            </a:r>
            <a:endParaRPr sz="1500"/>
          </a:p>
        </p:txBody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E04AF07E-D690-4E56-B521-A9747AEC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744" y="3767328"/>
            <a:ext cx="1664208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Read multiple visuals and definitions</a:t>
            </a:r>
            <a:endParaRPr sz="1050"/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CF3345B2-D1B1-48B2-A072-B7A7C7CF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392" y="3461004"/>
            <a:ext cx="4235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→</a:t>
            </a:r>
            <a:endParaRPr sz="1500"/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7541F68E-D725-439C-B858-842687CB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123" y="2103120"/>
            <a:ext cx="1956816" cy="3063240"/>
          </a:xfrm>
          <a:prstGeom xmlns:a="http://schemas.openxmlformats.org/drawingml/2006/main" prst="roundRect">
            <a:avLst>
              <a:gd name="adj" fmla="val 3271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6CC4CE8D-E7F9-4F5D-BC36-571818DC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003" y="22860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4</a:t>
            </a:r>
            <a:endParaRPr sz="1300"/>
          </a:p>
        </p:txBody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DB0E10C1-7E4F-4478-8E80-3A121F07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067" y="2670048"/>
            <a:ext cx="566928" cy="566928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4ADE80">
              <a:alpha val="16000"/>
            </a:srgbClr>
          </a:solidFill>
          <a:ln xmlns:a="http://schemas.openxmlformats.org/drawingml/2006/main" w="9525">
            <a:solidFill>
              <a:srgbClr val="4ADE80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6" name="Image 4">
            <a:extLst xmlns:a="http://schemas.openxmlformats.org/drawingml/2006/main">
              <a:ext uri="{FF2B5EF4-FFF2-40B4-BE49-F238E27FC236}">
                <a16:creationId xmlns:a16="http://schemas.microsoft.com/office/drawing/2014/main" id="{C835A199-AF8B-4523-8CCE-C95E112E95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d381bd6284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9130" y="2806111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2365BC8B-DE6D-4B0D-ACB4-D8E94485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851" y="3383280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Reconcile</a:t>
            </a:r>
            <a:endParaRPr sz="1500"/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07BDCC2F-CEF9-4573-9489-3622FD8D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427" y="3767328"/>
            <a:ext cx="1664208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Compare views or consolidate data</a:t>
            </a:r>
            <a:endParaRPr sz="1050"/>
          </a:p>
        </p:txBody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F889E43B-02BD-42F3-9D95-FABB897B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075" y="3461004"/>
            <a:ext cx="4235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→</a:t>
            </a:r>
            <a:endParaRPr sz="1500"/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7DA6BD29-F85E-46EF-AF6E-046495C6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807" y="2103120"/>
            <a:ext cx="1956816" cy="3063240"/>
          </a:xfrm>
          <a:prstGeom xmlns:a="http://schemas.openxmlformats.org/drawingml/2006/main" prst="roundRect">
            <a:avLst>
              <a:gd name="adj" fmla="val 3271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DD4D53BF-80DD-49A8-BA5F-2A26D6A8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687" y="22860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5</a:t>
            </a:r>
            <a:endParaRPr sz="1300"/>
          </a:p>
        </p:txBody>
      </p:sp>
      <p:sp>
        <p:nvSpPr>
          <p:cNvPr id="42" name="Shape 35">
            <a:extLst xmlns:a="http://schemas.openxmlformats.org/drawingml/2006/main">
              <a:ext uri="{FF2B5EF4-FFF2-40B4-BE49-F238E27FC236}">
                <a16:creationId xmlns:a16="http://schemas.microsoft.com/office/drawing/2014/main" id="{D127F694-6841-4768-BE5A-DAB386FB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751" y="2670048"/>
            <a:ext cx="566928" cy="566928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3" name="Image 5">
            <a:extLst xmlns:a="http://schemas.openxmlformats.org/drawingml/2006/main">
              <a:ext uri="{FF2B5EF4-FFF2-40B4-BE49-F238E27FC236}">
                <a16:creationId xmlns:a16="http://schemas.microsoft.com/office/drawing/2014/main" id="{6956F7AA-FA98-4F42-BC0F-134DB2DE20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e42a479c942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9814" y="2806111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44" name="Text 36">
            <a:extLst xmlns:a="http://schemas.openxmlformats.org/drawingml/2006/main">
              <a:ext uri="{FF2B5EF4-FFF2-40B4-BE49-F238E27FC236}">
                <a16:creationId xmlns:a16="http://schemas.microsoft.com/office/drawing/2014/main" id="{EBEAECC8-3C73-4DAB-BF10-71B2CD03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535" y="3383280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Validate</a:t>
            </a:r>
            <a:endParaRPr sz="1500"/>
          </a:p>
        </p:txBody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2D73DA5A-772E-41EC-9533-24476687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111" y="3767328"/>
            <a:ext cx="1664208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Confirm the answer with an expert</a:t>
            </a:r>
            <a:endParaRPr sz="1050"/>
          </a:p>
        </p:txBody>
      </p:sp>
      <p:sp>
        <p:nvSpPr>
          <p:cNvPr id="46" name="Shape 38">
            <a:extLst xmlns:a="http://schemas.openxmlformats.org/drawingml/2006/main">
              <a:ext uri="{FF2B5EF4-FFF2-40B4-BE49-F238E27FC236}">
                <a16:creationId xmlns:a16="http://schemas.microsoft.com/office/drawing/2014/main" id="{B8B77835-AAB1-4A62-BD9A-B248AA91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760720"/>
            <a:ext cx="11039551" cy="512064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Shape 39">
            <a:extLst xmlns:a="http://schemas.openxmlformats.org/drawingml/2006/main">
              <a:ext uri="{FF2B5EF4-FFF2-40B4-BE49-F238E27FC236}">
                <a16:creationId xmlns:a16="http://schemas.microsoft.com/office/drawing/2014/main" id="{518C1681-F553-45D8-A885-4B02ADCC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861304"/>
            <a:ext cx="310896" cy="3108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8" name="Image 6">
            <a:extLst xmlns:a="http://schemas.openxmlformats.org/drawingml/2006/main">
              <a:ext uri="{FF2B5EF4-FFF2-40B4-BE49-F238E27FC236}">
                <a16:creationId xmlns:a16="http://schemas.microsoft.com/office/drawing/2014/main" id="{432C6C44-3E30-4377-B5AF-24CB060583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5b3b040b445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991" y="5935919"/>
            <a:ext cx="161666" cy="161666"/>
          </a:xfrm>
          <a:prstGeom xmlns:a="http://schemas.openxmlformats.org/drawingml/2006/main" prst="rect">
            <a:avLst/>
          </a:prstGeom>
        </p:spPr>
      </p:pic>
      <p:sp>
        <p:nvSpPr>
          <p:cNvPr id="49" name="Text 40">
            <a:extLst xmlns:a="http://schemas.openxmlformats.org/drawingml/2006/main">
              <a:ext uri="{FF2B5EF4-FFF2-40B4-BE49-F238E27FC236}">
                <a16:creationId xmlns:a16="http://schemas.microsoft.com/office/drawing/2014/main" id="{67D66968-E6F6-4872-A17C-5B2B63C9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0720"/>
            <a:ext cx="10326319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Result:  </a:t>
            </a:r>
            <a:r>
              <a:rPr sz="115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The answer may arrive after the moment of decision has already passed.</a:t>
            </a:r>
            <a:endParaRPr sz="1150"/>
          </a:p>
        </p:txBody>
      </p:sp>
      <p:sp>
        <p:nvSpPr>
          <p:cNvPr id="50" name="Text 41">
            <a:extLst xmlns:a="http://schemas.openxmlformats.org/drawingml/2006/main">
              <a:ext uri="{FF2B5EF4-FFF2-40B4-BE49-F238E27FC236}">
                <a16:creationId xmlns:a16="http://schemas.microsoft.com/office/drawing/2014/main" id="{AD91429D-1A6A-484D-9B82-767CEE9D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51" name="Text 42">
            <a:extLst xmlns:a="http://schemas.openxmlformats.org/drawingml/2006/main">
              <a:ext uri="{FF2B5EF4-FFF2-40B4-BE49-F238E27FC236}">
                <a16:creationId xmlns:a16="http://schemas.microsoft.com/office/drawing/2014/main" id="{F01B905F-7FDC-45DA-89C3-8FCC1E8C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03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591580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5D5691AA-471B-44AD-B3D8-69009D8CD8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addbac66140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33E2C2EC-0C00-44BA-A318-CA789365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D321BDFC-04E8-43F1-8FCB-392223C7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6ABE4EB-4612-4128-BD28-665D54E3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FEA9190-78B3-4DA6-A9AB-6269F202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BEF7041-C081-4831-B262-8948BE8A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DC25AC5-6888-4FEC-82CD-53205209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8AFC336-2B6C-4444-9771-8DEB5E80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02 · THE EVIDENCE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EBB78D1-E123-4B05-BD00-7BCA95E4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The value is stored, not realised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253D24A-EB2A-4D05-9372-3AF347DF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The pattern holds worldwide, and the same gap is already measurable inside Bursa.</a:t>
            </a:r>
            <a:endParaRPr sz="11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8C5671A-ABEA-400B-96E0-C2AF551A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847088"/>
            <a:ext cx="3520440" cy="1481328"/>
          </a:xfrm>
          <a:prstGeom xmlns:a="http://schemas.openxmlformats.org/drawingml/2006/main" prst="roundRect">
            <a:avLst>
              <a:gd name="adj" fmla="val 4321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6D090E5-2A70-4EF4-8A58-3CAB975D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1975104"/>
            <a:ext cx="304495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68%</a:t>
            </a:r>
            <a:endParaRPr sz="4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A3D02EE-7390-417E-9567-5C0E56B2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670048"/>
            <a:ext cx="3044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of enterprise data is never used</a:t>
            </a:r>
            <a:endParaRPr sz="11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C7A9336-4CFF-4D04-9971-028A2467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962656"/>
            <a:ext cx="30449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Source: Seagate, Rethink Data</a:t>
            </a:r>
            <a:endParaRPr sz="8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9FA0206-47CD-464B-AC1A-039504CF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628" y="1847088"/>
            <a:ext cx="3520440" cy="1481328"/>
          </a:xfrm>
          <a:prstGeom xmlns:a="http://schemas.openxmlformats.org/drawingml/2006/main" prst="roundRect">
            <a:avLst>
              <a:gd name="adj" fmla="val 4321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553C7C6-E57A-4A83-9259-CE4BB205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372" y="1975104"/>
            <a:ext cx="304495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70%</a:t>
            </a:r>
            <a:endParaRPr sz="40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4EDAE4F-A91E-448F-8751-1F55009C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372" y="2670048"/>
            <a:ext cx="3044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goes unused for analytics</a:t>
            </a:r>
            <a:endParaRPr sz="11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41E42E6-446D-43C1-9C4C-A625603E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372" y="2962656"/>
            <a:ext cx="30449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Source: Forrester</a:t>
            </a:r>
            <a:endParaRPr sz="8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87D608-5458-42C7-8EF4-852642FC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183" y="1847088"/>
            <a:ext cx="3520440" cy="1481328"/>
          </a:xfrm>
          <a:prstGeom xmlns:a="http://schemas.openxmlformats.org/drawingml/2006/main" prst="roundRect">
            <a:avLst>
              <a:gd name="adj" fmla="val 4321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9DE360C-00A0-4039-830A-C681CB7F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927" y="1975104"/>
            <a:ext cx="304495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5B8DEF"/>
                </a:solidFill>
                <a:latin typeface="Segoe UI"/>
                <a:ea typeface="Segoe UI"/>
                <a:cs typeface="Segoe UI"/>
              </a:rPr>
              <a:t>60%</a:t>
            </a:r>
            <a:endParaRPr sz="4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CBB63AC-340D-4723-88FA-99A965F5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927" y="2670048"/>
            <a:ext cx="3044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say half their data is “dark”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9F473F9-A8B6-434E-84D0-692EEB8C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927" y="2962656"/>
            <a:ext cx="30449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Source: Splunk / IBM</a:t>
            </a:r>
            <a:endParaRPr sz="8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10342B-1788-46AC-B190-2C1F7838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529584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THE SAME GAP, MEASURED INSIDE BURSA</a:t>
            </a:r>
            <a:endParaRPr sz="10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BB9BAFB-E9F7-4FC5-A081-56C6D2E3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895344"/>
            <a:ext cx="2057400" cy="1170432"/>
          </a:xfrm>
          <a:prstGeom xmlns:a="http://schemas.openxmlformats.org/drawingml/2006/main" prst="roundRect">
            <a:avLst>
              <a:gd name="adj" fmla="val 5469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DA30354-3053-40A4-89F2-93A0E337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05072"/>
            <a:ext cx="1691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20+</a:t>
            </a:r>
            <a:endParaRPr sz="2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E4E23DF-6415-409B-B2C1-E19796A8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443984"/>
            <a:ext cx="1691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ad hoc data requests each month</a:t>
            </a:r>
            <a:endParaRPr sz="9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21AB098-D7F8-4554-8F31-99168681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610" y="3895344"/>
            <a:ext cx="2057400" cy="1170432"/>
          </a:xfrm>
          <a:prstGeom xmlns:a="http://schemas.openxmlformats.org/drawingml/2006/main" prst="roundRect">
            <a:avLst>
              <a:gd name="adj" fmla="val 5469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61D95A2-F8AF-4BEE-A02F-FCBE5CBE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490" y="4005072"/>
            <a:ext cx="1691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40</a:t>
            </a:r>
            <a:endParaRPr sz="22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A8E8953-CBA1-420A-AE74-25A3775A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490" y="4443984"/>
            <a:ext cx="1691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staff-hours spent retrieving</a:t>
            </a:r>
            <a:endParaRPr sz="9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988FF0AA-BAE0-424D-91EC-8C10754E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148" y="3895344"/>
            <a:ext cx="2057400" cy="1170432"/>
          </a:xfrm>
          <a:prstGeom xmlns:a="http://schemas.openxmlformats.org/drawingml/2006/main" prst="roundRect">
            <a:avLst>
              <a:gd name="adj" fmla="val 5469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9D376E0-129F-4B6D-AFD3-520B3F49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028" y="4005072"/>
            <a:ext cx="1691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&lt; 2h</a:t>
            </a:r>
            <a:endParaRPr sz="22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1D4F4DA-5A73-4504-B537-18993CFB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028" y="4443984"/>
            <a:ext cx="1691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average turnaround per request</a:t>
            </a:r>
            <a:endParaRPr sz="9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7DCCA7C3-0450-4718-BFFE-6A59ADC4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685" y="3895344"/>
            <a:ext cx="2057400" cy="1170432"/>
          </a:xfrm>
          <a:prstGeom xmlns:a="http://schemas.openxmlformats.org/drawingml/2006/main" prst="roundRect">
            <a:avLst>
              <a:gd name="adj" fmla="val 5469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A0F61CA-5038-41DB-8C11-9D2C7778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5565" y="4005072"/>
            <a:ext cx="1691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50%</a:t>
            </a:r>
            <a:endParaRPr sz="22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52C80D12-33F4-4BC1-A5FB-666CAF7E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5565" y="4443984"/>
            <a:ext cx="1691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involve data we already hold</a:t>
            </a:r>
            <a:endParaRPr sz="95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5D85D13-C02A-48BA-B8F3-E4BF3328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223" y="3895344"/>
            <a:ext cx="2057400" cy="1170432"/>
          </a:xfrm>
          <a:prstGeom xmlns:a="http://schemas.openxmlformats.org/drawingml/2006/main" prst="roundRect">
            <a:avLst>
              <a:gd name="adj" fmla="val 5469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091890BB-1DA1-47F7-9F73-9C412D7B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103" y="4005072"/>
            <a:ext cx="1691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RM 50k</a:t>
            </a:r>
            <a:endParaRPr sz="220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2CA340D3-1721-4EFE-AA31-9EA01E36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103" y="4443984"/>
            <a:ext cx="1691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annual productivity at stake</a:t>
            </a:r>
            <a:endParaRPr sz="95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2BFB336C-D463-4800-A98F-B14C723A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760720"/>
            <a:ext cx="11039551" cy="512064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5546FAFD-C81B-4C35-8667-5C476DE9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861304"/>
            <a:ext cx="310896" cy="3108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Image 1">
            <a:extLst xmlns:a="http://schemas.openxmlformats.org/drawingml/2006/main">
              <a:ext uri="{FF2B5EF4-FFF2-40B4-BE49-F238E27FC236}">
                <a16:creationId xmlns:a16="http://schemas.microsoft.com/office/drawing/2014/main" id="{4A978572-E8DE-4297-8D49-9623331239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b482bc0ce41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991" y="5935919"/>
            <a:ext cx="161666" cy="161666"/>
          </a:xfrm>
          <a:prstGeom xmlns:a="http://schemas.openxmlformats.org/drawingml/2006/main" prst="rect">
            <a:avLst/>
          </a:prstGeom>
        </p:spPr>
      </p:pic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8D5EAAD5-0877-431E-9DE1-CCA60A89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0720"/>
            <a:ext cx="10326319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The gap:  </a:t>
            </a:r>
            <a:r>
              <a:rPr sz="115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The data exists. The value does not. Half the effort is spent re-finding what Bursa already owns.</a:t>
            </a:r>
            <a:endParaRPr sz="115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FEF3D01F-3409-4FBD-AA65-DB80CF0E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D1268DAA-AA33-4B59-A1F2-87BEF6B9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04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5605701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17C1B78A-8C04-4D3C-9D50-08D7938E91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d641e4c0841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CE854901-6B19-42EA-804C-FFE8DEB4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8D368F49-08D5-43DA-8F52-07297E50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D857A0C-254B-4187-AB5C-D120AF3A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646CCAE-6299-413C-829F-33C8A5EF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EA9D077-2A2E-42E3-9565-5FC4F7BD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25AC9B5-C57E-4838-A2B7-79B6CBBB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2F0E025-7436-4612-BBD6-CACEEC76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03 · REAL-WORLD EXAMPLES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91E5077-E2FC-4FAD-8F52-B148BAA7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The questions are simple. The retrieval path is not.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8170A29-99EB-42FB-A626-8B00EC3A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Questions that surface in management meetings, market reviews and time-sensitive discussions.</a:t>
            </a:r>
            <a:endParaRPr sz="11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34D0BED-D6D8-4959-AA3D-B60BB5B0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901952"/>
            <a:ext cx="3520440" cy="1700784"/>
          </a:xfrm>
          <a:prstGeom xmlns:a="http://schemas.openxmlformats.org/drawingml/2006/main" prst="roundRect">
            <a:avLst>
              <a:gd name="adj" fmla="val 37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5A85321-6F73-43D2-A5CD-DA6F497A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84832"/>
            <a:ext cx="365760" cy="36576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4" name="Image 1">
            <a:extLst xmlns:a="http://schemas.openxmlformats.org/drawingml/2006/main">
              <a:ext uri="{FF2B5EF4-FFF2-40B4-BE49-F238E27FC236}">
                <a16:creationId xmlns:a16="http://schemas.microsoft.com/office/drawing/2014/main" id="{3074FEA4-130C-45BA-875B-4D4260CD7E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706035f8f48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022" y="2172614"/>
            <a:ext cx="190195" cy="190195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3F2A6AE-43CD-4A45-8E7A-2DF1F2F0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08483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 spc="18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TRADING ACTIVITY</a:t>
            </a:r>
            <a:endParaRPr sz="975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02887EC-EA9C-42C4-9D5A-339FAA19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560320"/>
            <a:ext cx="308152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Which investor group drove the recent decline in Average Daily Traded Value?</a:t>
            </a:r>
            <a:endParaRPr sz="11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D43AD42-E17D-47D8-9A9C-23775FCD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628" y="1901952"/>
            <a:ext cx="3520440" cy="1700784"/>
          </a:xfrm>
          <a:prstGeom xmlns:a="http://schemas.openxmlformats.org/drawingml/2006/main" prst="roundRect">
            <a:avLst>
              <a:gd name="adj" fmla="val 37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08688EC-4E8C-47DB-B603-2A67AFDD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96" y="2084832"/>
            <a:ext cx="365760" cy="36576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A26BFA">
              <a:alpha val="16000"/>
            </a:srgbClr>
          </a:solidFill>
          <a:ln xmlns:a="http://schemas.openxmlformats.org/drawingml/2006/main"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9" name="Image 2">
            <a:extLst xmlns:a="http://schemas.openxmlformats.org/drawingml/2006/main">
              <a:ext uri="{FF2B5EF4-FFF2-40B4-BE49-F238E27FC236}">
                <a16:creationId xmlns:a16="http://schemas.microsoft.com/office/drawing/2014/main" id="{2CA0F478-B37F-48F1-B0B5-B8EFA45E00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f4167e8a646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4578" y="2172614"/>
            <a:ext cx="190195" cy="190195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0C4044E-00B9-41CC-A05D-F4A6D93A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284" y="208483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 spc="180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FUND FLOW</a:t>
            </a:r>
            <a:endParaRPr sz="975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148E71CB-0F88-4588-A2EC-58C6D16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084" y="2560320"/>
            <a:ext cx="308152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How does year-to-date fund flow compare with the same period last year?</a:t>
            </a:r>
            <a:endParaRPr sz="1100"/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558CC617-D548-4A08-8BD6-6AEF013D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183" y="1901952"/>
            <a:ext cx="3520440" cy="1700784"/>
          </a:xfrm>
          <a:prstGeom xmlns:a="http://schemas.openxmlformats.org/drawingml/2006/main" prst="roundRect">
            <a:avLst>
              <a:gd name="adj" fmla="val 37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88B838DD-5D11-4435-B7B5-47498F37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351" y="2084832"/>
            <a:ext cx="365760" cy="36576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5B8DEF">
              <a:alpha val="16000"/>
            </a:srgbClr>
          </a:solidFill>
          <a:ln xmlns:a="http://schemas.openxmlformats.org/drawingml/2006/main"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4" name="Image 3">
            <a:extLst xmlns:a="http://schemas.openxmlformats.org/drawingml/2006/main">
              <a:ext uri="{FF2B5EF4-FFF2-40B4-BE49-F238E27FC236}">
                <a16:creationId xmlns:a16="http://schemas.microsoft.com/office/drawing/2014/main" id="{38DABE16-CE5D-480D-916D-046802F74E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29c33eb8249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4134" y="2172614"/>
            <a:ext cx="190195" cy="190195"/>
          </a:xfrm>
          <a:prstGeom xmlns:a="http://schemas.openxmlformats.org/drawingml/2006/main" prst="rect">
            <a:avLst/>
          </a:prstGeom>
        </p:spPr>
      </p:pic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ADED9A29-008B-4368-885C-5DAC8F5C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839" y="208483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 spc="180">
                <a:solidFill>
                  <a:srgbClr val="5B8DEF"/>
                </a:solidFill>
                <a:latin typeface="Segoe UI"/>
                <a:ea typeface="Segoe UI"/>
                <a:cs typeface="Segoe UI"/>
              </a:rPr>
              <a:t>MARKET DRIVERS</a:t>
            </a:r>
            <a:endParaRPr sz="975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FDE56143-9127-4BCE-B607-88EE3876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639" y="2560320"/>
            <a:ext cx="308152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Which sectors or stocks are driving yesterday’s market performance?</a:t>
            </a:r>
            <a:endParaRPr sz="1100"/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32DB23A4-EB7F-419E-8506-23AD8C2A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822192"/>
            <a:ext cx="3520440" cy="1700784"/>
          </a:xfrm>
          <a:prstGeom xmlns:a="http://schemas.openxmlformats.org/drawingml/2006/main" prst="roundRect">
            <a:avLst>
              <a:gd name="adj" fmla="val 37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B65429CD-5A89-492F-85DF-958A1078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05072"/>
            <a:ext cx="365760" cy="36576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9" name="Image 4">
            <a:extLst xmlns:a="http://schemas.openxmlformats.org/drawingml/2006/main">
              <a:ext uri="{FF2B5EF4-FFF2-40B4-BE49-F238E27FC236}">
                <a16:creationId xmlns:a16="http://schemas.microsoft.com/office/drawing/2014/main" id="{85CDAC32-014F-4FAC-9A0A-90EF8F1FD3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9339bf94b4c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5022" y="4092854"/>
            <a:ext cx="190195" cy="190195"/>
          </a:xfrm>
          <a:prstGeom xmlns:a="http://schemas.openxmlformats.org/drawingml/2006/main" prst="rect">
            <a:avLst/>
          </a:prstGeom>
        </p:spPr>
      </p:pic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65818A0B-565D-456B-AE16-5E6E5AF1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0050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 spc="18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MARKET VELOCITY</a:t>
            </a:r>
            <a:endParaRPr sz="975"/>
          </a:p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F27DE699-B64B-4D6F-8D03-D0CF41E7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480560"/>
            <a:ext cx="308152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How does month-to-date market velocity compare with last year?</a:t>
            </a:r>
            <a:endParaRPr sz="1100"/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C3DF681E-8839-4D5F-9BEE-CD6BE84F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628" y="3822192"/>
            <a:ext cx="3520440" cy="1700784"/>
          </a:xfrm>
          <a:prstGeom xmlns:a="http://schemas.openxmlformats.org/drawingml/2006/main" prst="roundRect">
            <a:avLst>
              <a:gd name="adj" fmla="val 37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DAC7C231-16A1-4120-A442-556867C4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96" y="4005072"/>
            <a:ext cx="365760" cy="36576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A26BFA">
              <a:alpha val="16000"/>
            </a:srgbClr>
          </a:solidFill>
          <a:ln xmlns:a="http://schemas.openxmlformats.org/drawingml/2006/main"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4" name="Image 5">
            <a:extLst xmlns:a="http://schemas.openxmlformats.org/drawingml/2006/main">
              <a:ext uri="{FF2B5EF4-FFF2-40B4-BE49-F238E27FC236}">
                <a16:creationId xmlns:a16="http://schemas.microsoft.com/office/drawing/2014/main" id="{1FFAFBB7-CB9D-4C9A-A5B4-1B176F3525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45fcefdcc43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4578" y="4092854"/>
            <a:ext cx="190195" cy="190195"/>
          </a:xfrm>
          <a:prstGeom xmlns:a="http://schemas.openxmlformats.org/drawingml/2006/main" prst="rect">
            <a:avLst/>
          </a:prstGeom>
        </p:spPr>
      </p:pic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612EFB3A-F20E-40DD-A465-82872877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284" y="40050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 spc="180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IPO PERFORMANCE</a:t>
            </a:r>
            <a:endParaRPr sz="975"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21BDFA0D-C91B-40D1-87A2-10B76658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084" y="4480560"/>
            <a:ext cx="308152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How many companies listed on the Main, ACE and LEAP Markets this half?</a:t>
            </a:r>
            <a:endParaRPr sz="1100"/>
          </a:p>
        </p:txBody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151C5E6D-021C-4A1C-BEF0-48D92BEB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183" y="3822192"/>
            <a:ext cx="3520440" cy="1700784"/>
          </a:xfrm>
          <a:prstGeom xmlns:a="http://schemas.openxmlformats.org/drawingml/2006/main" prst="roundRect">
            <a:avLst>
              <a:gd name="adj" fmla="val 37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3A718511-3FB7-4D6D-91A1-AD3AEFFE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351" y="4005072"/>
            <a:ext cx="365760" cy="36576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5B8DEF">
              <a:alpha val="16000"/>
            </a:srgbClr>
          </a:solidFill>
          <a:ln xmlns:a="http://schemas.openxmlformats.org/drawingml/2006/main"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9" name="Image 6">
            <a:extLst xmlns:a="http://schemas.openxmlformats.org/drawingml/2006/main">
              <a:ext uri="{FF2B5EF4-FFF2-40B4-BE49-F238E27FC236}">
                <a16:creationId xmlns:a16="http://schemas.microsoft.com/office/drawing/2014/main" id="{48C503BD-1448-44BC-9049-E8F709A628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58dde2eff42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4134" y="4092854"/>
            <a:ext cx="190195" cy="190195"/>
          </a:xfrm>
          <a:prstGeom xmlns:a="http://schemas.openxmlformats.org/drawingml/2006/main" prst="rect">
            <a:avLst/>
          </a:prstGeom>
        </p:spPr>
      </p:pic>
      <p:sp>
        <p:nvSpPr>
          <p:cNvPr id="40" name="Text 31">
            <a:extLst xmlns:a="http://schemas.openxmlformats.org/drawingml/2006/main">
              <a:ext uri="{FF2B5EF4-FFF2-40B4-BE49-F238E27FC236}">
                <a16:creationId xmlns:a16="http://schemas.microsoft.com/office/drawing/2014/main" id="{FAF75457-B9E4-42A8-AB36-C2851D73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839" y="40050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 spc="180">
                <a:solidFill>
                  <a:srgbClr val="5B8DEF"/>
                </a:solidFill>
                <a:latin typeface="Segoe UI"/>
                <a:ea typeface="Segoe UI"/>
                <a:cs typeface="Segoe UI"/>
              </a:rPr>
              <a:t>ETF PERFORMANCE</a:t>
            </a:r>
            <a:endParaRPr sz="975"/>
          </a:p>
        </p:txBody>
      </p:sp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F5AB1E6A-AF67-48AC-AD57-1BC49FB4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639" y="4480560"/>
            <a:ext cx="308152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Which ETFs recorded the highest growth in traded value and volume?</a:t>
            </a:r>
            <a:endParaRPr sz="1100"/>
          </a:p>
        </p:txBody>
      </p:sp>
      <p:sp>
        <p:nvSpPr>
          <p:cNvPr id="42" name="Shape 33">
            <a:extLst xmlns:a="http://schemas.openxmlformats.org/drawingml/2006/main">
              <a:ext uri="{FF2B5EF4-FFF2-40B4-BE49-F238E27FC236}">
                <a16:creationId xmlns:a16="http://schemas.microsoft.com/office/drawing/2014/main" id="{543A3467-EE37-4428-BA5E-D782F349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760720"/>
            <a:ext cx="11039551" cy="512064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Shape 34">
            <a:extLst xmlns:a="http://schemas.openxmlformats.org/drawingml/2006/main">
              <a:ext uri="{FF2B5EF4-FFF2-40B4-BE49-F238E27FC236}">
                <a16:creationId xmlns:a16="http://schemas.microsoft.com/office/drawing/2014/main" id="{ECA89A84-9E69-47CA-88FB-C5117E8D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861304"/>
            <a:ext cx="310896" cy="3108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Image 7">
            <a:extLst xmlns:a="http://schemas.openxmlformats.org/drawingml/2006/main">
              <a:ext uri="{FF2B5EF4-FFF2-40B4-BE49-F238E27FC236}">
                <a16:creationId xmlns:a16="http://schemas.microsoft.com/office/drawing/2014/main" id="{0B0F2039-7256-4D3E-AE79-5820CBB232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4fc9676804d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991" y="5935919"/>
            <a:ext cx="161666" cy="161666"/>
          </a:xfrm>
          <a:prstGeom xmlns:a="http://schemas.openxmlformats.org/drawingml/2006/main" prst="rect">
            <a:avLst/>
          </a:prstGeom>
        </p:spPr>
      </p:pic>
      <p:sp>
        <p:nvSpPr>
          <p:cNvPr id="45" name="Text 35">
            <a:extLst xmlns:a="http://schemas.openxmlformats.org/drawingml/2006/main">
              <a:ext uri="{FF2B5EF4-FFF2-40B4-BE49-F238E27FC236}">
                <a16:creationId xmlns:a16="http://schemas.microsoft.com/office/drawing/2014/main" id="{189A5E2D-016E-4DDA-8F1B-671054C8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0720"/>
            <a:ext cx="10326319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Today:  </a:t>
            </a:r>
            <a:r>
              <a:rPr sz="115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Each of these can take several dashboards, manual comparisons and analyst validation before an answer exists.</a:t>
            </a:r>
            <a:endParaRPr sz="1150"/>
          </a:p>
        </p:txBody>
      </p:sp>
      <p:sp>
        <p:nvSpPr>
          <p:cNvPr id="46" name="Text 36">
            <a:extLst xmlns:a="http://schemas.openxmlformats.org/drawingml/2006/main">
              <a:ext uri="{FF2B5EF4-FFF2-40B4-BE49-F238E27FC236}">
                <a16:creationId xmlns:a16="http://schemas.microsoft.com/office/drawing/2014/main" id="{545D4D31-57C1-487F-802D-7A218A0E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47" name="Text 37">
            <a:extLst xmlns:a="http://schemas.openxmlformats.org/drawingml/2006/main">
              <a:ext uri="{FF2B5EF4-FFF2-40B4-BE49-F238E27FC236}">
                <a16:creationId xmlns:a16="http://schemas.microsoft.com/office/drawing/2014/main" id="{3BA7FACE-8C6B-4C99-BB9E-8D275564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05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2411394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E529DFA-F315-4BE6-9B3A-08227863F4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3b10927ed40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B4BEF125-B40A-42C4-AC2B-F69D2CF3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EBC066E-ED40-4870-A01E-22D7146C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403FFB4-DA2C-43C5-9AC0-143688BA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43C882B-C6F8-4C76-8D5E-2E6DE08A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CB92A9F-5E7B-4B88-846C-6DEF6464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2C49C39-8B0F-4ACD-A633-C0FA05FD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53ED61C-DF61-428A-883B-197FC9C8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04 · ADOPTION BARRIER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9B2B79F-B79F-4E0B-8436-941E7BC6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Access alone was never going to be enough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2247873-157F-48D6-AAFB-428615FC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The dashboards exist. The data exists. Four human habits still stand between a person and an answer.</a:t>
            </a:r>
            <a:endParaRPr sz="11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C24D218-24E6-4730-833B-0A4661ED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103120"/>
            <a:ext cx="2587752" cy="3063240"/>
          </a:xfrm>
          <a:prstGeom xmlns:a="http://schemas.openxmlformats.org/drawingml/2006/main" prst="roundRect">
            <a:avLst>
              <a:gd name="adj" fmla="val 247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576532-1898-4AD4-B8B7-F54B1DE4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22576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5B8DEF"/>
                </a:solidFill>
                <a:latin typeface="Segoe UI"/>
                <a:ea typeface="Segoe UI"/>
                <a:cs typeface="Segoe UI"/>
              </a:rPr>
              <a:t>01</a:t>
            </a:r>
            <a:endParaRPr sz="13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610C5F5-7297-4652-B866-F928EF7D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706624"/>
            <a:ext cx="512064" cy="51206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5B8DEF">
              <a:alpha val="16000"/>
            </a:srgbClr>
          </a:solidFill>
          <a:ln xmlns:a="http://schemas.openxmlformats.org/drawingml/2006/main"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" name="Image 1">
            <a:extLst xmlns:a="http://schemas.openxmlformats.org/drawingml/2006/main">
              <a:ext uri="{FF2B5EF4-FFF2-40B4-BE49-F238E27FC236}">
                <a16:creationId xmlns:a16="http://schemas.microsoft.com/office/drawing/2014/main" id="{23601F03-80FA-4AF6-A31D-4244AC5857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b847aa12744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423" y="2829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982208-7DD7-4F0B-A80F-8287470F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83280"/>
            <a:ext cx="21488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Coordination fatigue</a:t>
            </a:r>
            <a:endParaRPr sz="14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D972E5C-A675-40EA-B407-8BA3EA6A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02336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Every answer runs through somebody else. So the question quietly goes unasked.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1F89B11-6B02-46FA-8E20-1B73C5B3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338" y="2103120"/>
            <a:ext cx="2587752" cy="3063240"/>
          </a:xfrm>
          <a:prstGeom xmlns:a="http://schemas.openxmlformats.org/drawingml/2006/main" prst="roundRect">
            <a:avLst>
              <a:gd name="adj" fmla="val 247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FBB32BA-CF28-4B6E-9CF1-5BE63404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794" y="2322576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02</a:t>
            </a:r>
            <a:endParaRPr sz="13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C196515D-CF79-4085-935A-A855830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794" y="2706624"/>
            <a:ext cx="512064" cy="51206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A26BFA">
              <a:alpha val="16000"/>
            </a:srgbClr>
          </a:solidFill>
          <a:ln xmlns:a="http://schemas.openxmlformats.org/drawingml/2006/main"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Image 2">
            <a:extLst xmlns:a="http://schemas.openxmlformats.org/drawingml/2006/main">
              <a:ext uri="{FF2B5EF4-FFF2-40B4-BE49-F238E27FC236}">
                <a16:creationId xmlns:a16="http://schemas.microsoft.com/office/drawing/2014/main" id="{6676B629-96CB-4FD9-91E3-84AEADD2AA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4acff83304b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5690" y="2829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A933DB77-243F-4D97-A444-C51E69D4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794" y="3383280"/>
            <a:ext cx="21488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 literacy gap</a:t>
            </a:r>
            <a:endParaRPr sz="1400"/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5C97E78-21F4-4AB3-991D-9764BFFF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794" y="402336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A dashboard assumes a fluency in the market. Not everyone here had the same understanding.</a:t>
            </a:r>
            <a:endParaRPr sz="1050"/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FA18534B-E920-4B7E-9B31-E1D32B77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605" y="2103120"/>
            <a:ext cx="2587752" cy="3063240"/>
          </a:xfrm>
          <a:prstGeom xmlns:a="http://schemas.openxmlformats.org/drawingml/2006/main" prst="roundRect">
            <a:avLst>
              <a:gd name="adj" fmla="val 247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B70731DE-FCBC-4302-AC4A-0D03DA25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061" y="2322576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03</a:t>
            </a:r>
            <a:endParaRPr sz="1300"/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65C749F7-F831-4C28-8213-34831ACD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061" y="2706624"/>
            <a:ext cx="512064" cy="51206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7" name="Image 3">
            <a:extLst xmlns:a="http://schemas.openxmlformats.org/drawingml/2006/main">
              <a:ext uri="{FF2B5EF4-FFF2-40B4-BE49-F238E27FC236}">
                <a16:creationId xmlns:a16="http://schemas.microsoft.com/office/drawing/2014/main" id="{4EF52352-CCA1-424E-B2B7-D56416D24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1363aa2254b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2956" y="2829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04506BC4-D0C9-4AFE-B113-43ACD251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061" y="3383280"/>
            <a:ext cx="21488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Learning friction</a:t>
            </a:r>
            <a:endParaRPr sz="140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DC07E957-C078-4B82-80DA-2B5D9DA0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061" y="402336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Every dashboard has its own logic. Learning six is harder than asking one colleague.</a:t>
            </a:r>
            <a:endParaRPr sz="1050"/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FAC49B37-0AC4-4F0D-B16E-665A4459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871" y="2103120"/>
            <a:ext cx="2587752" cy="3063240"/>
          </a:xfrm>
          <a:prstGeom xmlns:a="http://schemas.openxmlformats.org/drawingml/2006/main" prst="roundRect">
            <a:avLst>
              <a:gd name="adj" fmla="val 247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D2D37FB7-6E71-49BF-8FAE-9321D401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7327" y="2322576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04</a:t>
            </a:r>
            <a:endParaRPr sz="1300"/>
          </a:p>
        </p:txBody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A606B5A8-6F48-41FA-95C3-8F99ED29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7327" y="2706624"/>
            <a:ext cx="512064" cy="51206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B7185">
              <a:alpha val="16000"/>
            </a:srgbClr>
          </a:solidFill>
          <a:ln xmlns:a="http://schemas.openxmlformats.org/drawingml/2006/main" w="9525">
            <a:solidFill>
              <a:srgbClr val="FB7185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Image 4">
            <a:extLst xmlns:a="http://schemas.openxmlformats.org/drawingml/2006/main">
              <a:ext uri="{FF2B5EF4-FFF2-40B4-BE49-F238E27FC236}">
                <a16:creationId xmlns:a16="http://schemas.microsoft.com/office/drawing/2014/main" id="{04BE956E-DC74-4A49-88D8-50FD34CFC9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f668efcde4e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0223" y="2829519"/>
            <a:ext cx="266273" cy="266273"/>
          </a:xfrm>
          <a:prstGeom xmlns:a="http://schemas.openxmlformats.org/drawingml/2006/main" prst="rect">
            <a:avLst/>
          </a:prstGeom>
        </p:spPr>
      </p:pic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7E5E9616-490C-4670-A1E5-39BFF704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7327" y="3383280"/>
            <a:ext cx="21488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Ownership avoidance</a:t>
            </a:r>
            <a:endParaRPr sz="1400"/>
          </a:p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4CDBC2CC-BAA9-4566-A752-E8D551B5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7327" y="402336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Pull the number yourself and you own the number. Most would rather not carry it.</a:t>
            </a:r>
            <a:endParaRPr sz="1050"/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E7DB9758-A2BE-44EC-84D9-E4288238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760720"/>
            <a:ext cx="11039551" cy="512064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945515AB-3B44-47D7-BA98-05BB83BF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861304"/>
            <a:ext cx="310896" cy="3108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8" name="Image 5">
            <a:extLst xmlns:a="http://schemas.openxmlformats.org/drawingml/2006/main">
              <a:ext uri="{FF2B5EF4-FFF2-40B4-BE49-F238E27FC236}">
                <a16:creationId xmlns:a16="http://schemas.microsoft.com/office/drawing/2014/main" id="{A992CB3C-C386-4107-906A-7049BBE488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2922f814346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991" y="5935919"/>
            <a:ext cx="161666" cy="161666"/>
          </a:xfrm>
          <a:prstGeom xmlns:a="http://schemas.openxmlformats.org/drawingml/2006/main" prst="rect">
            <a:avLst/>
          </a:prstGeom>
        </p:spPr>
      </p:pic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F5918631-600A-46C3-85BA-9EA1F41F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0720"/>
            <a:ext cx="10326319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The real barrier:  </a:t>
            </a:r>
            <a:r>
              <a:rPr sz="115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It was never access to the data. It is the effort, and the accountability, of using it.</a:t>
            </a:r>
            <a:endParaRPr sz="1150"/>
          </a:p>
        </p:txBody>
      </p:sp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069E1C51-FA91-411C-B4B2-65B50436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0E9BF1FD-D812-4135-9FC9-9867104B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06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5794336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94618E79-F4FB-4206-BA81-77119207F1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5a02c174843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B1A0BFE-74E0-477E-8F8E-9993DFB9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3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794D2AF-9BF0-465C-80DC-5725AED9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BEE494D-4608-43E1-96E5-2B7AB075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AC5654A-DA30-423E-A10A-3268B66F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9E170ED-DDF3-4AF4-A660-B8812906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EB208F1-43D2-4652-901F-2A9785C5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5A66E08-A8CB-43EC-ACBC-49298DA3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05 · THE COST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BEE995B-68DF-44FD-B4E7-8492E7E9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Paid Twice: Once by the Person, Once by the Decision</a:t>
            </a:r>
            <a:endParaRPr sz="2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CDE8018-D602-44D6-88EF-9514A42D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The accessibility gap costs an employee their independence and costs the organization its speed.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B39B18E-039A-4655-9BC5-72E30888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773936"/>
            <a:ext cx="4846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00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TODAY · DEPENDENCY</a:t>
            </a:r>
            <a:endParaRPr sz="10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722E072-1AC1-4F7A-95F1-F6B295AD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066544"/>
            <a:ext cx="4846320" cy="1517904"/>
          </a:xfrm>
          <a:prstGeom xmlns:a="http://schemas.openxmlformats.org/drawingml/2006/main" prst="roundRect">
            <a:avLst>
              <a:gd name="adj" fmla="val 4217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FB7185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4" name="Image 1">
            <a:extLst xmlns:a="http://schemas.openxmlformats.org/drawingml/2006/main">
              <a:ext uri="{FF2B5EF4-FFF2-40B4-BE49-F238E27FC236}">
                <a16:creationId xmlns:a16="http://schemas.microsoft.com/office/drawing/2014/main" id="{D11EA156-0FE2-425C-9153-AAE52AFE8E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c16144e8647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240280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D55AB70-84FE-42FD-9211-00A76AE6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212848"/>
            <a:ext cx="4187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Every answer runs through somebody else</a:t>
            </a:r>
            <a:endParaRPr sz="1050"/>
          </a:p>
        </p:txBody>
      </p:sp>
      <p:pic>
        <p:nvPicPr>
          <p:cNvPr id="16" name="Image 2">
            <a:extLst xmlns:a="http://schemas.openxmlformats.org/drawingml/2006/main">
              <a:ext uri="{FF2B5EF4-FFF2-40B4-BE49-F238E27FC236}">
                <a16:creationId xmlns:a16="http://schemas.microsoft.com/office/drawing/2014/main" id="{BD16CFFE-7426-45A6-8A6B-23B998223E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c16144e8647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60904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2D7DFA50-A525-4FEE-8C50-A8D0FCDF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633472"/>
            <a:ext cx="4187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Waiting becomes normal, so questions go unasked</a:t>
            </a:r>
            <a:endParaRPr sz="1050"/>
          </a:p>
        </p:txBody>
      </p:sp>
      <p:pic>
        <p:nvPicPr>
          <p:cNvPr id="18" name="Image 3">
            <a:extLst xmlns:a="http://schemas.openxmlformats.org/drawingml/2006/main">
              <a:ext uri="{FF2B5EF4-FFF2-40B4-BE49-F238E27FC236}">
                <a16:creationId xmlns:a16="http://schemas.microsoft.com/office/drawing/2014/main" id="{FF74100C-E756-4779-9DBF-D599C4F58B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c16144e8647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081528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9967A0FD-3DE4-49AD-AFE5-7D7DA9DA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054096"/>
            <a:ext cx="4187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Specialists absorb work that is not their expertise</a:t>
            </a:r>
            <a:endParaRPr sz="105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8AD6892C-E350-4777-BFAE-C4403A02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712464"/>
            <a:ext cx="4846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00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WITH BursaIQ · SELF-RELIANCE</a:t>
            </a:r>
            <a:endParaRPr sz="1000"/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94D15FB1-49AC-4E92-9A02-9AB6B690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005072"/>
            <a:ext cx="4846320" cy="1517904"/>
          </a:xfrm>
          <a:prstGeom xmlns:a="http://schemas.openxmlformats.org/drawingml/2006/main" prst="roundRect">
            <a:avLst>
              <a:gd name="adj" fmla="val 4217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4ADE80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Image 4">
            <a:extLst xmlns:a="http://schemas.openxmlformats.org/drawingml/2006/main">
              <a:ext uri="{FF2B5EF4-FFF2-40B4-BE49-F238E27FC236}">
                <a16:creationId xmlns:a16="http://schemas.microsoft.com/office/drawing/2014/main" id="{0C1E33BF-C862-4162-9917-801FFCF1E2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0dc19093e44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178808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451011B8-4210-4014-BF30-7E08388E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151376"/>
            <a:ext cx="4187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The person with the question reaches the answer</a:t>
            </a:r>
            <a:endParaRPr sz="1050"/>
          </a:p>
        </p:txBody>
      </p:sp>
      <p:pic>
        <p:nvPicPr>
          <p:cNvPr id="24" name="Image 5">
            <a:extLst xmlns:a="http://schemas.openxmlformats.org/drawingml/2006/main">
              <a:ext uri="{FF2B5EF4-FFF2-40B4-BE49-F238E27FC236}">
                <a16:creationId xmlns:a16="http://schemas.microsoft.com/office/drawing/2014/main" id="{55D188D6-A6C4-48D3-8BC8-39F834F009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0dc19093e44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599432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1BBC2D55-50E1-401E-8A0A-0A19EF0B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572000"/>
            <a:ext cx="4187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Asking costs nothing, so more gets asked</a:t>
            </a:r>
            <a:endParaRPr sz="1050"/>
          </a:p>
        </p:txBody>
      </p:sp>
      <p:pic>
        <p:nvPicPr>
          <p:cNvPr id="26" name="Image 6">
            <a:extLst xmlns:a="http://schemas.openxmlformats.org/drawingml/2006/main">
              <a:ext uri="{FF2B5EF4-FFF2-40B4-BE49-F238E27FC236}">
                <a16:creationId xmlns:a16="http://schemas.microsoft.com/office/drawing/2014/main" id="{EA591AC3-E56E-43DE-BC7D-E8B0C0E033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0dc19093e44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020056"/>
            <a:ext cx="182880" cy="182880"/>
          </a:xfrm>
          <a:prstGeom xmlns:a="http://schemas.openxmlformats.org/drawingml/2006/main" prst="rect">
            <a:avLst/>
          </a:prstGeom>
        </p:spPr>
      </p:pic>
      <p:sp>
        <p:nvSpPr>
          <p:cNvPr id="27" name="Text 18">
            <a:extLst xmlns:a="http://schemas.openxmlformats.org/drawingml/2006/main">
              <a:ext uri="{FF2B5EF4-FFF2-40B4-BE49-F238E27FC236}">
                <a16:creationId xmlns:a16="http://schemas.microsoft.com/office/drawing/2014/main" id="{33119BEC-3A6B-47BF-A3C9-3F372261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992624"/>
            <a:ext cx="41879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Specialists return to analysis and judgement</a:t>
            </a:r>
            <a:endParaRPr sz="1050"/>
          </a:p>
        </p:txBody>
      </p:sp>
      <p:sp>
        <p:nvSpPr>
          <p:cNvPr id="28" name="Text 19">
            <a:extLst xmlns:a="http://schemas.openxmlformats.org/drawingml/2006/main">
              <a:ext uri="{FF2B5EF4-FFF2-40B4-BE49-F238E27FC236}">
                <a16:creationId xmlns:a16="http://schemas.microsoft.com/office/drawing/2014/main" id="{52445750-7AC0-4600-88DF-51C73CA2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773936"/>
            <a:ext cx="573603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WHAT IT COSTS THE ORGANISATION</a:t>
            </a:r>
            <a:endParaRPr sz="1000"/>
          </a:p>
        </p:txBody>
      </p:sp>
      <p:sp>
        <p:nvSpPr>
          <p:cNvPr id="29" name="Shape 20">
            <a:extLst xmlns:a="http://schemas.openxmlformats.org/drawingml/2006/main">
              <a:ext uri="{FF2B5EF4-FFF2-40B4-BE49-F238E27FC236}">
                <a16:creationId xmlns:a16="http://schemas.microsoft.com/office/drawing/2014/main" id="{1BE35F51-5602-4DB6-8475-5728A9D4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66544"/>
            <a:ext cx="5736031" cy="3456432"/>
          </a:xfrm>
          <a:prstGeom xmlns:a="http://schemas.openxmlformats.org/drawingml/2006/main" prst="roundRect">
            <a:avLst>
              <a:gd name="adj" fmla="val 1852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6DA97ADF-467C-4076-A517-0CC494B4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2212848"/>
            <a:ext cx="5260543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Slower decisions</a:t>
            </a:r>
            <a:endParaRPr sz="1100"/>
          </a:p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Questions stay open during the discussion that needed them</a:t>
            </a:r>
            <a:endParaRPr sz="1100"/>
          </a:p>
        </p:txBody>
      </p:sp>
      <p:sp>
        <p:nvSpPr>
          <p:cNvPr id="31" name="Shape 22">
            <a:extLst xmlns:a="http://schemas.openxmlformats.org/drawingml/2006/main">
              <a:ext uri="{FF2B5EF4-FFF2-40B4-BE49-F238E27FC236}">
                <a16:creationId xmlns:a16="http://schemas.microsoft.com/office/drawing/2014/main" id="{4FB16934-4661-4BD5-9FD2-3A71C109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2724912"/>
            <a:ext cx="5260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23">
            <a:extLst xmlns:a="http://schemas.openxmlformats.org/drawingml/2006/main">
              <a:ext uri="{FF2B5EF4-FFF2-40B4-BE49-F238E27FC236}">
                <a16:creationId xmlns:a16="http://schemas.microsoft.com/office/drawing/2014/main" id="{92F66E36-A309-42CF-A6A7-A372D55A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2775204"/>
            <a:ext cx="5260543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Meeting disruption</a:t>
            </a:r>
            <a:endParaRPr sz="1100"/>
          </a:p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Teams pause, defer or schedule follow-up work</a:t>
            </a:r>
            <a:endParaRPr sz="1100"/>
          </a:p>
        </p:txBody>
      </p:sp>
      <p:sp>
        <p:nvSpPr>
          <p:cNvPr id="33" name="Shape 24">
            <a:extLst xmlns:a="http://schemas.openxmlformats.org/drawingml/2006/main">
              <a:ext uri="{FF2B5EF4-FFF2-40B4-BE49-F238E27FC236}">
                <a16:creationId xmlns:a16="http://schemas.microsoft.com/office/drawing/2014/main" id="{8DEC6C3A-6439-4F41-B4DD-940E8088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3287268"/>
            <a:ext cx="5260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807D7C97-33FF-44E5-90E1-D7CF9A5A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3337560"/>
            <a:ext cx="5260543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Analytical bottlenecks</a:t>
            </a:r>
            <a:endParaRPr sz="1100"/>
          </a:p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Specialists on repeat retrieval, not analysis</a:t>
            </a:r>
            <a:endParaRPr sz="1100"/>
          </a:p>
        </p:txBody>
      </p:sp>
      <p:sp>
        <p:nvSpPr>
          <p:cNvPr id="35" name="Shape 26">
            <a:extLst xmlns:a="http://schemas.openxmlformats.org/drawingml/2006/main">
              <a:ext uri="{FF2B5EF4-FFF2-40B4-BE49-F238E27FC236}">
                <a16:creationId xmlns:a16="http://schemas.microsoft.com/office/drawing/2014/main" id="{AF334000-EF5E-4ADC-A455-8B7FB6DF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3849624"/>
            <a:ext cx="5260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27">
            <a:extLst xmlns:a="http://schemas.openxmlformats.org/drawingml/2006/main">
              <a:ext uri="{FF2B5EF4-FFF2-40B4-BE49-F238E27FC236}">
                <a16:creationId xmlns:a16="http://schemas.microsoft.com/office/drawing/2014/main" id="{BA0ED487-D035-47A7-B372-972239FD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3899916"/>
            <a:ext cx="5260543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Inconsistent interpretation</a:t>
            </a:r>
            <a:endParaRPr sz="1100"/>
          </a:p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Different filters produce conflicting answers</a:t>
            </a:r>
            <a:endParaRPr sz="1100"/>
          </a:p>
        </p:txBody>
      </p:sp>
      <p:sp>
        <p:nvSpPr>
          <p:cNvPr id="37" name="Shape 28">
            <a:extLst xmlns:a="http://schemas.openxmlformats.org/drawingml/2006/main">
              <a:ext uri="{FF2B5EF4-FFF2-40B4-BE49-F238E27FC236}">
                <a16:creationId xmlns:a16="http://schemas.microsoft.com/office/drawing/2014/main" id="{1704DE70-3FA6-434A-AED9-004EA125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4411980"/>
            <a:ext cx="5260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0D4B1C8D-121B-4375-AB1A-FBDF4390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4462272"/>
            <a:ext cx="5260543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Reduced responsiveness</a:t>
            </a:r>
            <a:endParaRPr sz="1100"/>
          </a:p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Slower reaction to market and stakeholder needs</a:t>
            </a:r>
            <a:endParaRPr sz="1100"/>
          </a:p>
        </p:txBody>
      </p:sp>
      <p:sp>
        <p:nvSpPr>
          <p:cNvPr id="39" name="Shape 30">
            <a:extLst xmlns:a="http://schemas.openxmlformats.org/drawingml/2006/main">
              <a:ext uri="{FF2B5EF4-FFF2-40B4-BE49-F238E27FC236}">
                <a16:creationId xmlns:a16="http://schemas.microsoft.com/office/drawing/2014/main" id="{645883AB-77D5-4F91-A0BD-B6590E8C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4974336"/>
            <a:ext cx="5260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 31">
            <a:extLst xmlns:a="http://schemas.openxmlformats.org/drawingml/2006/main">
              <a:ext uri="{FF2B5EF4-FFF2-40B4-BE49-F238E27FC236}">
                <a16:creationId xmlns:a16="http://schemas.microsoft.com/office/drawing/2014/main" id="{22B2E35A-D76B-4923-85B2-BAA878FF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336" y="5024628"/>
            <a:ext cx="5260543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Lower data return</a:t>
            </a:r>
            <a:endParaRPr sz="1100"/>
          </a:p>
          <a:p xmlns:a="http://schemas.openxmlformats.org/drawingml/2006/main">
            <a:pPr marL="0" indent="0">
              <a:lnSpc>
                <a:spcPct val="104000"/>
              </a:lnSpc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Existing datasets deliver less than they could</a:t>
            </a:r>
            <a:endParaRPr sz="1100"/>
          </a:p>
        </p:txBody>
      </p:sp>
      <p:sp>
        <p:nvSpPr>
          <p:cNvPr id="41" name="Shape 32">
            <a:extLst xmlns:a="http://schemas.openxmlformats.org/drawingml/2006/main">
              <a:ext uri="{FF2B5EF4-FFF2-40B4-BE49-F238E27FC236}">
                <a16:creationId xmlns:a16="http://schemas.microsoft.com/office/drawing/2014/main" id="{1BB31F29-1344-4662-83A9-432407D5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760720"/>
            <a:ext cx="11039551" cy="512064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Shape 33">
            <a:extLst xmlns:a="http://schemas.openxmlformats.org/drawingml/2006/main">
              <a:ext uri="{FF2B5EF4-FFF2-40B4-BE49-F238E27FC236}">
                <a16:creationId xmlns:a16="http://schemas.microsoft.com/office/drawing/2014/main" id="{59A39CA1-02E9-41DA-85E6-16E26070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861304"/>
            <a:ext cx="310896" cy="3108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3" name="Image 7">
            <a:extLst xmlns:a="http://schemas.openxmlformats.org/drawingml/2006/main">
              <a:ext uri="{FF2B5EF4-FFF2-40B4-BE49-F238E27FC236}">
                <a16:creationId xmlns:a16="http://schemas.microsoft.com/office/drawing/2014/main" id="{8EDE9D51-9440-4047-8FF0-77D27C04F4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10d4d382345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991" y="5935919"/>
            <a:ext cx="161666" cy="161666"/>
          </a:xfrm>
          <a:prstGeom xmlns:a="http://schemas.openxmlformats.org/drawingml/2006/main" prst="rect">
            <a:avLst/>
          </a:prstGeom>
        </p:spPr>
      </p:pic>
      <p:sp>
        <p:nvSpPr>
          <p:cNvPr id="44" name="Text 34">
            <a:extLst xmlns:a="http://schemas.openxmlformats.org/drawingml/2006/main">
              <a:ext uri="{FF2B5EF4-FFF2-40B4-BE49-F238E27FC236}">
                <a16:creationId xmlns:a16="http://schemas.microsoft.com/office/drawing/2014/main" id="{26D40232-6621-4D25-A97F-F1047347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0720"/>
            <a:ext cx="10326319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Impact chain:  </a:t>
            </a:r>
            <a:r>
              <a:rPr sz="115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Slower retrieval   →   Delayed insight   →   Deferred or less-informed decisions</a:t>
            </a:r>
            <a:endParaRPr sz="1150"/>
          </a:p>
        </p:txBody>
      </p:sp>
      <p:sp>
        <p:nvSpPr>
          <p:cNvPr id="45" name="Text 35">
            <a:extLst xmlns:a="http://schemas.openxmlformats.org/drawingml/2006/main">
              <a:ext uri="{FF2B5EF4-FFF2-40B4-BE49-F238E27FC236}">
                <a16:creationId xmlns:a16="http://schemas.microsoft.com/office/drawing/2014/main" id="{C73C4EA6-DEEC-4979-9C88-35E93745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46" name="Text 36">
            <a:extLst xmlns:a="http://schemas.openxmlformats.org/drawingml/2006/main">
              <a:ext uri="{FF2B5EF4-FFF2-40B4-BE49-F238E27FC236}">
                <a16:creationId xmlns:a16="http://schemas.microsoft.com/office/drawing/2014/main" id="{3F972096-E962-4938-9C4F-E2A76E18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07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6922316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732B9278-16E7-4727-A642-C79F1C2DB3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f6de622484f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94C4A3D-1CF8-46A3-997D-627B38FA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B5E91EF-5EBA-44BD-B5F4-6B39FA30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896112"/>
            <a:ext cx="2788920" cy="34747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26BFA">
              <a:alpha val="14000"/>
            </a:srgbClr>
          </a:solidFill>
          <a:ln xmlns:a="http://schemas.openxmlformats.org/drawingml/2006/main"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BC60BA-AE8F-4C3C-8115-43F3394E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896112"/>
            <a:ext cx="2788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 spc="250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THE PROPOSED SOLUTION</a:t>
            </a:r>
            <a:endParaRPr sz="10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0BBCFFB-8D53-47DB-AA7D-75DD2F33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16736"/>
            <a:ext cx="8686800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0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6000" b="1">
                <a:gradFill>
                  <a:gsLst>
                    <a:gs pos="0">
                      <a:srgbClr val="5B8DEF"/>
                    </a:gs>
                    <a:gs pos="50000">
                      <a:srgbClr val="A26BFA"/>
                    </a:gs>
                    <a:gs pos="100000">
                      <a:srgbClr val="3DDDFC"/>
                    </a:gs>
                  </a:gsLst>
                  <a:lin ang="0" scaled="1"/>
                </a:gradFill>
                <a:latin typeface="Segoe UI"/>
                <a:ea typeface="Segoe UI"/>
                <a:cs typeface="Segoe UI"/>
              </a:rPr>
              <a:t>IQ</a:t>
            </a:r>
            <a:endParaRPr sz="6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4DF4B7A-0C45-4495-B548-6F45AF91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450592"/>
            <a:ext cx="9601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One workspace from question to accountable action</a:t>
            </a:r>
            <a:endParaRPr sz="2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918C3A1-3292-4C93-9AB0-571D4683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980944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BursaIQ connects a hosted Copilot Studio conversation to governed local evidence, deterministic metrics and review workflows.</a:t>
            </a:r>
            <a:endParaRPr sz="12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4AB40EF-3DD1-4FAF-8FB4-C38CA82A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986784"/>
            <a:ext cx="2587752" cy="1700784"/>
          </a:xfrm>
          <a:prstGeom xmlns:a="http://schemas.openxmlformats.org/drawingml/2006/main" prst="roundRect">
            <a:avLst>
              <a:gd name="adj" fmla="val 37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AFE9A10-8D97-4AA6-9307-F837ED4D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87952"/>
            <a:ext cx="420624" cy="42062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" name="Image 1">
            <a:extLst xmlns:a="http://schemas.openxmlformats.org/drawingml/2006/main">
              <a:ext uri="{FF2B5EF4-FFF2-40B4-BE49-F238E27FC236}">
                <a16:creationId xmlns:a16="http://schemas.microsoft.com/office/drawing/2014/main" id="{38F22943-4076-4657-8DB7-6C921A4799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50a9908d34e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190" y="428890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1CC1AC8-E3B9-41EE-A2A1-9185DB79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4187952"/>
            <a:ext cx="1691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WORKSPACE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E6AA576-5EF9-43E1-BE32-494582A9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75488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Assistant, Learn Bursa and permissioned Ask Reg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089827A9-577A-48AF-A09B-1BFC346D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338" y="3986784"/>
            <a:ext cx="2587752" cy="1700784"/>
          </a:xfrm>
          <a:prstGeom xmlns:a="http://schemas.openxmlformats.org/drawingml/2006/main" prst="roundRect">
            <a:avLst>
              <a:gd name="adj" fmla="val 37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E1C1DC0-E498-4F49-8A27-42CB2986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506" y="4187952"/>
            <a:ext cx="420624" cy="42062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A26BFA">
              <a:alpha val="16000"/>
            </a:srgbClr>
          </a:solidFill>
          <a:ln xmlns:a="http://schemas.openxmlformats.org/drawingml/2006/main"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" name="Image 2">
            <a:extLst xmlns:a="http://schemas.openxmlformats.org/drawingml/2006/main">
              <a:ext uri="{FF2B5EF4-FFF2-40B4-BE49-F238E27FC236}">
                <a16:creationId xmlns:a16="http://schemas.microsoft.com/office/drawing/2014/main" id="{024DE653-031D-4E9F-A71B-E5F841FBF3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a353c82dd48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5456" y="428890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F8118105-0311-432C-80AC-D5D71F02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858" y="4187952"/>
            <a:ext cx="1691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INTELLIGENCE</a:t>
            </a:r>
            <a:endParaRPr sz="14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0BB2BF4D-50EF-4D92-8A6E-1498DE72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794" y="475488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Today’s Brief, Watchlist and Management Briefing</a:t>
            </a:r>
            <a:endParaRPr sz="105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9566975D-68BF-4358-A8C8-7A765645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605" y="3986784"/>
            <a:ext cx="2587752" cy="1700784"/>
          </a:xfrm>
          <a:prstGeom xmlns:a="http://schemas.openxmlformats.org/drawingml/2006/main" prst="roundRect">
            <a:avLst>
              <a:gd name="adj" fmla="val 37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FE79F9CD-087D-489F-AE0A-2CFE9AB5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773" y="4187952"/>
            <a:ext cx="420624" cy="42062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5B8DEF">
              <a:alpha val="16000"/>
            </a:srgbClr>
          </a:solidFill>
          <a:ln xmlns:a="http://schemas.openxmlformats.org/drawingml/2006/main"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Image 3">
            <a:extLst xmlns:a="http://schemas.openxmlformats.org/drawingml/2006/main">
              <a:ext uri="{FF2B5EF4-FFF2-40B4-BE49-F238E27FC236}">
                <a16:creationId xmlns:a16="http://schemas.microsoft.com/office/drawing/2014/main" id="{0E16BDD9-6616-475E-936E-2D7E62B6E8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2f58a71e349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2723" y="428890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D954A47C-1FB7-468C-8CC9-A15B1178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125" y="4187952"/>
            <a:ext cx="1691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rgbClr val="5B8DEF"/>
                </a:solidFill>
                <a:latin typeface="Segoe UI"/>
                <a:ea typeface="Segoe UI"/>
                <a:cs typeface="Segoe UI"/>
              </a:rPr>
              <a:t>EVIDENCE</a:t>
            </a:r>
            <a:endParaRPr sz="14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C2B6FF4-E73C-4DFC-9DA1-B6332D6C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061" y="475488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Decision Canvas shows plot, method, sources and actions</a:t>
            </a:r>
            <a:endParaRPr sz="105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EAAD2A02-E52A-4239-963D-8CD69B09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871" y="3986784"/>
            <a:ext cx="2587752" cy="1700784"/>
          </a:xfrm>
          <a:prstGeom xmlns:a="http://schemas.openxmlformats.org/drawingml/2006/main" prst="roundRect">
            <a:avLst>
              <a:gd name="adj" fmla="val 37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4AB9C3B3-BA5A-4FE0-8711-3B18C1D7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039" y="4187952"/>
            <a:ext cx="420624" cy="42062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4ADE80">
              <a:alpha val="16000"/>
            </a:srgbClr>
          </a:solidFill>
          <a:ln xmlns:a="http://schemas.openxmlformats.org/drawingml/2006/main" w="9525">
            <a:solidFill>
              <a:srgbClr val="4ADE80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6" name="Image 4">
            <a:extLst xmlns:a="http://schemas.openxmlformats.org/drawingml/2006/main">
              <a:ext uri="{FF2B5EF4-FFF2-40B4-BE49-F238E27FC236}">
                <a16:creationId xmlns:a16="http://schemas.microsoft.com/office/drawing/2014/main" id="{0800AA40-9D9A-404A-957B-923249DEE4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9280983fb48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9989" y="4288902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AB70BAE1-84F7-4038-BD49-E6501625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391" y="4187952"/>
            <a:ext cx="1691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WORKFLOW</a:t>
            </a:r>
            <a:endParaRPr sz="14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16238660-DBE1-4340-B404-A4D0DBFE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7327" y="475488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Monitor, record, verify, refresh or export</a:t>
            </a:r>
            <a:endParaRPr sz="1050"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70F134FE-4FC0-41C9-8647-FA1DD2A6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08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6556988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E0BC648B-BDE5-4A35-A98C-5444F75E06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435f4d3654e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45FC8E63-92B4-4AD9-98FB-4916DE89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3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75E8A19-28EA-4D21-9564-85F90687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CF54F09-0CC9-43B5-8DEB-BF4273D6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C1468B3-C137-4A5A-9870-FDA64859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7E1CEDD-4855-4814-A724-98CE2341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BE80AE7-4F82-40ED-993A-D75B1119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4FC441D-18DA-4697-B791-F3ADC74D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06 · THE PROTOTYPE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F91F9EA-B8BB-4B0A-8F9B-63D17000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The product experience, as of October 2026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EA6DD39-E81D-4D60-A444-57DE72E9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Workspace opens first. Role-aware intelligence and accountable workflows stay one navigation step away.</a:t>
            </a:r>
            <a:endParaRPr sz="11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D0E77A-1000-41DF-A2B7-8028ECC2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792224"/>
            <a:ext cx="6144768" cy="3763952"/>
          </a:xfrm>
          <a:prstGeom xmlns:a="http://schemas.openxmlformats.org/drawingml/2006/main" prst="roundRect">
            <a:avLst>
              <a:gd name="adj" fmla="val 2186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3DDDFC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" name="Image 1">
            <a:extLst xmlns:a="http://schemas.openxmlformats.org/drawingml/2006/main">
              <a:ext uri="{FF2B5EF4-FFF2-40B4-BE49-F238E27FC236}">
                <a16:creationId xmlns:a16="http://schemas.microsoft.com/office/drawing/2014/main" id="{C3420104-B2EB-40CC-9107-2A35173CCD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5e155ba1d47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5800" y="1901952"/>
            <a:ext cx="5925312" cy="35444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17BBC5-A6A2-44D6-AA37-79EEEB93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592752"/>
            <a:ext cx="651052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Working prototype with synthetic governed sources and a prepared offline fallback</a:t>
            </a:r>
            <a:endParaRPr sz="95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FCCFCBB-380D-42D0-8866-8E47165E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1792224"/>
            <a:ext cx="4583887" cy="914400"/>
          </a:xfrm>
          <a:prstGeom xmlns:a="http://schemas.openxmlformats.org/drawingml/2006/main" prst="roundRect">
            <a:avLst>
              <a:gd name="adj" fmla="val 700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9E053AE-A5C7-442E-9B9E-E6CA7B06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1920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01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6D7216F-6017-47AA-8E6A-F14B3206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920240"/>
            <a:ext cx="381579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Workspace first</a:t>
            </a:r>
            <a:endParaRPr sz="115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2E52D21E-2D26-41AB-A3CF-0DFED710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2212848"/>
            <a:ext cx="4218127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BursaIQ Assistant is the default entry point for permitted questions.</a:t>
            </a:r>
            <a:endParaRPr sz="9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E9B45B8-C83F-4253-B33C-1A75F262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2816352"/>
            <a:ext cx="4583887" cy="914400"/>
          </a:xfrm>
          <a:prstGeom xmlns:a="http://schemas.openxmlformats.org/drawingml/2006/main" prst="roundRect">
            <a:avLst>
              <a:gd name="adj" fmla="val 700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5C2FE280-B2D2-4A60-980C-9B627730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294436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02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01E0E683-B1AA-41A1-90F6-C239C095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944368"/>
            <a:ext cx="381579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Role-aware intelligence</a:t>
            </a:r>
            <a:endParaRPr sz="115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DDC4D19-6D1C-451E-9350-2FE0E422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3236976"/>
            <a:ext cx="4218127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Today’s Brief, Watchlist and Management Briefing turn signals into action.</a:t>
            </a:r>
            <a:endParaRPr sz="9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6B7A103-BF71-40E3-886B-AA46FA90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3840480"/>
            <a:ext cx="4583887" cy="914400"/>
          </a:xfrm>
          <a:prstGeom xmlns:a="http://schemas.openxmlformats.org/drawingml/2006/main" prst="roundRect">
            <a:avLst>
              <a:gd name="adj" fmla="val 700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5548BE8-F219-4A69-A5C7-1E2451CA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396849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5B8DEF"/>
                </a:solidFill>
                <a:latin typeface="Segoe UI"/>
                <a:ea typeface="Segoe UI"/>
                <a:cs typeface="Segoe UI"/>
              </a:rPr>
              <a:t>03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DF8A6517-CD50-4971-AC3B-B3EBCAD4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968496"/>
            <a:ext cx="381579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Evidence beside the answer</a:t>
            </a:r>
            <a:endParaRPr sz="115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07F2363-4E20-4FDB-AD8F-12E2DA7B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4261104"/>
            <a:ext cx="4218127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Decision Canvas keeps plots, methods, sources and actions visible.</a:t>
            </a:r>
            <a:endParaRPr sz="9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032F5E28-75C4-41EF-92FB-9093DB8E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4864608"/>
            <a:ext cx="4583887" cy="914400"/>
          </a:xfrm>
          <a:prstGeom xmlns:a="http://schemas.openxmlformats.org/drawingml/2006/main" prst="roundRect">
            <a:avLst>
              <a:gd name="adj" fmla="val 700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CC2B45C1-4383-43A4-B6C1-5C2649E2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499262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04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A1C6495D-D339-45BF-B38A-92795CA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992624"/>
            <a:ext cx="381579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Workflow after the answer</a:t>
            </a:r>
            <a:endParaRPr sz="115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D8506706-188F-458C-AF24-1F461D33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616" y="5285232"/>
            <a:ext cx="4218127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Decision Memory, reviewer verification, Source Health and verified PDF output.</a:t>
            </a:r>
            <a:endParaRPr sz="9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E2F58D68-35ED-41D2-B324-17B15DE3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943600"/>
            <a:ext cx="11039551" cy="457200"/>
          </a:xfrm>
          <a:prstGeom xmlns:a="http://schemas.openxmlformats.org/drawingml/2006/main" prst="roundRect">
            <a:avLst>
              <a:gd name="adj" fmla="val 1400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470EB22-8B65-4519-A89E-33D4CF7F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6016752"/>
            <a:ext cx="310896" cy="3108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Image 2">
            <a:extLst xmlns:a="http://schemas.openxmlformats.org/drawingml/2006/main">
              <a:ext uri="{FF2B5EF4-FFF2-40B4-BE49-F238E27FC236}">
                <a16:creationId xmlns:a16="http://schemas.microsoft.com/office/drawing/2014/main" id="{4EA719C4-71D0-446A-9AE3-53C0FFA995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010c7eda249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991" y="6091367"/>
            <a:ext cx="161666" cy="161666"/>
          </a:xfrm>
          <a:prstGeom xmlns:a="http://schemas.openxmlformats.org/drawingml/2006/main" prst="rect">
            <a:avLst/>
          </a:prstGeom>
        </p:spPr>
      </p:pic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5FC09428-49A9-4099-8307-3ED2A81B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43600"/>
            <a:ext cx="1032631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What runs now: a browser front end, Flask policy gateway, Copilot Studio connection, local evidence and a resilient prepared demo path.</a:t>
            </a:r>
            <a:endParaRPr sz="1150"/>
          </a:p>
        </p:txBody>
      </p:sp>
      <p:sp>
        <p:nvSpPr>
          <p:cNvPr id="35" name="Text 30">
            <a:extLst xmlns:a="http://schemas.openxmlformats.org/drawingml/2006/main">
              <a:ext uri="{FF2B5EF4-FFF2-40B4-BE49-F238E27FC236}">
                <a16:creationId xmlns:a16="http://schemas.microsoft.com/office/drawing/2014/main" id="{6EBED7AF-F90C-448E-A9D4-CD605DDF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4838CF6F-8257-4F5F-8515-46EC6DC1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09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382736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E7D881E-68A1-46DF-AC7F-A7B38B088A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5ed4164ac4d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541B2CCA-EBFE-4C6E-9F20-B416E68C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3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BC0012C-91D6-4DBB-9B35-74934D16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0520D4D-CF48-43A2-8EB8-1FB64E4A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112F7B6-DFE9-44CF-9310-68DF311B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53CEE00-F9B3-4B87-BB17-DA148521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DF108A2-27CF-4BFC-88F6-6AAAA002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20C7D75-3C57-4ECA-8B5A-FBE1551E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07 · THE ARCHITECTURE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31EAE2C-061C-4B99-AF6F-2065F97A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One governed path from question to evidence</a:t>
            </a:r>
            <a:endParaRPr sz="2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ED11ABA-BB5B-4930-9BF0-3C2F94BD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The Flask gateway applies BursaIQ policy before any hosted-agent call and keeps Direct Line tokens out of browser code.</a:t>
            </a:r>
            <a:endParaRPr sz="11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405E8F4-0A2A-466F-9D78-64325B90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737360"/>
            <a:ext cx="2926080" cy="365760"/>
          </a:xfrm>
          <a:prstGeom xmlns:a="http://schemas.openxmlformats.org/drawingml/2006/main" prst="roundRect">
            <a:avLst>
              <a:gd name="adj" fmla="val 1500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E936616-B26D-407A-84ED-ED9051DF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1737360"/>
            <a:ext cx="28163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Microsoft Copilot Studio</a:t>
            </a:r>
            <a:endParaRPr sz="11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AD5614C-0928-4C19-981A-C77C91EA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103120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↕</a:t>
            </a:r>
            <a:endParaRPr sz="12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ECFA088-1ACD-459E-A1B1-D9DEB682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86000"/>
            <a:ext cx="2926080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3DDDFC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22D6684-A996-449E-82EC-D2C0D914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267712"/>
            <a:ext cx="2816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Mobile app token endpoint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10F923B-5402-4407-98C8-99010C8C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542032"/>
            <a:ext cx="28163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HTTPS, short-lived Direct Line token</a:t>
            </a:r>
            <a:endParaRPr sz="8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A2758A-DB5A-4623-BAF8-2B7338A4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798064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↕</a:t>
            </a:r>
            <a:endParaRPr sz="12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495A7AEE-57DE-4ED2-A4E3-4D39CCA6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980944"/>
            <a:ext cx="3145536" cy="1481328"/>
          </a:xfrm>
          <a:prstGeom xmlns:a="http://schemas.openxmlformats.org/drawingml/2006/main" prst="roundRect">
            <a:avLst>
              <a:gd name="adj" fmla="val 493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A26BFA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F86AD06-EB39-4A63-A30A-0CB9F1EE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03580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20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1200" b="1" spc="2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endParaRPr sz="12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40FE6B55-1C94-42AD-BA0D-90CC1E02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10128"/>
            <a:ext cx="2743200" cy="384048"/>
          </a:xfrm>
          <a:prstGeom xmlns:a="http://schemas.openxmlformats.org/drawingml/2006/main" prst="roundRect">
            <a:avLst>
              <a:gd name="adj" fmla="val 14286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3DDDFC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7C64D56-07A1-4B92-8868-1D02D1C5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3310128"/>
            <a:ext cx="26334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Flask policy gateway</a:t>
            </a:r>
            <a:endParaRPr sz="11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58740A1-CEE4-4812-84A9-CFEB1598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94176"/>
            <a:ext cx="29260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↓</a:t>
            </a:r>
            <a:endParaRPr sz="12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B392A01B-0A6C-4B38-B88B-73B0AF80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840480"/>
            <a:ext cx="2743200" cy="548640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3DDDFC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C105FB2-BD5E-4973-AA59-73362AB0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3840480"/>
            <a:ext cx="2633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Workspace router</a:t>
            </a:r>
            <a:endParaRPr sz="11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2DCF15B-F9EB-4309-9BD7-35548E90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4114800"/>
            <a:ext cx="26334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Route, role check, people-data block</a:t>
            </a:r>
            <a:endParaRPr sz="8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51364FC-D1CB-421A-A280-7668CBB0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462272"/>
            <a:ext cx="2926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↓</a:t>
            </a:r>
            <a:endParaRPr sz="12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639AD287-AE9E-453A-9D33-F86CA05D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626864"/>
            <a:ext cx="3145536" cy="841248"/>
          </a:xfrm>
          <a:prstGeom xmlns:a="http://schemas.openxmlformats.org/drawingml/2006/main" prst="roundRect">
            <a:avLst>
              <a:gd name="adj" fmla="val 8696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F59E0B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D00D3CA-F002-4BCC-8B6B-5EAA5244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681728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50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DATA SOURCES  ·  READ-ONLY</a:t>
            </a:r>
            <a:endParaRPr sz="9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7AC4351D-92D3-4279-9A0B-3E0D2AA1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4956048"/>
            <a:ext cx="65836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5B8DEF">
              <a:alpha val="16000"/>
            </a:srgbClr>
          </a:solidFill>
          <a:ln xmlns:a="http://schemas.openxmlformats.org/drawingml/2006/main"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702CF88A-0F4D-4502-BA3A-B5C13B00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4956048"/>
            <a:ext cx="6583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XLSX</a:t>
            </a:r>
            <a:endParaRPr sz="95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68C79B69-233E-4478-9329-B26C546A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4956048"/>
            <a:ext cx="65836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5B8DEF">
              <a:alpha val="16000"/>
            </a:srgbClr>
          </a:solidFill>
          <a:ln xmlns:a="http://schemas.openxmlformats.org/drawingml/2006/main"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9365106-EF8D-4D38-BC60-6AA01D42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4956048"/>
            <a:ext cx="6583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PDF</a:t>
            </a:r>
            <a:endParaRPr sz="9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F1E370C1-317F-4B80-8638-540F87E1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956048"/>
            <a:ext cx="65836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5B8DEF">
              <a:alpha val="16000"/>
            </a:srgbClr>
          </a:solidFill>
          <a:ln xmlns:a="http://schemas.openxmlformats.org/drawingml/2006/main"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3EAE6DD1-D225-4BB4-963C-F87EEAC6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956048"/>
            <a:ext cx="6583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JSON</a:t>
            </a:r>
            <a:endParaRPr sz="95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4F8F0836-4F3D-4609-9D1A-6F1ADC3F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956048"/>
            <a:ext cx="65836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5B8DEF">
              <a:alpha val="16000"/>
            </a:srgbClr>
          </a:solidFill>
          <a:ln xmlns:a="http://schemas.openxmlformats.org/drawingml/2006/main"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0F7F110-C1CF-4EE4-9495-1A7DF1E0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956048"/>
            <a:ext cx="6583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SQLite</a:t>
            </a:r>
            <a:endParaRPr sz="95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2D8FA4E5-3AF1-4E2A-8D1A-CB4ECD51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310128"/>
            <a:ext cx="1005840" cy="786384"/>
          </a:xfrm>
          <a:prstGeom xmlns:a="http://schemas.openxmlformats.org/drawingml/2006/main" prst="roundRect">
            <a:avLst>
              <a:gd name="adj" fmla="val 6977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5B8DEF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12B075DD-47DC-4253-B781-4F6747A3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3310128"/>
            <a:ext cx="89611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User</a:t>
            </a:r>
            <a:endParaRPr sz="12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5149B1D-4462-409F-953C-E8734A83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536" y="2615184"/>
            <a:ext cx="2286000" cy="402336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DFE06FC4-05E1-4F10-8725-1296C3FA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15184"/>
            <a:ext cx="217627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BursaIQ web app</a:t>
            </a:r>
            <a:endParaRPr sz="110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F17221C9-896E-4D1C-9B92-ABD04EC4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536" y="30358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REST / JSON</a:t>
            </a:r>
            <a:endParaRPr sz="85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B68CB47F-6587-40CD-A01C-ABADD490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536" y="3236976"/>
            <a:ext cx="2286000" cy="402336"/>
          </a:xfrm>
          <a:prstGeom xmlns:a="http://schemas.openxmlformats.org/drawingml/2006/main" prst="roundRect">
            <a:avLst>
              <a:gd name="adj" fmla="val 13636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828ED3A7-57E1-4C5D-90D9-E8C0FDD3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36976"/>
            <a:ext cx="217627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HTML, CSS and JavaScript</a:t>
            </a:r>
            <a:endParaRPr sz="1100"/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2C511CE4-74DE-45BA-ADEC-3F8B2C23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536" y="4059936"/>
            <a:ext cx="2286000" cy="548640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9D2F36C6-B1D3-4A4C-BD5B-620D2703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59936"/>
            <a:ext cx="2176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Generate briefing</a:t>
            </a:r>
            <a:endParaRPr sz="1100"/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69983291-EF4B-438E-80B4-CA21AB0B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34256"/>
            <a:ext cx="217627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ReportLab PDF</a:t>
            </a:r>
            <a:endParaRPr sz="800"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3C05D4F0-D052-4946-B68B-ECD0FCE5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0128"/>
            <a:ext cx="3840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⇄</a:t>
            </a:r>
            <a:endParaRPr sz="1200"/>
          </a:p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F2ED9A4A-B755-46FA-8706-C5789E33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3017520"/>
            <a:ext cx="292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↔</a:t>
            </a:r>
            <a:endParaRPr sz="1200"/>
          </a:p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075A2B43-DA7A-4954-8EF4-5CBF9C25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4114800"/>
            <a:ext cx="292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↙</a:t>
            </a:r>
            <a:endParaRPr sz="1200"/>
          </a:p>
        </p:txBody>
      </p:sp>
      <p:sp>
        <p:nvSpPr>
          <p:cNvPr id="51" name="Shape 48">
            <a:extLst xmlns:a="http://schemas.openxmlformats.org/drawingml/2006/main">
              <a:ext uri="{FF2B5EF4-FFF2-40B4-BE49-F238E27FC236}">
                <a16:creationId xmlns:a16="http://schemas.microsoft.com/office/drawing/2014/main" id="{E6290A2C-37DE-4B65-8BD3-79A1DD5F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5536"/>
            <a:ext cx="3383280" cy="566928"/>
          </a:xfrm>
          <a:prstGeom xmlns:a="http://schemas.openxmlformats.org/drawingml/2006/main" prst="roundRect">
            <a:avLst>
              <a:gd name="adj" fmla="val 9677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4ADE80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F802ED32-DCC5-499E-B789-595744E7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154680"/>
            <a:ext cx="32735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Demo identity roles</a:t>
            </a:r>
            <a:endParaRPr sz="1100"/>
          </a:p>
        </p:txBody>
      </p:sp>
      <p:sp>
        <p:nvSpPr>
          <p:cNvPr id="53" name="Text 50">
            <a:extLst xmlns:a="http://schemas.openxmlformats.org/drawingml/2006/main">
              <a:ext uri="{FF2B5EF4-FFF2-40B4-BE49-F238E27FC236}">
                <a16:creationId xmlns:a16="http://schemas.microsoft.com/office/drawing/2014/main" id="{015010C0-9D55-44F4-BE42-08F76FF7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429000"/>
            <a:ext cx="32735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Role and reviewer scope</a:t>
            </a:r>
            <a:endParaRPr sz="800"/>
          </a:p>
        </p:txBody>
      </p:sp>
      <p:sp>
        <p:nvSpPr>
          <p:cNvPr id="54" name="Shape 51">
            <a:extLst xmlns:a="http://schemas.openxmlformats.org/drawingml/2006/main">
              <a:ext uri="{FF2B5EF4-FFF2-40B4-BE49-F238E27FC236}">
                <a16:creationId xmlns:a16="http://schemas.microsoft.com/office/drawing/2014/main" id="{2E90C6DD-6752-4323-A42E-D9CACE7F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77056"/>
            <a:ext cx="3383280" cy="566928"/>
          </a:xfrm>
          <a:prstGeom xmlns:a="http://schemas.openxmlformats.org/drawingml/2006/main" prst="roundRect">
            <a:avLst>
              <a:gd name="adj" fmla="val 9677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4ADE80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42D983FB-FE4A-47F9-A8B5-C1223ADD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3886200"/>
            <a:ext cx="32735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Local retrieval</a:t>
            </a:r>
            <a:endParaRPr sz="1100"/>
          </a:p>
        </p:txBody>
      </p:sp>
      <p:sp>
        <p:nvSpPr>
          <p:cNvPr id="56" name="Text 53">
            <a:extLst xmlns:a="http://schemas.openxmlformats.org/drawingml/2006/main">
              <a:ext uri="{FF2B5EF4-FFF2-40B4-BE49-F238E27FC236}">
                <a16:creationId xmlns:a16="http://schemas.microsoft.com/office/drawing/2014/main" id="{6FACEF58-523A-48A7-B9C7-901A6707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160520"/>
            <a:ext cx="32735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Documents, metrics and source health</a:t>
            </a:r>
            <a:endParaRPr sz="800"/>
          </a:p>
        </p:txBody>
      </p:sp>
      <p:sp>
        <p:nvSpPr>
          <p:cNvPr id="57" name="Text 54">
            <a:extLst xmlns:a="http://schemas.openxmlformats.org/drawingml/2006/main">
              <a:ext uri="{FF2B5EF4-FFF2-40B4-BE49-F238E27FC236}">
                <a16:creationId xmlns:a16="http://schemas.microsoft.com/office/drawing/2014/main" id="{9D3658CE-2553-4C00-ABBC-EB8F4C93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3200400"/>
            <a:ext cx="46634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↔</a:t>
            </a:r>
            <a:endParaRPr sz="1200"/>
          </a:p>
        </p:txBody>
      </p:sp>
      <p:sp>
        <p:nvSpPr>
          <p:cNvPr id="58" name="Text 55">
            <a:extLst xmlns:a="http://schemas.openxmlformats.org/drawingml/2006/main">
              <a:ext uri="{FF2B5EF4-FFF2-40B4-BE49-F238E27FC236}">
                <a16:creationId xmlns:a16="http://schemas.microsoft.com/office/drawing/2014/main" id="{3D277EBC-3062-4AB4-8EA1-13AF3757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3931920"/>
            <a:ext cx="46634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↔</a:t>
            </a:r>
            <a:endParaRPr sz="1200"/>
          </a:p>
        </p:txBody>
      </p:sp>
      <p:sp>
        <p:nvSpPr>
          <p:cNvPr id="59" name="Text 56">
            <a:extLst xmlns:a="http://schemas.openxmlformats.org/drawingml/2006/main">
              <a:ext uri="{FF2B5EF4-FFF2-40B4-BE49-F238E27FC236}">
                <a16:creationId xmlns:a16="http://schemas.microsoft.com/office/drawing/2014/main" id="{FF380CB9-E018-4147-8FA5-21B85B78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81728"/>
            <a:ext cx="33832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950" b="1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Hosted agent via Direct Line</a:t>
            </a:r>
            <a:endParaRPr sz="950"/>
          </a:p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950" b="1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Local policy, calculations and audit workflow</a:t>
            </a:r>
          </a:p>
        </p:txBody>
      </p:sp>
      <p:sp>
        <p:nvSpPr>
          <p:cNvPr id="60" name="Shape 57">
            <a:extLst xmlns:a="http://schemas.openxmlformats.org/drawingml/2006/main">
              <a:ext uri="{FF2B5EF4-FFF2-40B4-BE49-F238E27FC236}">
                <a16:creationId xmlns:a16="http://schemas.microsoft.com/office/drawing/2014/main" id="{FE3BC2EF-F14E-4AA5-8450-71A24C55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870448"/>
            <a:ext cx="11039551" cy="457200"/>
          </a:xfrm>
          <a:prstGeom xmlns:a="http://schemas.openxmlformats.org/drawingml/2006/main" prst="roundRect">
            <a:avLst>
              <a:gd name="adj" fmla="val 1400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Shape 58">
            <a:extLst xmlns:a="http://schemas.openxmlformats.org/drawingml/2006/main">
              <a:ext uri="{FF2B5EF4-FFF2-40B4-BE49-F238E27FC236}">
                <a16:creationId xmlns:a16="http://schemas.microsoft.com/office/drawing/2014/main" id="{FE37C856-C0A5-4434-BE3A-7B35BD10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943600"/>
            <a:ext cx="310896" cy="3108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2" name="Image 1">
            <a:extLst xmlns:a="http://schemas.openxmlformats.org/drawingml/2006/main">
              <a:ext uri="{FF2B5EF4-FFF2-40B4-BE49-F238E27FC236}">
                <a16:creationId xmlns:a16="http://schemas.microsoft.com/office/drawing/2014/main" id="{881FC4D8-4284-4080-83AA-B636265709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4076a3ded41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991" y="6018215"/>
            <a:ext cx="161666" cy="161666"/>
          </a:xfrm>
          <a:prstGeom xmlns:a="http://schemas.openxmlformats.org/drawingml/2006/main" prst="rect">
            <a:avLst/>
          </a:prstGeom>
        </p:spPr>
      </p:pic>
      <p:sp>
        <p:nvSpPr>
          <p:cNvPr id="63" name="Text 59">
            <a:extLst xmlns:a="http://schemas.openxmlformats.org/drawingml/2006/main">
              <a:ext uri="{FF2B5EF4-FFF2-40B4-BE49-F238E27FC236}">
                <a16:creationId xmlns:a16="http://schemas.microsoft.com/office/drawing/2014/main" id="{35FAA4CC-A75E-487D-AD3A-AD21EB52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70448"/>
            <a:ext cx="1032631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Every answer can show the narrative, deterministic metric, plot, sources, action and verification status.</a:t>
            </a:r>
            <a:endParaRPr sz="1150"/>
          </a:p>
        </p:txBody>
      </p:sp>
      <p:sp>
        <p:nvSpPr>
          <p:cNvPr id="64" name="Text 60">
            <a:extLst xmlns:a="http://schemas.openxmlformats.org/drawingml/2006/main">
              <a:ext uri="{FF2B5EF4-FFF2-40B4-BE49-F238E27FC236}">
                <a16:creationId xmlns:a16="http://schemas.microsoft.com/office/drawing/2014/main" id="{8A707DFD-A6B3-456E-B1C4-62F7C568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65" name="Text 61">
            <a:extLst xmlns:a="http://schemas.openxmlformats.org/drawingml/2006/main">
              <a:ext uri="{FF2B5EF4-FFF2-40B4-BE49-F238E27FC236}">
                <a16:creationId xmlns:a16="http://schemas.microsoft.com/office/drawing/2014/main" id="{C2EBD12C-087A-433A-B12C-0BADBA73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10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7336755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F7BC087E-0835-4D09-ADCF-A7E328FA76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59c35e6694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925AFB1B-5760-4D8F-A937-56C11429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3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DF08B444-5E09-4BA5-BBF5-6D8C42F8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692D7B3-7CB1-4D2D-BCB4-5794E2E6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A1BF9DC-6F26-4E8D-AAB8-02F108E2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27FEDFB-2C0C-442A-9F49-4DE3B98F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0AF6491-0A7D-454A-8F88-D24B34A4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50B5B4-F5C5-43A1-8F58-5D2246FB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08 · ACCURACY &amp; ASSURANCE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B2CB975-374C-4489-A6EA-0A150B24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Accuracy needs visible controls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32FF576-C6F7-4274-9FE7-3B83CFC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BursaIQ separates generated narrative from calculations, evidence, access checks and human approval.</a:t>
            </a:r>
            <a:endParaRPr sz="11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11AE06F-D719-4C18-8152-7B23E882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810512"/>
            <a:ext cx="2587752" cy="2395728"/>
          </a:xfrm>
          <a:prstGeom xmlns:a="http://schemas.openxmlformats.org/drawingml/2006/main" prst="roundRect">
            <a:avLst>
              <a:gd name="adj" fmla="val 2672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37A05C-79F7-4A3B-8CCF-ECCD67A6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751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01</a:t>
            </a:r>
            <a:endParaRPr sz="13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61EE4F1-D2DB-4059-9AF3-EC2E123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" y="1956816"/>
            <a:ext cx="457200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" name="Image 1">
            <a:extLst xmlns:a="http://schemas.openxmlformats.org/drawingml/2006/main">
              <a:ext uri="{FF2B5EF4-FFF2-40B4-BE49-F238E27FC236}">
                <a16:creationId xmlns:a16="http://schemas.microsoft.com/office/drawing/2014/main" id="{53FAE9C3-DEEA-41D7-ABC9-FE5C91E8ED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4fd7e867548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15184" y="20665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29F03C2A-8436-4FEF-8B46-D816B376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23744"/>
            <a:ext cx="218541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Deterministic metrics</a:t>
            </a:r>
            <a:endParaRPr sz="125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7442B3A-7012-4A9C-8344-CD1800D7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35808"/>
            <a:ext cx="2185416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MetricEngine calculates market measures from the approved workbook. Copilot Studio does not invent the formula.</a:t>
            </a:r>
            <a:endParaRPr sz="9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323190B9-8119-46A6-929C-ED630E47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338" y="1810512"/>
            <a:ext cx="2587752" cy="2395728"/>
          </a:xfrm>
          <a:prstGeom xmlns:a="http://schemas.openxmlformats.org/drawingml/2006/main" prst="roundRect">
            <a:avLst>
              <a:gd name="adj" fmla="val 2672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CEDF85AD-C954-419B-97A6-72222B40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506" y="19751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02</a:t>
            </a:r>
            <a:endParaRPr sz="13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CADCE62A-3BB3-4A16-BEEA-34F87855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722" y="1956816"/>
            <a:ext cx="457200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Image 2">
            <a:extLst xmlns:a="http://schemas.openxmlformats.org/drawingml/2006/main">
              <a:ext uri="{FF2B5EF4-FFF2-40B4-BE49-F238E27FC236}">
                <a16:creationId xmlns:a16="http://schemas.microsoft.com/office/drawing/2014/main" id="{BB3EFDAF-D752-44B6-9606-3BB83943DD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6dcbf6d6d4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32450" y="20665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67F91FB2-BCB7-4CF8-9579-3B091160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506" y="2523744"/>
            <a:ext cx="218541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Evidence in context</a:t>
            </a:r>
            <a:endParaRPr sz="1250"/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668E7990-86E7-4A0C-BEB8-3C20FD64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506" y="3035808"/>
            <a:ext cx="2185416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Decision Canvas keeps the source, owner, reporting period, method and interpretation boundary beside the answer.</a:t>
            </a:r>
            <a:endParaRPr sz="950"/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51077DE7-2B25-4FE1-9F11-8EA3380D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605" y="1810512"/>
            <a:ext cx="2587752" cy="2395728"/>
          </a:xfrm>
          <a:prstGeom xmlns:a="http://schemas.openxmlformats.org/drawingml/2006/main" prst="roundRect">
            <a:avLst>
              <a:gd name="adj" fmla="val 2672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79633D3E-870E-4435-A55D-2A265BCC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773" y="19751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5B8DEF"/>
                </a:solidFill>
                <a:latin typeface="Segoe UI"/>
                <a:ea typeface="Segoe UI"/>
                <a:cs typeface="Segoe UI"/>
              </a:rPr>
              <a:t>03</a:t>
            </a:r>
            <a:endParaRPr sz="1300"/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73782F2C-C26A-4B00-961F-B712450A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989" y="1956816"/>
            <a:ext cx="457200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5B8DEF">
              <a:alpha val="16000"/>
            </a:srgbClr>
          </a:solidFill>
          <a:ln xmlns:a="http://schemas.openxmlformats.org/drawingml/2006/main"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7" name="Image 3">
            <a:extLst xmlns:a="http://schemas.openxmlformats.org/drawingml/2006/main">
              <a:ext uri="{FF2B5EF4-FFF2-40B4-BE49-F238E27FC236}">
                <a16:creationId xmlns:a16="http://schemas.microsoft.com/office/drawing/2014/main" id="{2F883858-30B8-452B-A56D-25B2D14291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5030c50e64d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9717" y="20665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50753D10-40C1-4686-A683-BDABB286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773" y="2523744"/>
            <a:ext cx="218541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Automated checks</a:t>
            </a:r>
            <a:endParaRPr sz="125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E1957B5C-0B45-4C9C-B6DE-51C6AACD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773" y="3035808"/>
            <a:ext cx="2185416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Fifteen tests cover calculations, routing, access, conversations, verification history and PDF validation.</a:t>
            </a:r>
            <a:endParaRPr sz="950"/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60060445-2A17-482E-8DD6-63057BC6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871" y="1810512"/>
            <a:ext cx="2587752" cy="2395728"/>
          </a:xfrm>
          <a:prstGeom xmlns:a="http://schemas.openxmlformats.org/drawingml/2006/main" prst="roundRect">
            <a:avLst>
              <a:gd name="adj" fmla="val 2672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5AAF0A8B-4C73-43B6-9654-F6D9CA33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039" y="197510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04</a:t>
            </a:r>
            <a:endParaRPr sz="1300"/>
          </a:p>
        </p:txBody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4B9CA752-6492-4E2C-BF10-A49E25B3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7255" y="1956816"/>
            <a:ext cx="457200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A26BFA">
              <a:alpha val="16000"/>
            </a:srgbClr>
          </a:solidFill>
          <a:ln xmlns:a="http://schemas.openxmlformats.org/drawingml/2006/main"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Image 4">
            <a:extLst xmlns:a="http://schemas.openxmlformats.org/drawingml/2006/main">
              <a:ext uri="{FF2B5EF4-FFF2-40B4-BE49-F238E27FC236}">
                <a16:creationId xmlns:a16="http://schemas.microsoft.com/office/drawing/2014/main" id="{DA97AFCB-4725-4B62-BE5C-3C5D70BB80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a91b9d53641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6983" y="20665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4B4EF28-7876-4DC2-98C6-1806DE01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039" y="2523744"/>
            <a:ext cx="218541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Human verification</a:t>
            </a:r>
            <a:endParaRPr sz="1250"/>
          </a:p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D53A2E25-BE2B-49B6-8566-805B5E89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039" y="3035808"/>
            <a:ext cx="2185416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A reviewer-scoped queue stores the answer snapshot and audit history before higher-stakes reuse.</a:t>
            </a:r>
            <a:endParaRPr sz="950"/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E87FF45-2E4C-40F1-A1DB-414A233A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407408"/>
            <a:ext cx="11039551" cy="1060704"/>
          </a:xfrm>
          <a:prstGeom xmlns:a="http://schemas.openxmlformats.org/drawingml/2006/main" prst="roundRect">
            <a:avLst>
              <a:gd name="adj" fmla="val 603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FB7185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55C51419-7D38-4A90-AAE5-B64045F3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535424"/>
            <a:ext cx="10490911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00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CURRENT PROTOTYPE BOUNDARY</a:t>
            </a:r>
            <a:endParaRPr sz="1000"/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666D5ACF-0F55-4461-A407-2981858F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791456"/>
            <a:ext cx="10490911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Copilot Studio may generate narrative. Local code controls metrics, retrieval, access checks and workflow. Prepared demo answers are labelled when the agent is unavailable.</a:t>
            </a:r>
            <a:endParaRPr sz="1100"/>
          </a:p>
        </p:txBody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24DFC1A0-523A-42C7-8955-B162666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742432"/>
            <a:ext cx="11039551" cy="475488"/>
          </a:xfrm>
          <a:prstGeom xmlns:a="http://schemas.openxmlformats.org/drawingml/2006/main" prst="roundRect">
            <a:avLst>
              <a:gd name="adj" fmla="val 13462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AA363B71-B226-409B-A5DB-42075987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824728"/>
            <a:ext cx="310896" cy="3108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1" name="Image 5">
            <a:extLst xmlns:a="http://schemas.openxmlformats.org/drawingml/2006/main">
              <a:ext uri="{FF2B5EF4-FFF2-40B4-BE49-F238E27FC236}">
                <a16:creationId xmlns:a16="http://schemas.microsoft.com/office/drawing/2014/main" id="{8EC5E5CF-0789-4F7E-AAA8-459F23FF07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9e14451114a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991" y="5899343"/>
            <a:ext cx="161666" cy="161666"/>
          </a:xfrm>
          <a:prstGeom xmlns:a="http://schemas.openxmlformats.org/drawingml/2006/main" prst="rect">
            <a:avLst/>
          </a:prstGeom>
        </p:spPr>
      </p:pic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C1089744-9016-44EF-9C7F-6C36BC7B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42432"/>
            <a:ext cx="103263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Control principle: Copilot Studio provides narrative. BursaIQ policy, evidence and deterministic calculations remain outside the agent.</a:t>
            </a:r>
            <a:endParaRPr sz="1150"/>
          </a:p>
        </p:txBody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B878A012-0227-4B2F-AF2D-557502E3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44" name="Text 36">
            <a:extLst xmlns:a="http://schemas.openxmlformats.org/drawingml/2006/main">
              <a:ext uri="{FF2B5EF4-FFF2-40B4-BE49-F238E27FC236}">
                <a16:creationId xmlns:a16="http://schemas.microsoft.com/office/drawing/2014/main" id="{EAB315E0-5884-43D0-B158-0DD83F62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11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6309567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160B51B5-C0AE-49D0-936E-9BF43BAA3D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3848a7eb149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2A4A7162-AD04-40FB-BF31-6C0ACB84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3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0F85FD5-F57E-43E6-ABD7-7368AE0C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61731A0-BB4F-4F65-A5F2-C163A39A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4392D4B-39BE-49AC-AEE3-EDA33D8F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0DCBAAA-9B85-4242-9F05-755A5A58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40971F4-F51F-4F74-AF34-83A5DA6B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D879E44-7F59-4EEA-A674-B11D97F1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09 · ACCESS WITH BOUNDARIES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8A0AD40-1393-40D2-BC1A-BE2D2D77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Role-aware access, with prototype boundaries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5EB029A-4D88-4FE9-8DEB-83DBE578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The Stage 02 demo enforces server-side workspace and reviewer policy before retrieval or agent access.</a:t>
            </a:r>
            <a:endParaRPr sz="11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695D6C5-A6EB-47BA-A249-7DA697B5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792224"/>
            <a:ext cx="2587752" cy="2194560"/>
          </a:xfrm>
          <a:prstGeom xmlns:a="http://schemas.openxmlformats.org/drawingml/2006/main" prst="roundRect">
            <a:avLst>
              <a:gd name="adj" fmla="val 2917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38D92A5-EE1C-4415-9D22-4CFE08EF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56816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01</a:t>
            </a:r>
            <a:endParaRPr sz="13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7A8D661-5C6C-405B-AC8C-7621B809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1938528"/>
            <a:ext cx="420624" cy="42062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" name="Image 1">
            <a:extLst xmlns:a="http://schemas.openxmlformats.org/drawingml/2006/main">
              <a:ext uri="{FF2B5EF4-FFF2-40B4-BE49-F238E27FC236}">
                <a16:creationId xmlns:a16="http://schemas.microsoft.com/office/drawing/2014/main" id="{AD6076D3-13B4-4AA1-84AE-85F9FC5E0E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44401adbf4c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2982" y="203947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ABD67CB-D45D-4F42-9429-22ACF16E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68880"/>
            <a:ext cx="218541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Select demo identity</a:t>
            </a:r>
            <a:endParaRPr sz="125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1926F8BF-D59C-45D7-9649-B6ED4580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80944"/>
            <a:ext cx="2185416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Nadia, Farah, Arif and Mei demonstrate different workspace and review permissions.</a:t>
            </a:r>
            <a:endParaRPr sz="9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DE4091B-713B-4804-BC3C-343108A2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338" y="1792224"/>
            <a:ext cx="2587752" cy="2194560"/>
          </a:xfrm>
          <a:prstGeom xmlns:a="http://schemas.openxmlformats.org/drawingml/2006/main" prst="roundRect">
            <a:avLst>
              <a:gd name="adj" fmla="val 2917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19E45B-D5AC-4AEE-B083-6F7EA612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506" y="1956816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02</a:t>
            </a:r>
            <a:endParaRPr sz="13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705C3EB0-E779-484A-A6D3-38018AD7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298" y="1938528"/>
            <a:ext cx="420624" cy="42062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Image 2">
            <a:extLst xmlns:a="http://schemas.openxmlformats.org/drawingml/2006/main">
              <a:ext uri="{FF2B5EF4-FFF2-40B4-BE49-F238E27FC236}">
                <a16:creationId xmlns:a16="http://schemas.microsoft.com/office/drawing/2014/main" id="{964292FD-9AD1-4A50-BA8A-0D72A3AC53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a897ccf0242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0248" y="203947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49156AE6-F59F-4074-BF88-0429B284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506" y="2468880"/>
            <a:ext cx="218541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Route before retrieval</a:t>
            </a:r>
            <a:endParaRPr sz="1250"/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E43B04C7-FA57-40B3-BFE5-CA7BA205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506" y="2980944"/>
            <a:ext cx="2185416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Flask routes market, learning or regulation questions and blocks people-data requests.</a:t>
            </a:r>
            <a:endParaRPr sz="950"/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0664A0CE-6072-41EC-8733-1ECB8D5E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605" y="1792224"/>
            <a:ext cx="2587752" cy="2194560"/>
          </a:xfrm>
          <a:prstGeom xmlns:a="http://schemas.openxmlformats.org/drawingml/2006/main" prst="roundRect">
            <a:avLst>
              <a:gd name="adj" fmla="val 2917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DF1D47DC-055D-4704-A8EF-49FF142C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773" y="1956816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03</a:t>
            </a:r>
            <a:endParaRPr sz="1300"/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BD04AD22-17AD-4254-8105-82BEF995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565" y="1938528"/>
            <a:ext cx="420624" cy="42062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7" name="Image 3">
            <a:extLst xmlns:a="http://schemas.openxmlformats.org/drawingml/2006/main">
              <a:ext uri="{FF2B5EF4-FFF2-40B4-BE49-F238E27FC236}">
                <a16:creationId xmlns:a16="http://schemas.microsoft.com/office/drawing/2014/main" id="{98643754-1862-4CDE-A343-B47DCFD35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1b42bbcfe48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7515" y="203947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D6E52CD3-CF85-4AC9-9E1A-E985D6AC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773" y="2468880"/>
            <a:ext cx="218541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Retrieve permitted sources</a:t>
            </a:r>
            <a:endParaRPr sz="125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9F774F68-B087-40F9-ADB5-4E4C1BA2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773" y="2980944"/>
            <a:ext cx="2185416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The server checks workspace access before search, metrics or source download.</a:t>
            </a:r>
            <a:endParaRPr sz="950"/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5C812C-4393-43E4-80E9-3625D2BA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871" y="1792224"/>
            <a:ext cx="2587752" cy="2194560"/>
          </a:xfrm>
          <a:prstGeom xmlns:a="http://schemas.openxmlformats.org/drawingml/2006/main" prst="roundRect">
            <a:avLst>
              <a:gd name="adj" fmla="val 2917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E11AA424-CA2F-4FE0-BC33-871E3E08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039" y="1956816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04</a:t>
            </a:r>
            <a:endParaRPr sz="1300"/>
          </a:p>
        </p:txBody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F9C4E6D0-0986-46DD-B3A8-1DBA1AF4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3831" y="1938528"/>
            <a:ext cx="420624" cy="42062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Image 4">
            <a:extLst xmlns:a="http://schemas.openxmlformats.org/drawingml/2006/main">
              <a:ext uri="{FF2B5EF4-FFF2-40B4-BE49-F238E27FC236}">
                <a16:creationId xmlns:a16="http://schemas.microsoft.com/office/drawing/2014/main" id="{926DEC45-A629-42AF-8F7D-1EA6E308C1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efd15bcda49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94781" y="203947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901F589C-47B8-4E6F-AE18-EAB6CB38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039" y="2468880"/>
            <a:ext cx="218541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Scope reviewer actions</a:t>
            </a:r>
            <a:endParaRPr sz="1250"/>
          </a:p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5C92CA83-2B20-43D3-9769-C7EF39F4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039" y="2980944"/>
            <a:ext cx="2185416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Only the assigned reviewer can view or update a verification case.</a:t>
            </a:r>
            <a:endParaRPr sz="950"/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E1BA70C2-B46A-400E-9483-8FBAD867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133088"/>
            <a:ext cx="11039551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WHAT THAT MEANS IN PRACTICE</a:t>
            </a:r>
            <a:endParaRPr sz="1000"/>
          </a:p>
        </p:txBody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2ABB2C36-6A85-473F-9CA4-F5C711B6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443984"/>
            <a:ext cx="3520440" cy="969264"/>
          </a:xfrm>
          <a:prstGeom xmlns:a="http://schemas.openxmlformats.org/drawingml/2006/main" prst="roundRect">
            <a:avLst>
              <a:gd name="adj" fmla="val 660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B775969D-E617-4C6D-9C2D-28257480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57200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A GCMC analyst asks about ADV</a:t>
            </a:r>
            <a:endParaRPr sz="1050"/>
          </a:p>
        </p:txBody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E958A51C-9DB5-469E-A29E-3F9B2813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956048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Market evidence returned</a:t>
            </a:r>
            <a:endParaRPr sz="1100"/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855EB7B1-C322-4D56-BFAB-9742F4C3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628" y="4443984"/>
            <a:ext cx="3520440" cy="969264"/>
          </a:xfrm>
          <a:prstGeom xmlns:a="http://schemas.openxmlformats.org/drawingml/2006/main" prst="roundRect">
            <a:avLst>
              <a:gd name="adj" fmla="val 660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361DCB96-CD6B-46F1-AD75-CBDE54E3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084" y="457200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Any role asks about payroll</a:t>
            </a:r>
            <a:endParaRPr sz="1050"/>
          </a:p>
        </p:txBody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1B3B67C8-F6FF-4B85-A1DC-782983C9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084" y="4956048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Blocked before Copilot call</a:t>
            </a:r>
            <a:endParaRPr sz="1100"/>
          </a:p>
        </p:txBody>
      </p:sp>
      <p:sp>
        <p:nvSpPr>
          <p:cNvPr id="43" name="Shape 36">
            <a:extLst xmlns:a="http://schemas.openxmlformats.org/drawingml/2006/main">
              <a:ext uri="{FF2B5EF4-FFF2-40B4-BE49-F238E27FC236}">
                <a16:creationId xmlns:a16="http://schemas.microsoft.com/office/drawing/2014/main" id="{AF10F836-3445-458A-AC13-9A98AD01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183" y="4443984"/>
            <a:ext cx="3520440" cy="969264"/>
          </a:xfrm>
          <a:prstGeom xmlns:a="http://schemas.openxmlformats.org/drawingml/2006/main" prst="roundRect">
            <a:avLst>
              <a:gd name="adj" fmla="val 660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1B6CFB46-6D27-428E-9DD2-51E6D9AE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639" y="457200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A reviewer opens Verification Centre</a:t>
            </a:r>
            <a:endParaRPr sz="1050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7F612B8E-0E65-414A-88E2-4EF76405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639" y="4956048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Only the assigned queue is shown</a:t>
            </a:r>
            <a:endParaRPr sz="1100"/>
          </a:p>
        </p:txBody>
      </p:sp>
      <p:sp>
        <p:nvSpPr>
          <p:cNvPr id="46" name="Shape 39">
            <a:extLst xmlns:a="http://schemas.openxmlformats.org/drawingml/2006/main">
              <a:ext uri="{FF2B5EF4-FFF2-40B4-BE49-F238E27FC236}">
                <a16:creationId xmlns:a16="http://schemas.microsoft.com/office/drawing/2014/main" id="{D24725D0-AB0E-4210-8E63-46AD5DC1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742432"/>
            <a:ext cx="11039551" cy="475488"/>
          </a:xfrm>
          <a:prstGeom xmlns:a="http://schemas.openxmlformats.org/drawingml/2006/main" prst="roundRect">
            <a:avLst>
              <a:gd name="adj" fmla="val 13462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Shape 40">
            <a:extLst xmlns:a="http://schemas.openxmlformats.org/drawingml/2006/main">
              <a:ext uri="{FF2B5EF4-FFF2-40B4-BE49-F238E27FC236}">
                <a16:creationId xmlns:a16="http://schemas.microsoft.com/office/drawing/2014/main" id="{1F4ADE91-A10D-46B5-89B1-BB3B098F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824728"/>
            <a:ext cx="310896" cy="3108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8" name="Image 5">
            <a:extLst xmlns:a="http://schemas.openxmlformats.org/drawingml/2006/main">
              <a:ext uri="{FF2B5EF4-FFF2-40B4-BE49-F238E27FC236}">
                <a16:creationId xmlns:a16="http://schemas.microsoft.com/office/drawing/2014/main" id="{AC7D255B-CCDE-4E33-B5CE-080C923774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a897ccf0242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991" y="5899343"/>
            <a:ext cx="161666" cy="161666"/>
          </a:xfrm>
          <a:prstGeom xmlns:a="http://schemas.openxmlformats.org/drawingml/2006/main" prst="rect">
            <a:avLst/>
          </a:prstGeom>
        </p:spPr>
      </p:pic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3B99536A-BB00-4263-9D61-68AD9851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42432"/>
            <a:ext cx="103263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Today: simulated identities and local policy. Pilot target: Microsoft Entra ID and group claims mapped to the same server-side checks.</a:t>
            </a:r>
            <a:endParaRPr sz="1100"/>
          </a:p>
        </p:txBody>
      </p:sp>
      <p:sp>
        <p:nvSpPr>
          <p:cNvPr id="50" name="Text 42">
            <a:extLst xmlns:a="http://schemas.openxmlformats.org/drawingml/2006/main">
              <a:ext uri="{FF2B5EF4-FFF2-40B4-BE49-F238E27FC236}">
                <a16:creationId xmlns:a16="http://schemas.microsoft.com/office/drawing/2014/main" id="{8E26A480-36EF-4867-9C9F-C15F22D1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51" name="Text 43">
            <a:extLst xmlns:a="http://schemas.openxmlformats.org/drawingml/2006/main">
              <a:ext uri="{FF2B5EF4-FFF2-40B4-BE49-F238E27FC236}">
                <a16:creationId xmlns:a16="http://schemas.microsoft.com/office/drawing/2014/main" id="{54D638CB-93E2-4507-8380-9AFBE4B4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12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20593397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5FC1CC86-2C12-4482-B88E-99385662DB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b5d5f981147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18ACD8C8-AE51-42A2-A5E3-3ED2DB75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2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C7169514-A562-4D2C-A33D-BC379703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A18DD67-2522-46A2-872E-BAEA62DE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0F0580B-8550-4B99-8486-10D920E1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4AF3191-E1AD-49B8-90F7-21361FAB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7E5D099-4CAC-4739-961F-340C671A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A40C07D-C8DF-477D-BF00-92119CD3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10 · THE PRODUCT EXPERIENCE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BF30E4E-7FE9-4037-AE7B-65D525CD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One product journey from question to accountable action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ADE8F95-7005-47EE-BBE5-F007A901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Workspace, Intelligence and Workflow organize the current BursaIQ experience.</a:t>
            </a:r>
            <a:endParaRPr sz="11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546A9F9-62CA-4BFD-A27B-5672108A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847088"/>
            <a:ext cx="3520440" cy="1755648"/>
          </a:xfrm>
          <a:prstGeom xmlns:a="http://schemas.openxmlformats.org/drawingml/2006/main" prst="roundRect">
            <a:avLst>
              <a:gd name="adj" fmla="val 3646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548B03F-1A38-4ECD-A1FA-70889511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48256"/>
            <a:ext cx="457200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4" name="Image 1">
            <a:extLst xmlns:a="http://schemas.openxmlformats.org/drawingml/2006/main">
              <a:ext uri="{FF2B5EF4-FFF2-40B4-BE49-F238E27FC236}">
                <a16:creationId xmlns:a16="http://schemas.microsoft.com/office/drawing/2014/main" id="{2BD03CA6-4DA7-4D0F-A1AA-47FF36A687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2166725814a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968" y="21579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CCD4185-C774-45FC-A13B-8793F804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29968"/>
            <a:ext cx="25511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6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WORKSPACE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9DE451A-D2EB-4B8C-9C49-652DE5ED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267712"/>
            <a:ext cx="25511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BursaIQ Assistant</a:t>
            </a:r>
            <a:endParaRPr sz="125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E81B2648-A4E4-4E25-858C-A1FBB986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670048"/>
            <a:ext cx="3081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Default entry point for questions across permitted market and learning sources</a:t>
            </a:r>
            <a:endParaRPr sz="9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2EA016C-70A3-40E9-8AA6-390F5FD9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029968"/>
            <a:ext cx="768096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DE80">
              <a:alpha val="16000"/>
            </a:srgbClr>
          </a:solidFill>
          <a:ln xmlns:a="http://schemas.openxmlformats.org/drawingml/2006/main" w="9525">
            <a:solidFill>
              <a:srgbClr val="4ADE80">
                <a:alpha val="5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F185C513-94B7-4F9A-A780-C8A4E17F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029968"/>
            <a:ext cx="7680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 spc="100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DEFAULT</a:t>
            </a:r>
            <a:endParaRPr sz="7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EF650489-E362-4783-BB91-E4313AC0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628" y="1847088"/>
            <a:ext cx="3520440" cy="1755648"/>
          </a:xfrm>
          <a:prstGeom xmlns:a="http://schemas.openxmlformats.org/drawingml/2006/main" prst="roundRect">
            <a:avLst>
              <a:gd name="adj" fmla="val 3646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1D2DAFB-1869-45FD-B4C0-BCCEA6B2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96" y="2048256"/>
            <a:ext cx="457200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Image 2">
            <a:extLst xmlns:a="http://schemas.openxmlformats.org/drawingml/2006/main">
              <a:ext uri="{FF2B5EF4-FFF2-40B4-BE49-F238E27FC236}">
                <a16:creationId xmlns:a16="http://schemas.microsoft.com/office/drawing/2014/main" id="{C823DFFB-FF7B-47C2-9092-CC04D7734F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99f7911f644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524" y="21579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BD115526-877E-42EC-B4EF-48FFFFFB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012" y="2029968"/>
            <a:ext cx="25511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60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INTELLIGENCE</a:t>
            </a:r>
            <a:endParaRPr sz="900"/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87203FDB-1198-43AE-8541-934D343A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012" y="2267712"/>
            <a:ext cx="25511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Today’s Brief</a:t>
            </a:r>
            <a:endParaRPr sz="1250"/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3254F2CA-2760-4C9A-83D9-004D1EE7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084" y="2670048"/>
            <a:ext cx="3081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Signals that changed, attention counts and recommended next steps</a:t>
            </a:r>
            <a:endParaRPr sz="950"/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AC5E2DF1-22EA-4C79-9CCE-A17D35CF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804" y="2029968"/>
            <a:ext cx="768096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DE80">
              <a:alpha val="16000"/>
            </a:srgbClr>
          </a:solidFill>
          <a:ln xmlns:a="http://schemas.openxmlformats.org/drawingml/2006/main" w="9525">
            <a:solidFill>
              <a:srgbClr val="4ADE80">
                <a:alpha val="5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AF0647C-2BDB-47E6-BB5E-ED8A6E8F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804" y="2029968"/>
            <a:ext cx="76809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 spc="100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LIVE</a:t>
            </a:r>
            <a:endParaRPr sz="750"/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E685C408-69B0-4497-8366-BABBA986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183" y="1847088"/>
            <a:ext cx="3520440" cy="1755648"/>
          </a:xfrm>
          <a:prstGeom xmlns:a="http://schemas.openxmlformats.org/drawingml/2006/main" prst="roundRect">
            <a:avLst>
              <a:gd name="adj" fmla="val 3646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A0BDECBC-D6F1-4F58-B1B0-C4F110E7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351" y="2048256"/>
            <a:ext cx="457200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" name="Image 3">
            <a:extLst xmlns:a="http://schemas.openxmlformats.org/drawingml/2006/main">
              <a:ext uri="{FF2B5EF4-FFF2-40B4-BE49-F238E27FC236}">
                <a16:creationId xmlns:a16="http://schemas.microsoft.com/office/drawing/2014/main" id="{A9694DAB-FC54-40F1-95C9-C9DA554320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dad19688949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6079" y="21579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D3AFC99A-C717-4CD2-A067-AC58DC76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567" y="2029968"/>
            <a:ext cx="25511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6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INTELLIGENCE</a:t>
            </a:r>
            <a:endParaRPr sz="900"/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06C23753-3868-4AAB-AA5F-ABD9BC82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567" y="2267712"/>
            <a:ext cx="25511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Watchlist &amp; Alerts</a:t>
            </a:r>
            <a:endParaRPr sz="1250"/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DD5C81B2-1A21-46A4-B66F-D76CC0E1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639" y="2670048"/>
            <a:ext cx="3081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Role-scoped monitoring with transparent rules and evidence re-entry</a:t>
            </a:r>
            <a:endParaRPr sz="950"/>
          </a:p>
        </p:txBody>
      </p:sp>
      <p:sp>
        <p:nvSpPr>
          <p:cNvPr id="34" name="Shape 28">
            <a:extLst xmlns:a="http://schemas.openxmlformats.org/drawingml/2006/main">
              <a:ext uri="{FF2B5EF4-FFF2-40B4-BE49-F238E27FC236}">
                <a16:creationId xmlns:a16="http://schemas.microsoft.com/office/drawing/2014/main" id="{83B697E6-49F7-456A-9A4C-B39AFCED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803904"/>
            <a:ext cx="3520440" cy="1755648"/>
          </a:xfrm>
          <a:prstGeom xmlns:a="http://schemas.openxmlformats.org/drawingml/2006/main" prst="roundRect">
            <a:avLst>
              <a:gd name="adj" fmla="val 3646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C1D0E646-E8CB-44A1-8556-51BAE21A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05072"/>
            <a:ext cx="457200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6" name="Image 4">
            <a:extLst xmlns:a="http://schemas.openxmlformats.org/drawingml/2006/main">
              <a:ext uri="{FF2B5EF4-FFF2-40B4-BE49-F238E27FC236}">
                <a16:creationId xmlns:a16="http://schemas.microsoft.com/office/drawing/2014/main" id="{5F303E03-A4BE-4E97-84FA-B78864BD8B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05b6e5ee34d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968" y="411480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41E4EE92-1DB8-40F8-A820-FF3884B5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986784"/>
            <a:ext cx="25511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60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DECISION SUPPORT</a:t>
            </a:r>
            <a:endParaRPr sz="900"/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38AE3D55-5DDF-4624-93A5-417FB7D3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224528"/>
            <a:ext cx="25511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Decision Canvas</a:t>
            </a:r>
            <a:endParaRPr sz="1250"/>
          </a:p>
        </p:txBody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74DBC824-D285-4906-B512-1FD0C21A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626864"/>
            <a:ext cx="3081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Plot, analysis, sources and actions stay beside every answer</a:t>
            </a:r>
            <a:endParaRPr sz="950"/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0B28D97C-9C1B-4DE5-BDBB-6EBCD2C3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628" y="3803904"/>
            <a:ext cx="3520440" cy="1755648"/>
          </a:xfrm>
          <a:prstGeom xmlns:a="http://schemas.openxmlformats.org/drawingml/2006/main" prst="roundRect">
            <a:avLst>
              <a:gd name="adj" fmla="val 3646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Shape 34">
            <a:extLst xmlns:a="http://schemas.openxmlformats.org/drawingml/2006/main">
              <a:ext uri="{FF2B5EF4-FFF2-40B4-BE49-F238E27FC236}">
                <a16:creationId xmlns:a16="http://schemas.microsoft.com/office/drawing/2014/main" id="{54040DCE-0D0D-411F-BF5B-F551FBB1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796" y="4005072"/>
            <a:ext cx="457200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Image 5">
            <a:extLst xmlns:a="http://schemas.openxmlformats.org/drawingml/2006/main">
              <a:ext uri="{FF2B5EF4-FFF2-40B4-BE49-F238E27FC236}">
                <a16:creationId xmlns:a16="http://schemas.microsoft.com/office/drawing/2014/main" id="{D9B5F140-BAEB-4E3C-8AD0-429A6FAB1E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fd343de8d46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524" y="411480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01E87788-7367-4CB0-9687-70CC628C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012" y="3986784"/>
            <a:ext cx="25511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60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WORKFLOW</a:t>
            </a:r>
            <a:endParaRPr sz="900"/>
          </a:p>
        </p:txBody>
      </p:sp>
      <p:sp>
        <p:nvSpPr>
          <p:cNvPr id="44" name="Text 36">
            <a:extLst xmlns:a="http://schemas.openxmlformats.org/drawingml/2006/main">
              <a:ext uri="{FF2B5EF4-FFF2-40B4-BE49-F238E27FC236}">
                <a16:creationId xmlns:a16="http://schemas.microsoft.com/office/drawing/2014/main" id="{97C50982-1AAF-4033-8D42-8AE28549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012" y="4224528"/>
            <a:ext cx="25511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Decision Memory</a:t>
            </a:r>
            <a:endParaRPr sz="1250"/>
          </a:p>
        </p:txBody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C39C62F2-0507-4F7B-998C-564322DC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084" y="4626864"/>
            <a:ext cx="3081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Question, rationale, owner, status and evidence trail, stored locally by role</a:t>
            </a:r>
            <a:endParaRPr sz="950"/>
          </a:p>
        </p:txBody>
      </p:sp>
      <p:sp>
        <p:nvSpPr>
          <p:cNvPr id="46" name="Shape 38">
            <a:extLst xmlns:a="http://schemas.openxmlformats.org/drawingml/2006/main">
              <a:ext uri="{FF2B5EF4-FFF2-40B4-BE49-F238E27FC236}">
                <a16:creationId xmlns:a16="http://schemas.microsoft.com/office/drawing/2014/main" id="{A5F31B5F-55EA-480A-AFDD-C64E1AEF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183" y="3803904"/>
            <a:ext cx="3520440" cy="1755648"/>
          </a:xfrm>
          <a:prstGeom xmlns:a="http://schemas.openxmlformats.org/drawingml/2006/main" prst="roundRect">
            <a:avLst>
              <a:gd name="adj" fmla="val 3646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Shape 39">
            <a:extLst xmlns:a="http://schemas.openxmlformats.org/drawingml/2006/main">
              <a:ext uri="{FF2B5EF4-FFF2-40B4-BE49-F238E27FC236}">
                <a16:creationId xmlns:a16="http://schemas.microsoft.com/office/drawing/2014/main" id="{BE1F45F6-DA33-4C14-A185-A30EFB05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351" y="4005072"/>
            <a:ext cx="457200" cy="4572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8" name="Image 6">
            <a:extLst xmlns:a="http://schemas.openxmlformats.org/drawingml/2006/main">
              <a:ext uri="{FF2B5EF4-FFF2-40B4-BE49-F238E27FC236}">
                <a16:creationId xmlns:a16="http://schemas.microsoft.com/office/drawing/2014/main" id="{B44DAAE5-3815-4301-96B9-FD66E0CB53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f5c444aa149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6079" y="411480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49" name="Text 40">
            <a:extLst xmlns:a="http://schemas.openxmlformats.org/drawingml/2006/main">
              <a:ext uri="{FF2B5EF4-FFF2-40B4-BE49-F238E27FC236}">
                <a16:creationId xmlns:a16="http://schemas.microsoft.com/office/drawing/2014/main" id="{72AEDEA6-4E9A-494C-B667-558F5F03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567" y="3986784"/>
            <a:ext cx="255117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60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WORKFLOW</a:t>
            </a:r>
            <a:endParaRPr sz="900"/>
          </a:p>
        </p:txBody>
      </p:sp>
      <p:sp>
        <p:nvSpPr>
          <p:cNvPr id="50" name="Text 41">
            <a:extLst xmlns:a="http://schemas.openxmlformats.org/drawingml/2006/main">
              <a:ext uri="{FF2B5EF4-FFF2-40B4-BE49-F238E27FC236}">
                <a16:creationId xmlns:a16="http://schemas.microsoft.com/office/drawing/2014/main" id="{0446BE41-CA6F-4977-A5BA-7623A4CB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567" y="4224528"/>
            <a:ext cx="25511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Verification &amp; Health</a:t>
            </a:r>
            <a:endParaRPr sz="1250"/>
          </a:p>
        </p:txBody>
      </p:sp>
      <p:sp>
        <p:nvSpPr>
          <p:cNvPr id="51" name="Text 42">
            <a:extLst xmlns:a="http://schemas.openxmlformats.org/drawingml/2006/main">
              <a:ext uri="{FF2B5EF4-FFF2-40B4-BE49-F238E27FC236}">
                <a16:creationId xmlns:a16="http://schemas.microsoft.com/office/drawing/2014/main" id="{58330997-88E0-4367-87DE-26178473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639" y="4626864"/>
            <a:ext cx="30815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Reviewer queue plus freshness, quality, usage, updater and next review</a:t>
            </a:r>
            <a:endParaRPr sz="950"/>
          </a:p>
        </p:txBody>
      </p:sp>
      <p:sp>
        <p:nvSpPr>
          <p:cNvPr id="52" name="Shape 43">
            <a:extLst xmlns:a="http://schemas.openxmlformats.org/drawingml/2006/main">
              <a:ext uri="{FF2B5EF4-FFF2-40B4-BE49-F238E27FC236}">
                <a16:creationId xmlns:a16="http://schemas.microsoft.com/office/drawing/2014/main" id="{B74585C6-FA20-4F22-AC16-DCB5349C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760720"/>
            <a:ext cx="11039551" cy="512064"/>
          </a:xfrm>
          <a:prstGeom xmlns:a="http://schemas.openxmlformats.org/drawingml/2006/main" prst="roundRect">
            <a:avLst>
              <a:gd name="adj" fmla="val 1250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hape 44">
            <a:extLst xmlns:a="http://schemas.openxmlformats.org/drawingml/2006/main">
              <a:ext uri="{FF2B5EF4-FFF2-40B4-BE49-F238E27FC236}">
                <a16:creationId xmlns:a16="http://schemas.microsoft.com/office/drawing/2014/main" id="{F2D860DD-8BFF-469F-92D7-36AB13FE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861304"/>
            <a:ext cx="310896" cy="3108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4" name="Image 7">
            <a:extLst xmlns:a="http://schemas.openxmlformats.org/drawingml/2006/main">
              <a:ext uri="{FF2B5EF4-FFF2-40B4-BE49-F238E27FC236}">
                <a16:creationId xmlns:a16="http://schemas.microsoft.com/office/drawing/2014/main" id="{36C6ECB7-C052-411B-B648-7A40180D2E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728245b7d41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991" y="5935919"/>
            <a:ext cx="161666" cy="161666"/>
          </a:xfrm>
          <a:prstGeom xmlns:a="http://schemas.openxmlformats.org/drawingml/2006/main" prst="rect">
            <a:avLst/>
          </a:prstGeom>
        </p:spPr>
      </p:pic>
      <p:sp>
        <p:nvSpPr>
          <p:cNvPr id="55" name="Text 45">
            <a:extLst xmlns:a="http://schemas.openxmlformats.org/drawingml/2006/main">
              <a:ext uri="{FF2B5EF4-FFF2-40B4-BE49-F238E27FC236}">
                <a16:creationId xmlns:a16="http://schemas.microsoft.com/office/drawing/2014/main" id="{B644A80D-8353-4130-A491-4423FE87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0720"/>
            <a:ext cx="10326319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Also included: refreshable Management Briefing, guided Learn Bursa, permissioned Ask Reg and verified PDF export.</a:t>
            </a:r>
            <a:endParaRPr sz="1150"/>
          </a:p>
        </p:txBody>
      </p:sp>
      <p:sp>
        <p:nvSpPr>
          <p:cNvPr id="56" name="Text 46">
            <a:extLst xmlns:a="http://schemas.openxmlformats.org/drawingml/2006/main">
              <a:ext uri="{FF2B5EF4-FFF2-40B4-BE49-F238E27FC236}">
                <a16:creationId xmlns:a16="http://schemas.microsoft.com/office/drawing/2014/main" id="{781A016C-C60A-4C12-A4E5-2B2EB687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57" name="Text 47">
            <a:extLst xmlns:a="http://schemas.openxmlformats.org/drawingml/2006/main">
              <a:ext uri="{FF2B5EF4-FFF2-40B4-BE49-F238E27FC236}">
                <a16:creationId xmlns:a16="http://schemas.microsoft.com/office/drawing/2014/main" id="{31AE4EEF-4A7E-456D-80C6-705AB61F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13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20084995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0C701E75-1E19-428A-B2A6-37F76FD3FD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f697af31047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CB17D7DB-862C-4655-A924-37BC5A88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28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D69A37B1-D151-4CD0-8717-36989CDC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C1A7E68-056C-4B08-8EB2-D20319B3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49A3042-5F5B-4968-8E59-8C06E993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D143754-AB6F-4994-B715-00E86424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C1C6766-6F78-4605-BD8C-0A08EF3C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987234-38B4-47FA-866B-C1C28882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11 · THE COLLABORATORS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1EF0F1B-7DDC-40A5-8E9D-885C7182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Works if only the data owners are in the room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A16D2C3-5361-4779-81B2-0A22F3CD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BursaIQ is not one team’s project. Every governed domain has an owner, and each of them makes the layer possible.</a:t>
            </a:r>
            <a:endParaRPr sz="11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2044F68-96F4-4702-BA82-A67F64A0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810512"/>
            <a:ext cx="3383280" cy="3712464"/>
          </a:xfrm>
          <a:prstGeom xmlns:a="http://schemas.openxmlformats.org/drawingml/2006/main" prst="roundRect">
            <a:avLst>
              <a:gd name="adj" fmla="val 1892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F59E0B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526938E-F921-4277-A6E3-A2E65BCC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011680"/>
            <a:ext cx="287121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50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THE CORE</a:t>
            </a:r>
            <a:endParaRPr sz="10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11811793-A397-4036-93BD-79EE9C21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359152"/>
            <a:ext cx="658368" cy="658368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" name="Image 1">
            <a:extLst xmlns:a="http://schemas.openxmlformats.org/drawingml/2006/main">
              <a:ext uri="{FF2B5EF4-FFF2-40B4-BE49-F238E27FC236}">
                <a16:creationId xmlns:a16="http://schemas.microsoft.com/office/drawing/2014/main" id="{D8297421-F40B-4EE6-A2BC-3454FEBBDC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1fa345dd148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112" y="2517160"/>
            <a:ext cx="342351" cy="342351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F5620C-EE87-4760-A326-B983B1F7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182112"/>
            <a:ext cx="2871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Group Technology &amp;</a:t>
            </a:r>
            <a:endParaRPr sz="145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 and Digital Services</a:t>
            </a:r>
            <a:endParaRPr sz="145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22837F2-C2B6-4B42-ACA4-8E28C033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950208"/>
            <a:ext cx="2871216" cy="1426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Owns the databases, the pipelines and the platform every answer depends on. Without their data marts and access model there is no governed layer to ask questions of.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BE459E1-59AD-4C53-A255-650F33B4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810512"/>
            <a:ext cx="3508096" cy="1115568"/>
          </a:xfrm>
          <a:prstGeom xmlns:a="http://schemas.openxmlformats.org/drawingml/2006/main" prst="roundRect">
            <a:avLst>
              <a:gd name="adj" fmla="val 573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E7D7E0-F6D5-4F0A-B18A-34C37A86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993392"/>
            <a:ext cx="402336" cy="40233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" name="Image 2">
            <a:extLst xmlns:a="http://schemas.openxmlformats.org/drawingml/2006/main">
              <a:ext uri="{FF2B5EF4-FFF2-40B4-BE49-F238E27FC236}">
                <a16:creationId xmlns:a16="http://schemas.microsoft.com/office/drawing/2014/main" id="{F7C9351C-6B2A-4BC7-8EAA-6B81876BBD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c90952de24b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4553" y="2089953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205700F3-E269-4952-A6AF-3C18F1E9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056" y="1975104"/>
            <a:ext cx="2648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Market Operations</a:t>
            </a:r>
            <a:endParaRPr sz="1200"/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7B479F4E-14B7-4576-A226-4F145F3A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056" y="2267712"/>
            <a:ext cx="2648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Defines and validates the market metrics</a:t>
            </a:r>
            <a:endParaRPr sz="950"/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EADECB9E-0DDD-4D40-B8B9-72B67AFF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528" y="1810512"/>
            <a:ext cx="3508096" cy="1115568"/>
          </a:xfrm>
          <a:prstGeom xmlns:a="http://schemas.openxmlformats.org/drawingml/2006/main" prst="roundRect">
            <a:avLst>
              <a:gd name="adj" fmla="val 573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19DA1368-29E1-424C-98C8-8A77423E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408" y="1993392"/>
            <a:ext cx="402336" cy="40233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A26BFA">
              <a:alpha val="16000"/>
            </a:srgbClr>
          </a:solidFill>
          <a:ln xmlns:a="http://schemas.openxmlformats.org/drawingml/2006/main"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Image 3">
            <a:extLst xmlns:a="http://schemas.openxmlformats.org/drawingml/2006/main">
              <a:ext uri="{FF2B5EF4-FFF2-40B4-BE49-F238E27FC236}">
                <a16:creationId xmlns:a16="http://schemas.microsoft.com/office/drawing/2014/main" id="{8280D176-A42D-4BC1-8A1A-CBDB3F8BC9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455e7e00148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6968" y="2089953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0FE9B4E2-635B-4394-8143-475A5958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472" y="1975104"/>
            <a:ext cx="2648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Human Resources</a:t>
            </a:r>
            <a:endParaRPr sz="12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827E1C4A-4A34-4F52-BF2B-65CE9759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472" y="2267712"/>
            <a:ext cx="2648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Sets the scope and entitlements for people data</a:t>
            </a:r>
            <a:endParaRPr sz="95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FAD63E56-EBD9-447D-9D0E-5D04AC29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3108960"/>
            <a:ext cx="3508096" cy="1115568"/>
          </a:xfrm>
          <a:prstGeom xmlns:a="http://schemas.openxmlformats.org/drawingml/2006/main" prst="roundRect">
            <a:avLst>
              <a:gd name="adj" fmla="val 573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BF974957-6ACF-45AB-891A-27925385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291840"/>
            <a:ext cx="402336" cy="40233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5B8DEF">
              <a:alpha val="16000"/>
            </a:srgbClr>
          </a:solidFill>
          <a:ln xmlns:a="http://schemas.openxmlformats.org/drawingml/2006/main"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" name="Image 4">
            <a:extLst xmlns:a="http://schemas.openxmlformats.org/drawingml/2006/main">
              <a:ext uri="{FF2B5EF4-FFF2-40B4-BE49-F238E27FC236}">
                <a16:creationId xmlns:a16="http://schemas.microsoft.com/office/drawing/2014/main" id="{C7AFCB60-4EEE-497B-87E1-2737533913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9d7603b7841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4553" y="3388401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633F1312-019D-40B9-B28B-3A4E4D98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056" y="3273552"/>
            <a:ext cx="2648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Finance</a:t>
            </a:r>
            <a:endParaRPr sz="1200"/>
          </a:p>
        </p:txBody>
      </p:sp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6C869356-35B7-43D6-AB6A-52CEB6AA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056" y="3566160"/>
            <a:ext cx="2648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Confirms figures and definitions carry across reporting</a:t>
            </a:r>
            <a:endParaRPr sz="950"/>
          </a:p>
        </p:txBody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D19CB218-1190-4226-A596-CBACF101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528" y="3108960"/>
            <a:ext cx="3508096" cy="1115568"/>
          </a:xfrm>
          <a:prstGeom xmlns:a="http://schemas.openxmlformats.org/drawingml/2006/main" prst="roundRect">
            <a:avLst>
              <a:gd name="adj" fmla="val 573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9F7554CD-54CD-482A-B4C6-3C3B38DB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408" y="3291840"/>
            <a:ext cx="402336" cy="40233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B7185">
              <a:alpha val="16000"/>
            </a:srgbClr>
          </a:solidFill>
          <a:ln xmlns:a="http://schemas.openxmlformats.org/drawingml/2006/main" w="9525">
            <a:solidFill>
              <a:srgbClr val="FB7185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5" name="Image 5">
            <a:extLst xmlns:a="http://schemas.openxmlformats.org/drawingml/2006/main">
              <a:ext uri="{FF2B5EF4-FFF2-40B4-BE49-F238E27FC236}">
                <a16:creationId xmlns:a16="http://schemas.microsoft.com/office/drawing/2014/main" id="{EBD5D6FC-7BB0-44C4-856F-DB17C5A1E0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ffc24ba1a4b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6968" y="3388401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BD81ACC0-F9F3-4681-AFC5-8621DC1C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472" y="3273552"/>
            <a:ext cx="2648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Risk &amp; Compliance</a:t>
            </a:r>
            <a:endParaRPr sz="12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ED880A50-5771-43D6-9419-CF349298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472" y="3566160"/>
            <a:ext cx="2648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Sets the guardrails and reviews what may be asked</a:t>
            </a:r>
            <a:endParaRPr sz="950"/>
          </a:p>
        </p:txBody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95B59DCD-9CE3-45B8-8726-73E945E3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4407408"/>
            <a:ext cx="3508096" cy="1115568"/>
          </a:xfrm>
          <a:prstGeom xmlns:a="http://schemas.openxmlformats.org/drawingml/2006/main" prst="roundRect">
            <a:avLst>
              <a:gd name="adj" fmla="val 573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AE6D9ED1-2705-429A-9BF1-6363E912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590288"/>
            <a:ext cx="402336" cy="40233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4ADE80">
              <a:alpha val="16000"/>
            </a:srgbClr>
          </a:solidFill>
          <a:ln xmlns:a="http://schemas.openxmlformats.org/drawingml/2006/main" w="9525">
            <a:solidFill>
              <a:srgbClr val="4ADE80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0" name="Image 6">
            <a:extLst xmlns:a="http://schemas.openxmlformats.org/drawingml/2006/main">
              <a:ext uri="{FF2B5EF4-FFF2-40B4-BE49-F238E27FC236}">
                <a16:creationId xmlns:a16="http://schemas.microsoft.com/office/drawing/2014/main" id="{D4662B55-83AD-4CE1-B53E-E572442655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ad994aef243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4553" y="4686849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0FDA59AF-E3A6-4FD6-A371-ADC94D73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056" y="4572000"/>
            <a:ext cx="2648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Security &amp; Identity</a:t>
            </a:r>
            <a:endParaRPr sz="1200"/>
          </a:p>
        </p:txBody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4D45B5F2-5ACE-4B5E-A37F-36300528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056" y="4864608"/>
            <a:ext cx="2648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Owns the Entra ID roles the access model runs on</a:t>
            </a:r>
            <a:endParaRPr sz="950"/>
          </a:p>
        </p:txBody>
      </p:sp>
      <p:sp>
        <p:nvSpPr>
          <p:cNvPr id="43" name="Shape 34">
            <a:extLst xmlns:a="http://schemas.openxmlformats.org/drawingml/2006/main">
              <a:ext uri="{FF2B5EF4-FFF2-40B4-BE49-F238E27FC236}">
                <a16:creationId xmlns:a16="http://schemas.microsoft.com/office/drawing/2014/main" id="{6D16F350-1E9D-4FA8-B55F-CE895AD7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528" y="4407408"/>
            <a:ext cx="3508096" cy="1115568"/>
          </a:xfrm>
          <a:prstGeom xmlns:a="http://schemas.openxmlformats.org/drawingml/2006/main" prst="roundRect">
            <a:avLst>
              <a:gd name="adj" fmla="val 573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Shape 35">
            <a:extLst xmlns:a="http://schemas.openxmlformats.org/drawingml/2006/main">
              <a:ext uri="{FF2B5EF4-FFF2-40B4-BE49-F238E27FC236}">
                <a16:creationId xmlns:a16="http://schemas.microsoft.com/office/drawing/2014/main" id="{AE9D2221-B019-4F47-9C18-58B750F4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408" y="4590288"/>
            <a:ext cx="402336" cy="40233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Image 7">
            <a:extLst xmlns:a="http://schemas.openxmlformats.org/drawingml/2006/main">
              <a:ext uri="{FF2B5EF4-FFF2-40B4-BE49-F238E27FC236}">
                <a16:creationId xmlns:a16="http://schemas.microsoft.com/office/drawing/2014/main" id="{E206A670-5D41-475A-A039-30AB410E8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254dd86bf49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6968" y="4686849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46" name="Text 36">
            <a:extLst xmlns:a="http://schemas.openxmlformats.org/drawingml/2006/main">
              <a:ext uri="{FF2B5EF4-FFF2-40B4-BE49-F238E27FC236}">
                <a16:creationId xmlns:a16="http://schemas.microsoft.com/office/drawing/2014/main" id="{B2E5F60A-0DFA-42FF-B765-DDFC6BED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472" y="4572000"/>
            <a:ext cx="2648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 Governance</a:t>
            </a:r>
            <a:endParaRPr sz="1200"/>
          </a:p>
        </p:txBody>
      </p:sp>
      <p:sp>
        <p:nvSpPr>
          <p:cNvPr id="47" name="Text 37">
            <a:extLst xmlns:a="http://schemas.openxmlformats.org/drawingml/2006/main">
              <a:ext uri="{FF2B5EF4-FFF2-40B4-BE49-F238E27FC236}">
                <a16:creationId xmlns:a16="http://schemas.microsoft.com/office/drawing/2014/main" id="{27142CEE-313C-4E33-8192-FA101BE6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472" y="4864608"/>
            <a:ext cx="2648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Approves every definition before it enters the layer</a:t>
            </a:r>
            <a:endParaRPr sz="950"/>
          </a:p>
        </p:txBody>
      </p:sp>
      <p:sp>
        <p:nvSpPr>
          <p:cNvPr id="48" name="Shape 38">
            <a:extLst xmlns:a="http://schemas.openxmlformats.org/drawingml/2006/main">
              <a:ext uri="{FF2B5EF4-FFF2-40B4-BE49-F238E27FC236}">
                <a16:creationId xmlns:a16="http://schemas.microsoft.com/office/drawing/2014/main" id="{7F64C439-FDA6-4C02-943B-70176D84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742432"/>
            <a:ext cx="11039551" cy="475488"/>
          </a:xfrm>
          <a:prstGeom xmlns:a="http://schemas.openxmlformats.org/drawingml/2006/main" prst="roundRect">
            <a:avLst>
              <a:gd name="adj" fmla="val 13462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hape 39">
            <a:extLst xmlns:a="http://schemas.openxmlformats.org/drawingml/2006/main">
              <a:ext uri="{FF2B5EF4-FFF2-40B4-BE49-F238E27FC236}">
                <a16:creationId xmlns:a16="http://schemas.microsoft.com/office/drawing/2014/main" id="{E113DFFE-A572-4808-BFD2-09CAD366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824728"/>
            <a:ext cx="310896" cy="3108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0" name="Image 8">
            <a:extLst xmlns:a="http://schemas.openxmlformats.org/drawingml/2006/main">
              <a:ext uri="{FF2B5EF4-FFF2-40B4-BE49-F238E27FC236}">
                <a16:creationId xmlns:a16="http://schemas.microsoft.com/office/drawing/2014/main" id="{44165295-A74A-457C-B1C8-2B139BE169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3b3a2c7c44e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991" y="5899343"/>
            <a:ext cx="161666" cy="161666"/>
          </a:xfrm>
          <a:prstGeom xmlns:a="http://schemas.openxmlformats.org/drawingml/2006/main" prst="rect">
            <a:avLst/>
          </a:prstGeom>
        </p:spPr>
      </p:pic>
      <p:sp>
        <p:nvSpPr>
          <p:cNvPr id="51" name="Text 40">
            <a:extLst xmlns:a="http://schemas.openxmlformats.org/drawingml/2006/main">
              <a:ext uri="{FF2B5EF4-FFF2-40B4-BE49-F238E27FC236}">
                <a16:creationId xmlns:a16="http://schemas.microsoft.com/office/drawing/2014/main" id="{D5EECBF8-36CE-4087-B0F9-B420C176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42432"/>
            <a:ext cx="103263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What we are asking for:  </a:t>
            </a:r>
            <a:r>
              <a:rPr sz="110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Not budget, and not headcount. Access to the data you already own, and a definition we can all agree on.</a:t>
            </a:r>
            <a:endParaRPr sz="1100"/>
          </a:p>
        </p:txBody>
      </p:sp>
      <p:sp>
        <p:nvSpPr>
          <p:cNvPr id="52" name="Text 41">
            <a:extLst xmlns:a="http://schemas.openxmlformats.org/drawingml/2006/main">
              <a:ext uri="{FF2B5EF4-FFF2-40B4-BE49-F238E27FC236}">
                <a16:creationId xmlns:a16="http://schemas.microsoft.com/office/drawing/2014/main" id="{6ECEDF72-5E93-43C3-B08D-A8776FF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53" name="Text 42">
            <a:extLst xmlns:a="http://schemas.openxmlformats.org/drawingml/2006/main">
              <a:ext uri="{FF2B5EF4-FFF2-40B4-BE49-F238E27FC236}">
                <a16:creationId xmlns:a16="http://schemas.microsoft.com/office/drawing/2014/main" id="{A6EA08EE-C607-433C-8697-A7BC2DB1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14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856248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6EC362B5-0C55-4D24-B651-10003BCBE0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cd3a4687f4e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D689F229-A7F6-48DD-ABFE-ED9ACFB2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3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0629012-9226-43F4-A576-3786F592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57F664B-2552-4D4D-B78E-6374ABCC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7AA7457-17B5-4271-AE68-C4AA7B40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92ECF93-8AD0-4B44-801C-694B0FBC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05A3B59-8767-47A4-B7F6-55C86CB9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5E5D3E1-8A14-41A1-93F8-BFA65AAF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12 · STAND OUT POINTS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BA7ECBC-B696-4C0A-A8A3-6470C8F8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BursaIQ connects the gaps between chat and BI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82617D8-648E-4EB5-ADC5-B68CBA4D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Hosted conversation, governed evidence and accountable workflow appear in one exchange-specific experience.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3A0E795-CFB0-48DE-BA0F-B0FA1468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73936"/>
            <a:ext cx="276148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spc="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Traditional AI Chatbots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16E022A-51CB-4D66-9079-4822B40A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773936"/>
            <a:ext cx="276148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spc="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Business Intelligence Tools</a:t>
            </a:r>
            <a:endParaRPr sz="11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4F4C173-8440-4F3C-AF35-9B6BAD48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1773936"/>
            <a:ext cx="2761488" cy="365760"/>
          </a:xfrm>
          <a:prstGeom xmlns:a="http://schemas.openxmlformats.org/drawingml/2006/main" prst="roundRect">
            <a:avLst>
              <a:gd name="adj" fmla="val 20000"/>
            </a:avLst>
          </a:prstGeom>
          <a:gradFill xmlns:a="http://schemas.openxmlformats.org/drawingml/2006/main">
            <a:gsLst>
              <a:gs pos="0">
                <a:srgbClr val="5B8DEF"/>
              </a:gs>
              <a:gs pos="100000">
                <a:srgbClr val="A26BFA"/>
              </a:gs>
            </a:gsLst>
            <a:lin ang="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BB32944-8621-499F-9A64-C5CEBD43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1773936"/>
            <a:ext cx="276148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BursaIQ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840CA2E-472B-4B2F-B0FA-C5B7F6A4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231136"/>
            <a:ext cx="22860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Conversational access</a:t>
            </a:r>
            <a:endParaRPr sz="10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BFE573B-7E95-4EA7-9F78-D8AFA5CC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31136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B0BF3B7-4FDC-4585-955C-46C0B0B3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231136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✕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8C6E6FB-30E1-4EC1-9939-D029291B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231136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Generic conversation</a:t>
            </a:r>
            <a:endParaRPr sz="9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444339C-C945-4490-872D-6EBA3E47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231136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679D8DF-493B-4F6A-9121-951A9498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231136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⚠</a:t>
            </a:r>
            <a:endParaRPr sz="12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FC04FAC-44E6-44A0-BD51-650262A8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231136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Dashboard or SQL navigation</a:t>
            </a:r>
            <a:endParaRPr sz="9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4E36DDE-09A2-4B80-A574-916D94DB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2231136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3DDDFC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F2D22A8-FA75-4CBE-B30E-F2D2B860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31136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3AE75DA-108D-4ED3-80E9-A3917F5F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231136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Plain-language Copilot Studio</a:t>
            </a:r>
            <a:endParaRPr sz="9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449A701-56EB-4CB0-A65B-19539F74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834640"/>
            <a:ext cx="22860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Evidence and metrics</a:t>
            </a:r>
            <a:endParaRPr sz="10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21C69415-8226-48C4-BB90-C4A5B419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4640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ACBD1C0-16DF-48AA-B374-4A18DB03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834640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✕</a:t>
            </a:r>
            <a:endParaRPr sz="12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C16454A-0758-41E1-B341-64C9498D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834640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Narrative without local proof</a:t>
            </a:r>
            <a:endParaRPr sz="9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0455128B-438A-44AC-AD10-9127A279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834640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E2482D9-DE16-4D52-8953-992329AB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834640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✕</a:t>
            </a:r>
            <a:endParaRPr sz="12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AE187E49-6D39-4900-B627-419C4B9B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834640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Evidence separate from conversation</a:t>
            </a:r>
            <a:endParaRPr sz="9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CBD4835-C282-4E16-87C4-188C425B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2834640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3DDDFC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22A901B0-571B-4E3A-A291-E54D5575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34640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AFE4BA58-D2EB-416A-A9E1-9A87BA6A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834640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Deterministic metrics and visible sources</a:t>
            </a:r>
            <a:endParaRPr sz="95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1747797-F690-4037-8B32-15B2DB0A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438144"/>
            <a:ext cx="22860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Role boundaries</a:t>
            </a:r>
            <a:endParaRPr sz="105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F45C151F-C400-4718-BACC-336AA24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38144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77BAC4FD-7C33-4B21-BE61-444515D4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38144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D9C9BC99-7728-413F-BB17-C2C62CFE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3438144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Provider-dependent controls</a:t>
            </a:r>
            <a:endParaRPr sz="95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EAB83602-D5EA-4EDC-B8CE-934A0B81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38144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A8E05CD5-BCA3-464F-A643-71B2013D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3438144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✕</a:t>
            </a:r>
            <a:endParaRPr sz="120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6748D470-6B41-4E8B-8609-79EE9AF5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3438144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No cross-workspace policy layer</a:t>
            </a:r>
            <a:endParaRPr sz="95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A7AF8735-E512-4509-87A8-9B1EB6EE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3438144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3DDDFC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0168DA9-7ECD-4F40-B908-3DABF62F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38144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7A9E859D-7707-4B5C-9CC4-01DDB121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438144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Flask policy and reviewer scope</a:t>
            </a:r>
            <a:endParaRPr sz="9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17ACF599-4C7D-4020-A58C-7D6053A9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041648"/>
            <a:ext cx="22860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After-answer workflow</a:t>
            </a:r>
            <a:endParaRPr sz="1050"/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6BC952E-C0E8-46B6-BE4C-75CD7AD4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41648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6E8FEFD2-3A94-41CD-B3CF-50A4311F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41648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⚠</a:t>
            </a:r>
            <a:endParaRPr sz="1200"/>
          </a:p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F0561D77-F240-4A33-80BC-BE67C055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4041648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Usually ends at the answer</a:t>
            </a:r>
            <a:endParaRPr sz="950"/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5285D98C-5C94-4EA2-941E-13A1F9F7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41648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F762FD2B-9A2D-462C-A21E-157B7F5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4041648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115CE381-C4D1-4F4E-9D77-DCC2C6E9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041648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Alerts and export outside chat</a:t>
            </a:r>
            <a:endParaRPr sz="950"/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F35CFB19-2CD6-45E8-BA21-5EACABE8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041648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3DDDFC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B35EE53C-E361-45BB-8A9A-7C3E99E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41648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5E181297-F061-4FE0-9EEB-FAE1A80F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041648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Watchlist, Memory and Verification</a:t>
            </a:r>
            <a:endParaRPr sz="950"/>
          </a:p>
        </p:txBody>
      </p:sp>
      <p:sp>
        <p:nvSpPr>
          <p:cNvPr id="56" name="Text 53">
            <a:extLst xmlns:a="http://schemas.openxmlformats.org/drawingml/2006/main">
              <a:ext uri="{FF2B5EF4-FFF2-40B4-BE49-F238E27FC236}">
                <a16:creationId xmlns:a16="http://schemas.microsoft.com/office/drawing/2014/main" id="{1E64B643-2A7D-4CC4-B853-F552FDFD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645152"/>
            <a:ext cx="22860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Executive output</a:t>
            </a:r>
            <a:endParaRPr sz="1050"/>
          </a:p>
        </p:txBody>
      </p:sp>
      <p:sp>
        <p:nvSpPr>
          <p:cNvPr id="57" name="Shape 54">
            <a:extLst xmlns:a="http://schemas.openxmlformats.org/drawingml/2006/main">
              <a:ext uri="{FF2B5EF4-FFF2-40B4-BE49-F238E27FC236}">
                <a16:creationId xmlns:a16="http://schemas.microsoft.com/office/drawing/2014/main" id="{95801E6C-D4D6-4283-9F5C-38AF3DF4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45152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Text 55">
            <a:extLst xmlns:a="http://schemas.openxmlformats.org/drawingml/2006/main">
              <a:ext uri="{FF2B5EF4-FFF2-40B4-BE49-F238E27FC236}">
                <a16:creationId xmlns:a16="http://schemas.microsoft.com/office/drawing/2014/main" id="{FDB3AB63-163B-4C75-A997-457ABD9D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645152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✕</a:t>
            </a:r>
            <a:endParaRPr sz="1200"/>
          </a:p>
        </p:txBody>
      </p:sp>
      <p:sp>
        <p:nvSpPr>
          <p:cNvPr id="59" name="Text 56">
            <a:extLst xmlns:a="http://schemas.openxmlformats.org/drawingml/2006/main">
              <a:ext uri="{FF2B5EF4-FFF2-40B4-BE49-F238E27FC236}">
                <a16:creationId xmlns:a16="http://schemas.microsoft.com/office/drawing/2014/main" id="{F2C60BEB-8202-4392-B70B-D074F07C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4645152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Manual briefing</a:t>
            </a:r>
            <a:endParaRPr sz="950"/>
          </a:p>
        </p:txBody>
      </p:sp>
      <p:sp>
        <p:nvSpPr>
          <p:cNvPr id="60" name="Shape 57">
            <a:extLst xmlns:a="http://schemas.openxmlformats.org/drawingml/2006/main">
              <a:ext uri="{FF2B5EF4-FFF2-40B4-BE49-F238E27FC236}">
                <a16:creationId xmlns:a16="http://schemas.microsoft.com/office/drawing/2014/main" id="{0BA6CADC-7EED-412E-9792-E22AF3C1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645152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7A385259-9097-40F9-BE0C-FD234873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4645152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⚠</a:t>
            </a:r>
            <a:endParaRPr sz="1200"/>
          </a:p>
        </p:txBody>
      </p:sp>
      <p:sp>
        <p:nvSpPr>
          <p:cNvPr id="62" name="Text 59">
            <a:extLst xmlns:a="http://schemas.openxmlformats.org/drawingml/2006/main">
              <a:ext uri="{FF2B5EF4-FFF2-40B4-BE49-F238E27FC236}">
                <a16:creationId xmlns:a16="http://schemas.microsoft.com/office/drawing/2014/main" id="{8952CEC7-170F-44C0-8498-E3EC893F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645152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Manual dashboard export</a:t>
            </a:r>
            <a:endParaRPr sz="950"/>
          </a:p>
        </p:txBody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91DB2EA5-57E5-4245-A22C-1DE02FC8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4645152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3DDDFC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AF4E9A73-4E3E-4EE6-8309-3204B05F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45152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49E96D19-0507-480F-9A51-410B4CC6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645152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Refreshable briefing and verified PDF</a:t>
            </a:r>
            <a:endParaRPr sz="950"/>
          </a:p>
        </p:txBody>
      </p:sp>
      <p:sp>
        <p:nvSpPr>
          <p:cNvPr id="66" name="Text 63">
            <a:extLst xmlns:a="http://schemas.openxmlformats.org/drawingml/2006/main">
              <a:ext uri="{FF2B5EF4-FFF2-40B4-BE49-F238E27FC236}">
                <a16:creationId xmlns:a16="http://schemas.microsoft.com/office/drawing/2014/main" id="{CB84D041-2B42-42E9-B343-755910DF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248656"/>
            <a:ext cx="22860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Demo resilience</a:t>
            </a:r>
            <a:endParaRPr sz="1050"/>
          </a:p>
        </p:txBody>
      </p:sp>
      <p:sp>
        <p:nvSpPr>
          <p:cNvPr id="67" name="Shape 64">
            <a:extLst xmlns:a="http://schemas.openxmlformats.org/drawingml/2006/main">
              <a:ext uri="{FF2B5EF4-FFF2-40B4-BE49-F238E27FC236}">
                <a16:creationId xmlns:a16="http://schemas.microsoft.com/office/drawing/2014/main" id="{777B618F-3203-4755-AD5B-05DD162C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48656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Text 65">
            <a:extLst xmlns:a="http://schemas.openxmlformats.org/drawingml/2006/main">
              <a:ext uri="{FF2B5EF4-FFF2-40B4-BE49-F238E27FC236}">
                <a16:creationId xmlns:a16="http://schemas.microsoft.com/office/drawing/2014/main" id="{619CBE37-AB85-468D-A61C-61239EC4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248656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✕</a:t>
            </a:r>
            <a:endParaRPr sz="1200"/>
          </a:p>
        </p:txBody>
      </p:sp>
      <p:sp>
        <p:nvSpPr>
          <p:cNvPr id="69" name="Text 66">
            <a:extLst xmlns:a="http://schemas.openxmlformats.org/drawingml/2006/main">
              <a:ext uri="{FF2B5EF4-FFF2-40B4-BE49-F238E27FC236}">
                <a16:creationId xmlns:a16="http://schemas.microsoft.com/office/drawing/2014/main" id="{4114C61D-25E4-4645-B8B5-32164512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5248656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Online service dependency</a:t>
            </a:r>
            <a:endParaRPr sz="950"/>
          </a:p>
        </p:txBody>
      </p:sp>
      <p:sp>
        <p:nvSpPr>
          <p:cNvPr id="70" name="Shape 67">
            <a:extLst xmlns:a="http://schemas.openxmlformats.org/drawingml/2006/main">
              <a:ext uri="{FF2B5EF4-FFF2-40B4-BE49-F238E27FC236}">
                <a16:creationId xmlns:a16="http://schemas.microsoft.com/office/drawing/2014/main" id="{8DFE3C45-8B84-4584-A114-E3F1D85C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248656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Text 68">
            <a:extLst xmlns:a="http://schemas.openxmlformats.org/drawingml/2006/main">
              <a:ext uri="{FF2B5EF4-FFF2-40B4-BE49-F238E27FC236}">
                <a16:creationId xmlns:a16="http://schemas.microsoft.com/office/drawing/2014/main" id="{AD4B0C98-AF25-4DA3-A0E8-A02A085B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5248656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✕</a:t>
            </a:r>
            <a:endParaRPr sz="1200"/>
          </a:p>
        </p:txBody>
      </p:sp>
      <p:sp>
        <p:nvSpPr>
          <p:cNvPr id="72" name="Text 69">
            <a:extLst xmlns:a="http://schemas.openxmlformats.org/drawingml/2006/main">
              <a:ext uri="{FF2B5EF4-FFF2-40B4-BE49-F238E27FC236}">
                <a16:creationId xmlns:a16="http://schemas.microsoft.com/office/drawing/2014/main" id="{10E98650-13A5-4CD2-8FD1-D39B3AA2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5248656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Data stack dependency</a:t>
            </a:r>
            <a:endParaRPr sz="950"/>
          </a:p>
        </p:txBody>
      </p:sp>
      <p:sp>
        <p:nvSpPr>
          <p:cNvPr id="73" name="Shape 70">
            <a:extLst xmlns:a="http://schemas.openxmlformats.org/drawingml/2006/main">
              <a:ext uri="{FF2B5EF4-FFF2-40B4-BE49-F238E27FC236}">
                <a16:creationId xmlns:a16="http://schemas.microsoft.com/office/drawing/2014/main" id="{511957BB-07ED-4BD5-A5ED-6FB19400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5248656"/>
            <a:ext cx="2761488" cy="512064"/>
          </a:xfrm>
          <a:prstGeom xmlns:a="http://schemas.openxmlformats.org/drawingml/2006/main" prst="roundRect">
            <a:avLst>
              <a:gd name="adj" fmla="val 10714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12700">
            <a:solidFill>
              <a:srgbClr val="3DDDFC">
                <a:alpha val="55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Text 71">
            <a:extLst xmlns:a="http://schemas.openxmlformats.org/drawingml/2006/main">
              <a:ext uri="{FF2B5EF4-FFF2-40B4-BE49-F238E27FC236}">
                <a16:creationId xmlns:a16="http://schemas.microsoft.com/office/drawing/2014/main" id="{240D60C3-DC72-4E32-9A5B-961F95FD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48656"/>
            <a:ext cx="2743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75" name="Text 72">
            <a:extLst xmlns:a="http://schemas.openxmlformats.org/drawingml/2006/main">
              <a:ext uri="{FF2B5EF4-FFF2-40B4-BE49-F238E27FC236}">
                <a16:creationId xmlns:a16="http://schemas.microsoft.com/office/drawing/2014/main" id="{3DB9F73F-C211-4EBA-A16A-DC63EA7F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5248656"/>
            <a:ext cx="221284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Labelled prepared fallback</a:t>
            </a:r>
            <a:endParaRPr sz="950"/>
          </a:p>
        </p:txBody>
      </p:sp>
      <p:sp>
        <p:nvSpPr>
          <p:cNvPr id="76" name="Text 73">
            <a:extLst xmlns:a="http://schemas.openxmlformats.org/drawingml/2006/main">
              <a:ext uri="{FF2B5EF4-FFF2-40B4-BE49-F238E27FC236}">
                <a16:creationId xmlns:a16="http://schemas.microsoft.com/office/drawing/2014/main" id="{42E408D0-6A7E-408B-B932-504D0695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943600"/>
            <a:ext cx="11039551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BursaIQ joins a hosted agent to governed evidence, deterministic calculations and reusable decision workflow.</a:t>
            </a:r>
            <a:endParaRPr sz="1150"/>
          </a:p>
        </p:txBody>
      </p:sp>
      <p:sp>
        <p:nvSpPr>
          <p:cNvPr id="77" name="Text 74">
            <a:extLst xmlns:a="http://schemas.openxmlformats.org/drawingml/2006/main">
              <a:ext uri="{FF2B5EF4-FFF2-40B4-BE49-F238E27FC236}">
                <a16:creationId xmlns:a16="http://schemas.microsoft.com/office/drawing/2014/main" id="{FDF2EADD-15CB-4FAE-A2EF-8D1480D4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78" name="Text 75">
            <a:extLst xmlns:a="http://schemas.openxmlformats.org/drawingml/2006/main">
              <a:ext uri="{FF2B5EF4-FFF2-40B4-BE49-F238E27FC236}">
                <a16:creationId xmlns:a16="http://schemas.microsoft.com/office/drawing/2014/main" id="{ED0A90EE-444C-4435-BCE4-973ED2D1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15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8358949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89759FC3-5B49-4DBE-900E-1AE808A9A7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6a19236a34a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785DAC48-677C-41D1-BAF0-E9459D5E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3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E6E0C2C-49F6-4F7B-A742-06DFD53F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CFDDC12-4E00-4BF4-8848-1751EF7A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9AA12D1-3ECD-43BB-9823-ED46663B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3A4B499-96BC-4583-8FDD-98BF09E7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463BA06-D1B0-4366-B0BF-944E8415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49DF327-D02A-40E9-8C58-8B3CBBAA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13 · THE VALUE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054289D-CA44-407C-8728-7A477CB9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What it costs, what it returns, and when it pays back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EA2AAB4-92C5-453D-BD70-F9DE322E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Illustrative pitch assumptions. A controlled pilot must validate time saved, adoption and business impact.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E1447AF-095A-4DE8-9702-0DB5FA0D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737360"/>
            <a:ext cx="52911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THE RETURN · HYPOTHESIS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803AB57-FFF3-429B-B8FD-C0601C64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1737360"/>
            <a:ext cx="529117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00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THE INVESTMENT · ESTIMATE</a:t>
            </a:r>
            <a:endParaRPr sz="10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3987CF6-7C2F-4881-9522-20F8DF03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048256"/>
            <a:ext cx="2535860" cy="932688"/>
          </a:xfrm>
          <a:prstGeom xmlns:a="http://schemas.openxmlformats.org/drawingml/2006/main" prst="roundRect">
            <a:avLst>
              <a:gd name="adj" fmla="val 68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AA60441-D8BA-4D4D-9859-556F1F29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139696"/>
            <a:ext cx="21701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3h to 15m</a:t>
            </a:r>
            <a:endParaRPr sz="2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FDE1CD5-E9B8-45FC-B856-E92EA96C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560320"/>
            <a:ext cx="21701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average answer time</a:t>
            </a:r>
            <a:endParaRPr sz="9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F1E9082-2A34-4B55-9040-7FDB8EDB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388" y="2048256"/>
            <a:ext cx="2535860" cy="932688"/>
          </a:xfrm>
          <a:prstGeom xmlns:a="http://schemas.openxmlformats.org/drawingml/2006/main" prst="roundRect">
            <a:avLst>
              <a:gd name="adj" fmla="val 68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C1C3EF6-11DB-4895-847B-640A9271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268" y="2139696"/>
            <a:ext cx="21701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70%</a:t>
            </a:r>
            <a:endParaRPr sz="2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83AC12C-6D8D-47B9-BD01-D8C39486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268" y="2560320"/>
            <a:ext cx="21701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candidate requests automated</a:t>
            </a:r>
            <a:endParaRPr sz="9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1602CB0-C7AC-4B2C-B1E8-7DCF6AFD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127248"/>
            <a:ext cx="2535860" cy="932688"/>
          </a:xfrm>
          <a:prstGeom xmlns:a="http://schemas.openxmlformats.org/drawingml/2006/main" prst="roundRect">
            <a:avLst>
              <a:gd name="adj" fmla="val 68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E73A3D3-44DA-4EBE-9BA4-CD640E34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218688"/>
            <a:ext cx="21701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40 hrs</a:t>
            </a:r>
            <a:endParaRPr sz="2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8B2E27E-2F86-4E2D-B5D3-1A0D7945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639312"/>
            <a:ext cx="21701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analyst time redirected / month</a:t>
            </a:r>
            <a:endParaRPr sz="9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5740C282-02A6-4BEC-9021-A2CAE1E3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388" y="3127248"/>
            <a:ext cx="2535860" cy="932688"/>
          </a:xfrm>
          <a:prstGeom xmlns:a="http://schemas.openxmlformats.org/drawingml/2006/main" prst="roundRect">
            <a:avLst>
              <a:gd name="adj" fmla="val 68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3645765-D748-4A01-A555-4E21EC80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268" y="3218688"/>
            <a:ext cx="21701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RM 50k</a:t>
            </a:r>
            <a:endParaRPr sz="20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585FB47-B0FE-44E9-9D1C-3990AAB4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268" y="3639312"/>
            <a:ext cx="21701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annual productivity value</a:t>
            </a:r>
            <a:endParaRPr sz="9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261A6E5-26D4-43E2-AD79-DCC923EA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048256"/>
            <a:ext cx="2535860" cy="932688"/>
          </a:xfrm>
          <a:prstGeom xmlns:a="http://schemas.openxmlformats.org/drawingml/2006/main" prst="roundRect">
            <a:avLst>
              <a:gd name="adj" fmla="val 68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6E6644CE-0071-48EF-A703-A8D1C292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328" y="2139696"/>
            <a:ext cx="21701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~12 weeks</a:t>
            </a:r>
            <a:endParaRPr sz="2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CD51EB6-73BD-43C7-9528-145DB324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328" y="2560320"/>
            <a:ext cx="21701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proof of concept to pilot</a:t>
            </a:r>
            <a:endParaRPr sz="9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0F621C1A-49F7-4A05-BB86-8A6D3E48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763" y="2048256"/>
            <a:ext cx="2535860" cy="932688"/>
          </a:xfrm>
          <a:prstGeom xmlns:a="http://schemas.openxmlformats.org/drawingml/2006/main" prst="roundRect">
            <a:avLst>
              <a:gd name="adj" fmla="val 68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FAA0269-66E7-4A72-990D-49DC7383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643" y="2139696"/>
            <a:ext cx="21701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3 people</a:t>
            </a:r>
            <a:endParaRPr sz="20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D3BCFD2-A83A-4C2D-97AF-03B3CF73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643" y="2560320"/>
            <a:ext cx="21701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part-time, no new headcount</a:t>
            </a:r>
            <a:endParaRPr sz="9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A66D95C1-A470-49B6-8F40-168B66C4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127248"/>
            <a:ext cx="2535860" cy="932688"/>
          </a:xfrm>
          <a:prstGeom xmlns:a="http://schemas.openxmlformats.org/drawingml/2006/main" prst="roundRect">
            <a:avLst>
              <a:gd name="adj" fmla="val 68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20190F6-50E1-4174-9C43-ECD2C408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328" y="3218688"/>
            <a:ext cx="21701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Current</a:t>
            </a:r>
            <a:endParaRPr sz="20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E2A9DD43-5F04-425C-8874-05AA84E2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328" y="3639312"/>
            <a:ext cx="21701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Copilot Studio channel</a:t>
            </a:r>
            <a:endParaRPr sz="90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3AE2A81E-44B8-4CF2-B6F1-02053760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763" y="3127248"/>
            <a:ext cx="2535860" cy="932688"/>
          </a:xfrm>
          <a:prstGeom xmlns:a="http://schemas.openxmlformats.org/drawingml/2006/main" prst="roundRect">
            <a:avLst>
              <a:gd name="adj" fmla="val 6863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730F34D2-F3DB-40EE-954A-D1779DD2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643" y="3218688"/>
            <a:ext cx="21701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3 formats</a:t>
            </a:r>
            <a:endParaRPr sz="20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88863CC4-6CDA-47F6-BDC7-99C82015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643" y="3639312"/>
            <a:ext cx="21701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Excel, PDF and JSON</a:t>
            </a:r>
            <a:endParaRPr sz="9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C1172C34-B719-49D8-AEF5-D0B7CCD9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279392"/>
            <a:ext cx="11039551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WHERE THE VALUE LANDS</a:t>
            </a:r>
            <a:endParaRPr sz="10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3007B4E4-FA01-47F3-BE07-5A4A762B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572000"/>
            <a:ext cx="3520440" cy="1024128"/>
          </a:xfrm>
          <a:prstGeom xmlns:a="http://schemas.openxmlformats.org/drawingml/2006/main" prst="roundRect">
            <a:avLst>
              <a:gd name="adj" fmla="val 625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6B22AEFD-DADF-402A-BC31-CE477CEA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718304"/>
            <a:ext cx="347472" cy="347472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1" name="Image 1">
            <a:extLst xmlns:a="http://schemas.openxmlformats.org/drawingml/2006/main">
              <a:ext uri="{FF2B5EF4-FFF2-40B4-BE49-F238E27FC236}">
                <a16:creationId xmlns:a16="http://schemas.microsoft.com/office/drawing/2014/main" id="{B4A72CAA-EC94-4620-BDF9-B71D569059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f71f8954244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345" y="4801697"/>
            <a:ext cx="180685" cy="180685"/>
          </a:xfrm>
          <a:prstGeom xmlns:a="http://schemas.openxmlformats.org/drawingml/2006/main" prst="rect">
            <a:avLst/>
          </a:prstGeom>
        </p:spPr>
      </p:pic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21400BBF-8E12-41D5-9F5F-243FA86E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864" y="4718304"/>
            <a:ext cx="273405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Productivity</a:t>
            </a:r>
            <a:endParaRPr sz="12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23E6AC72-0654-4AA4-8B4C-85A870AF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084064"/>
            <a:ext cx="3154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Cut retrieval and formatting effort · Fewer repetitive ad hoc requests · Redirect analysts to higher-value work</a:t>
            </a:r>
            <a:endParaRPr sz="85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4386B71E-D582-4501-B406-F36A9C73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628" y="4572000"/>
            <a:ext cx="3520440" cy="1024128"/>
          </a:xfrm>
          <a:prstGeom xmlns:a="http://schemas.openxmlformats.org/drawingml/2006/main" prst="roundRect">
            <a:avLst>
              <a:gd name="adj" fmla="val 625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55854A59-6FBB-43E3-970E-BE2EC82E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508" y="4718304"/>
            <a:ext cx="347472" cy="347472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A26BFA">
              <a:alpha val="16000"/>
            </a:srgbClr>
          </a:solidFill>
          <a:ln xmlns:a="http://schemas.openxmlformats.org/drawingml/2006/main"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6" name="Image 2">
            <a:extLst xmlns:a="http://schemas.openxmlformats.org/drawingml/2006/main">
              <a:ext uri="{FF2B5EF4-FFF2-40B4-BE49-F238E27FC236}">
                <a16:creationId xmlns:a16="http://schemas.microsoft.com/office/drawing/2014/main" id="{3516BA0A-292C-47C2-B35B-FDDC30DAF2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e43c8634541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901" y="4801697"/>
            <a:ext cx="180685" cy="180685"/>
          </a:xfrm>
          <a:prstGeom xmlns:a="http://schemas.openxmlformats.org/drawingml/2006/main" prst="rect">
            <a:avLst/>
          </a:prstGeom>
        </p:spPr>
      </p:pic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0709D424-BDFB-4E35-9B51-C4CA9DEA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420" y="4718304"/>
            <a:ext cx="273405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Decision-making</a:t>
            </a:r>
            <a:endParaRPr sz="1200"/>
          </a:p>
        </p:txBody>
      </p:sp>
      <p:sp>
        <p:nvSpPr>
          <p:cNvPr id="48" name="Text 43">
            <a:extLst xmlns:a="http://schemas.openxmlformats.org/drawingml/2006/main">
              <a:ext uri="{FF2B5EF4-FFF2-40B4-BE49-F238E27FC236}">
                <a16:creationId xmlns:a16="http://schemas.microsoft.com/office/drawing/2014/main" id="{CB5BB9D9-B982-46DE-9ED9-8B3521F3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508" y="5084064"/>
            <a:ext cx="3154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Answer questions during meetings · Reduce follow-up delays · Improve consistency and confidence</a:t>
            </a:r>
            <a:endParaRPr sz="850"/>
          </a:p>
        </p:txBody>
      </p:sp>
      <p:sp>
        <p:nvSpPr>
          <p:cNvPr id="49" name="Shape 44">
            <a:extLst xmlns:a="http://schemas.openxmlformats.org/drawingml/2006/main">
              <a:ext uri="{FF2B5EF4-FFF2-40B4-BE49-F238E27FC236}">
                <a16:creationId xmlns:a16="http://schemas.microsoft.com/office/drawing/2014/main" id="{514FCAC5-DBEE-4CFF-8BE1-F8DB1A14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183" y="4572000"/>
            <a:ext cx="3520440" cy="1024128"/>
          </a:xfrm>
          <a:prstGeom xmlns:a="http://schemas.openxmlformats.org/drawingml/2006/main" prst="roundRect">
            <a:avLst>
              <a:gd name="adj" fmla="val 6250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Shape 45">
            <a:extLst xmlns:a="http://schemas.openxmlformats.org/drawingml/2006/main">
              <a:ext uri="{FF2B5EF4-FFF2-40B4-BE49-F238E27FC236}">
                <a16:creationId xmlns:a16="http://schemas.microsoft.com/office/drawing/2014/main" id="{54C3AEDE-E3E3-4B9D-8005-32E7898F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8063" y="4718304"/>
            <a:ext cx="347472" cy="347472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5B8DEF">
              <a:alpha val="16000"/>
            </a:srgbClr>
          </a:solidFill>
          <a:ln xmlns:a="http://schemas.openxmlformats.org/drawingml/2006/main"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1" name="Image 3">
            <a:extLst xmlns:a="http://schemas.openxmlformats.org/drawingml/2006/main">
              <a:ext uri="{FF2B5EF4-FFF2-40B4-BE49-F238E27FC236}">
                <a16:creationId xmlns:a16="http://schemas.microsoft.com/office/drawing/2014/main" id="{DC1E1E7D-7310-4AEA-B90E-C94BE95A46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2bb84aec64e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1456" y="4801697"/>
            <a:ext cx="180685" cy="180685"/>
          </a:xfrm>
          <a:prstGeom xmlns:a="http://schemas.openxmlformats.org/drawingml/2006/main" prst="rect">
            <a:avLst/>
          </a:prstGeom>
        </p:spPr>
      </p:pic>
      <p:sp>
        <p:nvSpPr>
          <p:cNvPr id="52" name="Text 46">
            <a:extLst xmlns:a="http://schemas.openxmlformats.org/drawingml/2006/main">
              <a:ext uri="{FF2B5EF4-FFF2-40B4-BE49-F238E27FC236}">
                <a16:creationId xmlns:a16="http://schemas.microsoft.com/office/drawing/2014/main" id="{C0349613-44E6-4A85-AC5D-17BFB7F2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975" y="4718304"/>
            <a:ext cx="273405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Capability</a:t>
            </a:r>
            <a:endParaRPr sz="1200"/>
          </a:p>
        </p:txBody>
      </p:sp>
      <p:sp>
        <p:nvSpPr>
          <p:cNvPr id="53" name="Text 47">
            <a:extLst xmlns:a="http://schemas.openxmlformats.org/drawingml/2006/main">
              <a:ext uri="{FF2B5EF4-FFF2-40B4-BE49-F238E27FC236}">
                <a16:creationId xmlns:a16="http://schemas.microsoft.com/office/drawing/2014/main" id="{1113EA85-4C6D-4E20-95F8-C93BDDE3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8063" y="5084064"/>
            <a:ext cx="3154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Broaden self-service access · Raise data and market literacy · Scale conversational analytics</a:t>
            </a:r>
            <a:endParaRPr sz="850"/>
          </a:p>
        </p:txBody>
      </p:sp>
      <p:sp>
        <p:nvSpPr>
          <p:cNvPr id="54" name="Shape 48">
            <a:extLst xmlns:a="http://schemas.openxmlformats.org/drawingml/2006/main">
              <a:ext uri="{FF2B5EF4-FFF2-40B4-BE49-F238E27FC236}">
                <a16:creationId xmlns:a16="http://schemas.microsoft.com/office/drawing/2014/main" id="{ED65E73E-37B6-479B-BBFA-E0A40C35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760720"/>
            <a:ext cx="11039551" cy="475488"/>
          </a:xfrm>
          <a:prstGeom xmlns:a="http://schemas.openxmlformats.org/drawingml/2006/main" prst="roundRect">
            <a:avLst>
              <a:gd name="adj" fmla="val 13462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Shape 49">
            <a:extLst xmlns:a="http://schemas.openxmlformats.org/drawingml/2006/main">
              <a:ext uri="{FF2B5EF4-FFF2-40B4-BE49-F238E27FC236}">
                <a16:creationId xmlns:a16="http://schemas.microsoft.com/office/drawing/2014/main" id="{982B540B-FDD4-4A80-B601-978FC8DF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843016"/>
            <a:ext cx="310896" cy="3108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6" name="Image 4">
            <a:extLst xmlns:a="http://schemas.openxmlformats.org/drawingml/2006/main">
              <a:ext uri="{FF2B5EF4-FFF2-40B4-BE49-F238E27FC236}">
                <a16:creationId xmlns:a16="http://schemas.microsoft.com/office/drawing/2014/main" id="{78DC0527-2459-4384-A741-19294F912C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0d093c8e340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991" y="5917631"/>
            <a:ext cx="161666" cy="161666"/>
          </a:xfrm>
          <a:prstGeom xmlns:a="http://schemas.openxmlformats.org/drawingml/2006/main" prst="rect">
            <a:avLst/>
          </a:prstGeom>
        </p:spPr>
      </p:pic>
      <p:sp>
        <p:nvSpPr>
          <p:cNvPr id="57" name="Text 50">
            <a:extLst xmlns:a="http://schemas.openxmlformats.org/drawingml/2006/main">
              <a:ext uri="{FF2B5EF4-FFF2-40B4-BE49-F238E27FC236}">
                <a16:creationId xmlns:a16="http://schemas.microsoft.com/office/drawing/2014/main" id="{03F1D181-EB22-4E51-A9C9-AE567379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0720"/>
            <a:ext cx="103263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Pilot test: Validate whether time savings alone can recover build effort within the first year.</a:t>
            </a:r>
            <a:endParaRPr sz="1100"/>
          </a:p>
        </p:txBody>
      </p:sp>
      <p:sp>
        <p:nvSpPr>
          <p:cNvPr id="58" name="Text 51">
            <a:extLst xmlns:a="http://schemas.openxmlformats.org/drawingml/2006/main">
              <a:ext uri="{FF2B5EF4-FFF2-40B4-BE49-F238E27FC236}">
                <a16:creationId xmlns:a16="http://schemas.microsoft.com/office/drawing/2014/main" id="{0BEB6FAE-0399-4272-B71E-27A3862B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59" name="Text 52">
            <a:extLst xmlns:a="http://schemas.openxmlformats.org/drawingml/2006/main">
              <a:ext uri="{FF2B5EF4-FFF2-40B4-BE49-F238E27FC236}">
                <a16:creationId xmlns:a16="http://schemas.microsoft.com/office/drawing/2014/main" id="{343820AE-9305-40F1-A70E-9BC53B0F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16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7076440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5FB23EEF-2594-478B-AADB-9042F394F8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ca9d25f134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DB8B1098-D62C-47B2-9005-DF7DACA7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3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D44AD7DC-C929-4116-A7E2-7B8013E4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8F51887-55FE-4E2C-A474-A2D61C43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3D19255-CAEC-45D6-9FA2-023B60C9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3CBDBFC-B5BD-454D-9FE7-70258F02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5559665-C477-450A-8020-22C01F41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03F5D46-5F76-4D68-B42A-A3FC3D10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14 · OPPORTUNITY &amp; RISK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D726C53-8F58-4424-8963-D41962E2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A large upside, with every risk named and controlled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D637C96-EBFE-42F1-A486-F9DB6B9C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What BursaIQ unlocks if it works, and what stands in the way if it is built carelessly.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BE1EED6-39A2-4407-BF2B-C0796E66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755648"/>
            <a:ext cx="48463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THE OPPORTUNITY</a:t>
            </a:r>
            <a:endParaRPr sz="10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26F872E-7D17-4B60-A3FB-629FF21A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048256"/>
            <a:ext cx="4846320" cy="822960"/>
          </a:xfrm>
          <a:prstGeom xmlns:a="http://schemas.openxmlformats.org/drawingml/2006/main" prst="roundRect">
            <a:avLst>
              <a:gd name="adj" fmla="val 777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8262C43-12C9-46E6-81AF-32CAC950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258568"/>
            <a:ext cx="402336" cy="40233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" name="Image 1">
            <a:extLst xmlns:a="http://schemas.openxmlformats.org/drawingml/2006/main">
              <a:ext uri="{FF2B5EF4-FFF2-40B4-BE49-F238E27FC236}">
                <a16:creationId xmlns:a16="http://schemas.microsoft.com/office/drawing/2014/main" id="{D6C44305-0F3B-43C4-AF85-B6B4915702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ccc8eac6d4d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5513" y="2355129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60EFB62-E26F-4F62-A7D4-443D79A1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176272"/>
            <a:ext cx="3931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2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ANTICIPATE</a:t>
            </a:r>
            <a:endParaRPr sz="115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811D138D-76A5-4F57-BAE7-C3199219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450592"/>
            <a:ext cx="3931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Insight arrives before the question is asked</a:t>
            </a:r>
            <a:endParaRPr sz="10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A3572F3-2BD1-4249-B66F-83E80E3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980944"/>
            <a:ext cx="4846320" cy="822960"/>
          </a:xfrm>
          <a:prstGeom xmlns:a="http://schemas.openxmlformats.org/drawingml/2006/main" prst="roundRect">
            <a:avLst>
              <a:gd name="adj" fmla="val 777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23BD0AE-0632-4A16-83D3-ADC11A41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191256"/>
            <a:ext cx="402336" cy="40233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" name="Image 2">
            <a:extLst xmlns:a="http://schemas.openxmlformats.org/drawingml/2006/main">
              <a:ext uri="{FF2B5EF4-FFF2-40B4-BE49-F238E27FC236}">
                <a16:creationId xmlns:a16="http://schemas.microsoft.com/office/drawing/2014/main" id="{A07B9357-61AF-4CE2-A798-6704F3CCD1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1c8290f664d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5513" y="3287817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3C3FCA2-D958-4EE2-943E-FD9532BB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3108960"/>
            <a:ext cx="3931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2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ADVISE</a:t>
            </a:r>
            <a:endParaRPr sz="1150"/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3D3BEEC-4DE4-4814-8E6A-9C8F1DF4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3383280"/>
            <a:ext cx="3931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Understanding at every level and in every language</a:t>
            </a:r>
            <a:endParaRPr sz="1000"/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BC9FC28F-0B09-43DF-B004-71ADA87A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913632"/>
            <a:ext cx="4846320" cy="822960"/>
          </a:xfrm>
          <a:prstGeom xmlns:a="http://schemas.openxmlformats.org/drawingml/2006/main" prst="roundRect">
            <a:avLst>
              <a:gd name="adj" fmla="val 777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C2F5F5FC-7545-49B1-B9BA-AE46B8D8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123944"/>
            <a:ext cx="402336" cy="40233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Image 3">
            <a:extLst xmlns:a="http://schemas.openxmlformats.org/drawingml/2006/main">
              <a:ext uri="{FF2B5EF4-FFF2-40B4-BE49-F238E27FC236}">
                <a16:creationId xmlns:a16="http://schemas.microsoft.com/office/drawing/2014/main" id="{E2C176DE-3674-42AC-8717-64D0C8DAE9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70a9f5bda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5513" y="4220505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24AD4E3E-A528-454B-B4D8-9B684A0C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4041648"/>
            <a:ext cx="3931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2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AUTOMATE</a:t>
            </a:r>
            <a:endParaRPr sz="115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E4B430A7-7180-4CDC-8C30-E43C9278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4315968"/>
            <a:ext cx="3931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Answers become finished, formatted work</a:t>
            </a:r>
            <a:endParaRPr sz="100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F9B4A459-CFA9-4B64-9300-03031188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846320"/>
            <a:ext cx="4846320" cy="822960"/>
          </a:xfrm>
          <a:prstGeom xmlns:a="http://schemas.openxmlformats.org/drawingml/2006/main" prst="roundRect">
            <a:avLst>
              <a:gd name="adj" fmla="val 777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70ABC5C2-60B0-4FF1-A80C-C38CF8D0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056632"/>
            <a:ext cx="402336" cy="40233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" name="Image 4">
            <a:extLst xmlns:a="http://schemas.openxmlformats.org/drawingml/2006/main">
              <a:ext uri="{FF2B5EF4-FFF2-40B4-BE49-F238E27FC236}">
                <a16:creationId xmlns:a16="http://schemas.microsoft.com/office/drawing/2014/main" id="{1C24EA4A-8DD5-4DEB-94B2-66346F1D38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cc27d65cd44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5513" y="5153193"/>
            <a:ext cx="209215" cy="209215"/>
          </a:xfrm>
          <a:prstGeom xmlns:a="http://schemas.openxmlformats.org/drawingml/2006/main" prst="rect">
            <a:avLst/>
          </a:prstGeom>
        </p:spPr>
      </p:pic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A535BBB8-5F5D-4B31-83C5-E6BAC6D2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4974336"/>
            <a:ext cx="3931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2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AMPLIFY</a:t>
            </a:r>
            <a:endParaRPr sz="1150"/>
          </a:p>
        </p:txBody>
      </p:sp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82EEBE79-2326-4B4D-81A1-FA463B48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5248656"/>
            <a:ext cx="3931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One answer lifts the whole organisation</a:t>
            </a:r>
            <a:endParaRPr sz="1000"/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4CDF9415-992A-4CBD-99C0-16CB1E70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755648"/>
            <a:ext cx="5736031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00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PRINCIPAL RISKS · AND THE CONTROL</a:t>
            </a:r>
            <a:endParaRPr sz="1000"/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3659C812-045F-4A22-88EA-6F4E81DA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48256"/>
            <a:ext cx="5736031" cy="822960"/>
          </a:xfrm>
          <a:prstGeom xmlns:a="http://schemas.openxmlformats.org/drawingml/2006/main" prst="roundRect">
            <a:avLst>
              <a:gd name="adj" fmla="val 777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A0CAE0FB-5223-42EE-8E56-76AAB5C5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511" y="2194560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>
              <a:alpha val="16000"/>
            </a:srgbClr>
          </a:solidFill>
          <a:ln xmlns:a="http://schemas.openxmlformats.org/drawingml/2006/main" w="9525">
            <a:solidFill>
              <a:srgbClr val="FB7185">
                <a:alpha val="5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4CF03B9E-774D-47E2-8008-B6491599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511" y="2194560"/>
            <a:ext cx="7132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 spc="150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HIGH</a:t>
            </a:r>
            <a:endParaRPr sz="850"/>
          </a:p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A1317661-5DF0-4D67-A38A-8655A037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157984"/>
            <a:ext cx="454731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Production and data-security exposure</a:t>
            </a:r>
            <a:endParaRPr sz="1150"/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50265CC2-B44F-48A2-BAC6-849A71B7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487168"/>
            <a:ext cx="529711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✓  Synthetic-only demo. Pilot requires approved read-only sources.</a:t>
            </a:r>
            <a:endParaRPr sz="950"/>
          </a:p>
        </p:txBody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572A7137-E66F-47F6-BDEA-FB4779F5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980944"/>
            <a:ext cx="5736031" cy="822960"/>
          </a:xfrm>
          <a:prstGeom xmlns:a="http://schemas.openxmlformats.org/drawingml/2006/main" prst="roundRect">
            <a:avLst>
              <a:gd name="adj" fmla="val 777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F8E1DF49-9871-4965-8848-8C87A10B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511" y="3127248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>
              <a:alpha val="16000"/>
            </a:srgbClr>
          </a:solidFill>
          <a:ln xmlns:a="http://schemas.openxmlformats.org/drawingml/2006/main" w="9525">
            <a:solidFill>
              <a:srgbClr val="FB7185">
                <a:alpha val="5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EB26CE1C-2DAE-45C3-9468-C18A1896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511" y="3127248"/>
            <a:ext cx="7132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 spc="150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HIGH</a:t>
            </a:r>
            <a:endParaRPr sz="850"/>
          </a:p>
        </p:txBody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4A4E4284-F326-485F-8150-71F35BC3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3090672"/>
            <a:ext cx="454731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Inaccurate or misleading AI answers</a:t>
            </a:r>
            <a:endParaRPr sz="1150"/>
          </a:p>
        </p:txBody>
      </p:sp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DF2FBEC4-050A-4AB0-AF72-CFB92CEC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3419856"/>
            <a:ext cx="529711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✓  Deterministic metrics, visible sources and human verification.</a:t>
            </a:r>
            <a:endParaRPr sz="950"/>
          </a:p>
        </p:txBody>
      </p:sp>
      <p:sp>
        <p:nvSpPr>
          <p:cNvPr id="44" name="Shape 37">
            <a:extLst xmlns:a="http://schemas.openxmlformats.org/drawingml/2006/main">
              <a:ext uri="{FF2B5EF4-FFF2-40B4-BE49-F238E27FC236}">
                <a16:creationId xmlns:a16="http://schemas.microsoft.com/office/drawing/2014/main" id="{E1FD9B43-26E2-404F-B6F5-A748C124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913632"/>
            <a:ext cx="5736031" cy="822960"/>
          </a:xfrm>
          <a:prstGeom xmlns:a="http://schemas.openxmlformats.org/drawingml/2006/main" prst="roundRect">
            <a:avLst>
              <a:gd name="adj" fmla="val 777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Shape 38">
            <a:extLst xmlns:a="http://schemas.openxmlformats.org/drawingml/2006/main">
              <a:ext uri="{FF2B5EF4-FFF2-40B4-BE49-F238E27FC236}">
                <a16:creationId xmlns:a16="http://schemas.microsoft.com/office/drawing/2014/main" id="{BC176C61-28E3-4995-ADB7-0131EEB6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511" y="4059936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5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BB36659D-F9F3-4DD1-A16C-0918D446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511" y="4059936"/>
            <a:ext cx="7132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 spc="150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MED</a:t>
            </a:r>
            <a:endParaRPr sz="850"/>
          </a:p>
        </p:txBody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84E06C50-9F27-4E01-9938-3EB36B1B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4023360"/>
            <a:ext cx="454731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 governance and access complexity</a:t>
            </a:r>
            <a:endParaRPr sz="1150"/>
          </a:p>
        </p:txBody>
      </p:sp>
      <p:sp>
        <p:nvSpPr>
          <p:cNvPr id="48" name="Text 41">
            <a:extLst xmlns:a="http://schemas.openxmlformats.org/drawingml/2006/main">
              <a:ext uri="{FF2B5EF4-FFF2-40B4-BE49-F238E27FC236}">
                <a16:creationId xmlns:a16="http://schemas.microsoft.com/office/drawing/2014/main" id="{8DE67C67-F04D-4C92-9E0B-667465F0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4352544"/>
            <a:ext cx="529711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✓  Server policy now. Entra ID claims are the pilot target.</a:t>
            </a:r>
            <a:endParaRPr sz="950"/>
          </a:p>
        </p:txBody>
      </p:sp>
      <p:sp>
        <p:nvSpPr>
          <p:cNvPr id="49" name="Shape 42">
            <a:extLst xmlns:a="http://schemas.openxmlformats.org/drawingml/2006/main">
              <a:ext uri="{FF2B5EF4-FFF2-40B4-BE49-F238E27FC236}">
                <a16:creationId xmlns:a16="http://schemas.microsoft.com/office/drawing/2014/main" id="{1BB43CBF-516A-4ECE-93B7-79091EA2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846320"/>
            <a:ext cx="5736031" cy="822960"/>
          </a:xfrm>
          <a:prstGeom xmlns:a="http://schemas.openxmlformats.org/drawingml/2006/main" prst="roundRect">
            <a:avLst>
              <a:gd name="adj" fmla="val 777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Shape 43">
            <a:extLst xmlns:a="http://schemas.openxmlformats.org/drawingml/2006/main">
              <a:ext uri="{FF2B5EF4-FFF2-40B4-BE49-F238E27FC236}">
                <a16:creationId xmlns:a16="http://schemas.microsoft.com/office/drawing/2014/main" id="{5453F981-33D3-4413-B9E3-1B42CBE6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511" y="4992624"/>
            <a:ext cx="713232" cy="25603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>
              <a:alpha val="16000"/>
            </a:srgbClr>
          </a:solidFill>
          <a:ln xmlns:a="http://schemas.openxmlformats.org/drawingml/2006/main" w="9525">
            <a:solidFill>
              <a:srgbClr val="FB7185">
                <a:alpha val="5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Text 44">
            <a:extLst xmlns:a="http://schemas.openxmlformats.org/drawingml/2006/main">
              <a:ext uri="{FF2B5EF4-FFF2-40B4-BE49-F238E27FC236}">
                <a16:creationId xmlns:a16="http://schemas.microsoft.com/office/drawing/2014/main" id="{35B42F8F-EC75-468C-A84A-4DDE330A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511" y="4992624"/>
            <a:ext cx="7132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 spc="150">
                <a:solidFill>
                  <a:srgbClr val="FB7185"/>
                </a:solidFill>
                <a:latin typeface="Segoe UI"/>
                <a:ea typeface="Segoe UI"/>
                <a:cs typeface="Segoe UI"/>
              </a:rPr>
              <a:t>HIGH</a:t>
            </a:r>
            <a:endParaRPr sz="850"/>
          </a:p>
        </p:txBody>
      </p:sp>
      <p:sp>
        <p:nvSpPr>
          <p:cNvPr id="52" name="Text 45">
            <a:extLst xmlns:a="http://schemas.openxmlformats.org/drawingml/2006/main">
              <a:ext uri="{FF2B5EF4-FFF2-40B4-BE49-F238E27FC236}">
                <a16:creationId xmlns:a16="http://schemas.microsoft.com/office/drawing/2014/main" id="{FEEBF67B-0E3F-4A15-920D-8C900EB4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4956048"/>
            <a:ext cx="4547311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Low adoption or limited relevance</a:t>
            </a:r>
            <a:endParaRPr sz="1150"/>
          </a:p>
        </p:txBody>
      </p:sp>
      <p:sp>
        <p:nvSpPr>
          <p:cNvPr id="53" name="Text 46">
            <a:extLst xmlns:a="http://schemas.openxmlformats.org/drawingml/2006/main">
              <a:ext uri="{FF2B5EF4-FFF2-40B4-BE49-F238E27FC236}">
                <a16:creationId xmlns:a16="http://schemas.microsoft.com/office/drawing/2014/main" id="{0880E21E-9574-4083-8C53-820603D9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5285232"/>
            <a:ext cx="529711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✓  Workspace-first entry, brief, watchlist and management view.</a:t>
            </a:r>
            <a:endParaRPr sz="950"/>
          </a:p>
        </p:txBody>
      </p:sp>
      <p:sp>
        <p:nvSpPr>
          <p:cNvPr id="54" name="Shape 47">
            <a:extLst xmlns:a="http://schemas.openxmlformats.org/drawingml/2006/main">
              <a:ext uri="{FF2B5EF4-FFF2-40B4-BE49-F238E27FC236}">
                <a16:creationId xmlns:a16="http://schemas.microsoft.com/office/drawing/2014/main" id="{98685BBE-3103-4683-934E-E458E877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797296"/>
            <a:ext cx="11039551" cy="475488"/>
          </a:xfrm>
          <a:prstGeom xmlns:a="http://schemas.openxmlformats.org/drawingml/2006/main" prst="roundRect">
            <a:avLst>
              <a:gd name="adj" fmla="val 13462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Shape 48">
            <a:extLst xmlns:a="http://schemas.openxmlformats.org/drawingml/2006/main">
              <a:ext uri="{FF2B5EF4-FFF2-40B4-BE49-F238E27FC236}">
                <a16:creationId xmlns:a16="http://schemas.microsoft.com/office/drawing/2014/main" id="{A6DF881B-A82D-405F-8B7C-10798E75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879592"/>
            <a:ext cx="310896" cy="310896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9E0B">
              <a:alpha val="16000"/>
            </a:srgbClr>
          </a:solidFill>
          <a:ln xmlns:a="http://schemas.openxmlformats.org/drawingml/2006/main" w="9525">
            <a:solidFill>
              <a:srgbClr val="F59E0B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6" name="Image 5">
            <a:extLst xmlns:a="http://schemas.openxmlformats.org/drawingml/2006/main">
              <a:ext uri="{FF2B5EF4-FFF2-40B4-BE49-F238E27FC236}">
                <a16:creationId xmlns:a16="http://schemas.microsoft.com/office/drawing/2014/main" id="{29A9FD96-5041-4390-A0F0-37DE833DE8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04a7e3e0443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991" y="5954207"/>
            <a:ext cx="161666" cy="161666"/>
          </a:xfrm>
          <a:prstGeom xmlns:a="http://schemas.openxmlformats.org/drawingml/2006/main" prst="rect">
            <a:avLst/>
          </a:prstGeom>
        </p:spPr>
      </p:pic>
      <p:sp>
        <p:nvSpPr>
          <p:cNvPr id="57" name="Text 49">
            <a:extLst xmlns:a="http://schemas.openxmlformats.org/drawingml/2006/main">
              <a:ext uri="{FF2B5EF4-FFF2-40B4-BE49-F238E27FC236}">
                <a16:creationId xmlns:a16="http://schemas.microsoft.com/office/drawing/2014/main" id="{1A73B6EB-AF66-475C-BBB1-3A63D4E2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97296"/>
            <a:ext cx="1032631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Key gate:  </a:t>
            </a:r>
            <a:r>
              <a:rPr sz="1100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No production connectivity and no autonomous decisions until the security, accuracy and governance gates are passed.</a:t>
            </a:r>
            <a:endParaRPr sz="1100"/>
          </a:p>
        </p:txBody>
      </p:sp>
      <p:sp>
        <p:nvSpPr>
          <p:cNvPr id="58" name="Text 50">
            <a:extLst xmlns:a="http://schemas.openxmlformats.org/drawingml/2006/main">
              <a:ext uri="{FF2B5EF4-FFF2-40B4-BE49-F238E27FC236}">
                <a16:creationId xmlns:a16="http://schemas.microsoft.com/office/drawing/2014/main" id="{A6895B8B-4941-475E-9AD8-A3B8E4E7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59" name="Text 51">
            <a:extLst xmlns:a="http://schemas.openxmlformats.org/drawingml/2006/main">
              <a:ext uri="{FF2B5EF4-FFF2-40B4-BE49-F238E27FC236}">
                <a16:creationId xmlns:a16="http://schemas.microsoft.com/office/drawing/2014/main" id="{BE1A5352-E902-45B5-8DBF-C2A27861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17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9604770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4BB28723-E7E9-47EF-BE80-66642AC822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cfd4b555049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C2A2BAA7-7881-45D9-BCF0-94B99DE9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E27">
              <a:alpha val="2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27B1E776-8338-4DD0-A0DA-1E170C0A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BABA41E-7EB5-4B66-AE50-77D30E49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995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D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0B065EB-694D-4B4A-A40A-0B8CD60C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447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>
              <a:alpha val="7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128FD93-27E8-40C3-84B0-E8E6457C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899" y="56692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BFA">
              <a:alpha val="55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31D69AE-1F82-44DC-8668-2CD5E860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12064"/>
            <a:ext cx="59436" cy="237744"/>
          </a:xfrm>
          <a:prstGeom xmlns:a="http://schemas.openxmlformats.org/drawingml/2006/main" prst="roundRect">
            <a:avLst>
              <a:gd name="adj" fmla="val 49231"/>
            </a:avLst>
          </a:prstGeom>
          <a:gradFill xmlns:a="http://schemas.openxmlformats.org/drawingml/2006/main">
            <a:gsLst>
              <a:gs pos="0">
                <a:srgbClr val="5B8DEF"/>
              </a:gs>
              <a:gs pos="50000">
                <a:srgbClr val="A26BFA"/>
              </a:gs>
              <a:gs pos="100000">
                <a:srgbClr val="3DDDFC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9D478F7-9F9A-43D2-A686-851960EB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57200"/>
            <a:ext cx="108932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30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15 · THE ROADMAP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3C768DE-CB10-42C2-80F4-379317AC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786384"/>
            <a:ext cx="11039551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Roadmap to a governed pilot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0953555-A6EB-44E3-9691-78B4A9BC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71600"/>
            <a:ext cx="1103955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The current Stage 02 demo proves the experience. Each next stage adds production controls only after a defined gate.</a:t>
            </a:r>
            <a:endParaRPr sz="11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F3D2017-0B63-4365-813D-A7F82844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048256"/>
            <a:ext cx="2542032" cy="3127248"/>
          </a:xfrm>
          <a:prstGeom xmlns:a="http://schemas.openxmlformats.org/drawingml/2006/main" prst="roundRect">
            <a:avLst>
              <a:gd name="adj" fmla="val 251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DFEA6A6-D49A-43DF-AA2B-E5E3AC61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942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01</a:t>
            </a:r>
            <a:endParaRPr sz="13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D00D37F-883A-40CE-969E-5324A852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336" y="2615184"/>
            <a:ext cx="603504" cy="60350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" name="Image 1">
            <a:extLst xmlns:a="http://schemas.openxmlformats.org/drawingml/2006/main">
              <a:ext uri="{FF2B5EF4-FFF2-40B4-BE49-F238E27FC236}">
                <a16:creationId xmlns:a16="http://schemas.microsoft.com/office/drawing/2014/main" id="{B6B78177-F39A-481F-AC01-9C073F8820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962d1e35e46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90177" y="2760025"/>
            <a:ext cx="313822" cy="313822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D80BD61-5D4A-4F6D-8FFB-4FF729C2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2286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Stage 02 Demo</a:t>
            </a:r>
            <a:endParaRPr sz="135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A2BCF943-C202-4E14-8367-F531A499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749040"/>
            <a:ext cx="217627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Synthetic files, hosted agent and local safeguards</a:t>
            </a:r>
            <a:endParaRPr sz="10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2BF1D9A-D608-44E1-B320-2EA66CCF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443984"/>
            <a:ext cx="2176272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Gate: demo reliability and reviewer feedback</a:t>
            </a:r>
            <a:endParaRPr sz="9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CD96A65E-D972-4ED2-B2A7-B11EE02F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528" y="3429000"/>
            <a:ext cx="36362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→</a:t>
            </a:r>
            <a:endParaRPr sz="15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09832674-84E6-4034-AA33-4A87C9EA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578" y="2048256"/>
            <a:ext cx="2542032" cy="3127248"/>
          </a:xfrm>
          <a:prstGeom xmlns:a="http://schemas.openxmlformats.org/drawingml/2006/main" prst="roundRect">
            <a:avLst>
              <a:gd name="adj" fmla="val 251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E84FC906-3E0C-4124-B023-07E5D66E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746" y="224942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02</a:t>
            </a:r>
            <a:endParaRPr sz="13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34CB201-3D4E-466A-8C55-85036D46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842" y="2615184"/>
            <a:ext cx="603504" cy="60350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3" name="Image 2">
            <a:extLst xmlns:a="http://schemas.openxmlformats.org/drawingml/2006/main">
              <a:ext uri="{FF2B5EF4-FFF2-40B4-BE49-F238E27FC236}">
                <a16:creationId xmlns:a16="http://schemas.microsoft.com/office/drawing/2014/main" id="{26C0955C-19AE-40BA-8D38-08C4F1F3CF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b88fcf7e249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2683" y="2760025"/>
            <a:ext cx="313822" cy="313822"/>
          </a:xfrm>
          <a:prstGeom xmlns:a="http://schemas.openxmlformats.org/drawingml/2006/main" prst="rect">
            <a:avLst/>
          </a:prstGeom>
        </p:spPr>
      </p:pic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A61D21A7-785D-41FE-A0F8-85B2CED6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594" y="3364992"/>
            <a:ext cx="2286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Controlled Pilot</a:t>
            </a:r>
            <a:endParaRPr sz="1350"/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AE258D8D-28D0-437D-A19F-BA108C05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458" y="3749040"/>
            <a:ext cx="217627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Real users and approved read-only sources</a:t>
            </a:r>
            <a:endParaRPr sz="1000"/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F7D17475-3402-4C67-BD9D-B0E6FFD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458" y="4443984"/>
            <a:ext cx="2176272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Gate: adoption, accuracy, security and latency</a:t>
            </a:r>
            <a:endParaRPr sz="900"/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860198C4-EBDE-416B-AA7C-B181D1BD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034" y="3429000"/>
            <a:ext cx="36362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→</a:t>
            </a:r>
            <a:endParaRPr sz="1500"/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47AA3D8-5528-44BD-800A-4FF065A1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085" y="2048256"/>
            <a:ext cx="2542032" cy="3127248"/>
          </a:xfrm>
          <a:prstGeom xmlns:a="http://schemas.openxmlformats.org/drawingml/2006/main" prst="roundRect">
            <a:avLst>
              <a:gd name="adj" fmla="val 251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8F8678BE-17E6-4EF4-B05B-9CDE7531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253" y="224942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5B8DEF"/>
                </a:solidFill>
                <a:latin typeface="Segoe UI"/>
                <a:ea typeface="Segoe UI"/>
                <a:cs typeface="Segoe UI"/>
              </a:rPr>
              <a:t>03</a:t>
            </a:r>
            <a:endParaRPr sz="1300"/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0354D282-5936-4D56-A7C2-1E687CAF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349" y="2615184"/>
            <a:ext cx="603504" cy="60350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A26BFA">
              <a:alpha val="16000"/>
            </a:srgbClr>
          </a:solidFill>
          <a:ln xmlns:a="http://schemas.openxmlformats.org/drawingml/2006/main"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1" name="Image 3">
            <a:extLst xmlns:a="http://schemas.openxmlformats.org/drawingml/2006/main">
              <a:ext uri="{FF2B5EF4-FFF2-40B4-BE49-F238E27FC236}">
                <a16:creationId xmlns:a16="http://schemas.microsoft.com/office/drawing/2014/main" id="{3240372C-B8AC-4FEF-A611-04FF7D2EAD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e525aabcc40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5190" y="2760025"/>
            <a:ext cx="313822" cy="313822"/>
          </a:xfrm>
          <a:prstGeom xmlns:a="http://schemas.openxmlformats.org/drawingml/2006/main" prst="rect">
            <a:avLst/>
          </a:prstGeom>
        </p:spPr>
      </p:pic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2E8F2DCB-25C0-45C7-BF70-A6F7D68E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101" y="3364992"/>
            <a:ext cx="2286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Governed Expansion</a:t>
            </a:r>
            <a:endParaRPr sz="1350"/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6CFA332F-FD69-4512-A964-23527BD9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965" y="3749040"/>
            <a:ext cx="217627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Role-based access across approved domains</a:t>
            </a:r>
            <a:endParaRPr sz="1000"/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3D3B2F1A-DB33-45FF-9AC4-AEC6C69C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965" y="4443984"/>
            <a:ext cx="2176272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5B8DEF"/>
                </a:solidFill>
                <a:latin typeface="Segoe UI"/>
                <a:ea typeface="Segoe UI"/>
                <a:cs typeface="Segoe UI"/>
              </a:rPr>
              <a:t>Gate: governance approval &amp; support readiness</a:t>
            </a:r>
            <a:endParaRPr sz="900"/>
          </a:p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E25C85A2-F6C7-4934-BE6B-D2D184DE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6541" y="3429000"/>
            <a:ext cx="36362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→</a:t>
            </a:r>
            <a:endParaRPr sz="1500"/>
          </a:p>
        </p:txBody>
      </p:sp>
      <p:sp>
        <p:nvSpPr>
          <p:cNvPr id="36" name="Shape 30">
            <a:extLst xmlns:a="http://schemas.openxmlformats.org/drawingml/2006/main">
              <a:ext uri="{FF2B5EF4-FFF2-40B4-BE49-F238E27FC236}">
                <a16:creationId xmlns:a16="http://schemas.microsoft.com/office/drawing/2014/main" id="{A5FFAF32-BDC6-4FAD-B567-5ED228A0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591" y="2048256"/>
            <a:ext cx="2542032" cy="3127248"/>
          </a:xfrm>
          <a:prstGeom xmlns:a="http://schemas.openxmlformats.org/drawingml/2006/main" prst="roundRect">
            <a:avLst>
              <a:gd name="adj" fmla="val 251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B9F6A1B9-23F2-4EA7-AED1-D88991CE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759" y="2249424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04</a:t>
            </a:r>
            <a:endParaRPr sz="1300"/>
          </a:p>
        </p:txBody>
      </p:sp>
      <p:sp>
        <p:nvSpPr>
          <p:cNvPr id="38" name="Shape 32">
            <a:extLst xmlns:a="http://schemas.openxmlformats.org/drawingml/2006/main">
              <a:ext uri="{FF2B5EF4-FFF2-40B4-BE49-F238E27FC236}">
                <a16:creationId xmlns:a16="http://schemas.microsoft.com/office/drawing/2014/main" id="{7B48056F-B851-4E62-ABDB-6139FC8C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855" y="2615184"/>
            <a:ext cx="603504" cy="60350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4ADE80">
              <a:alpha val="16000"/>
            </a:srgbClr>
          </a:solidFill>
          <a:ln xmlns:a="http://schemas.openxmlformats.org/drawingml/2006/main" w="9525">
            <a:solidFill>
              <a:srgbClr val="4ADE80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9" name="Image 4">
            <a:extLst xmlns:a="http://schemas.openxmlformats.org/drawingml/2006/main">
              <a:ext uri="{FF2B5EF4-FFF2-40B4-BE49-F238E27FC236}">
                <a16:creationId xmlns:a16="http://schemas.microsoft.com/office/drawing/2014/main" id="{2F9834B0-17A5-4A70-B263-2E8CA18728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b1606f7974f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87696" y="2760025"/>
            <a:ext cx="313822" cy="313822"/>
          </a:xfrm>
          <a:prstGeom xmlns:a="http://schemas.openxmlformats.org/drawingml/2006/main" prst="rect">
            <a:avLst/>
          </a:prstGeom>
        </p:spPr>
      </p:pic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EE9D5BF8-5826-431E-8858-FC64454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607" y="3364992"/>
            <a:ext cx="2286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Enterprise Service</a:t>
            </a:r>
            <a:endParaRPr sz="1350"/>
          </a:p>
        </p:txBody>
      </p:sp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F618CA9E-0B0B-4DD0-95E1-51DA7B48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6471" y="3749040"/>
            <a:ext cx="217627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Monitored service, continuous improvement</a:t>
            </a:r>
            <a:endParaRPr sz="1000"/>
          </a:p>
        </p:txBody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5201CA4A-E968-4699-802B-11717ED6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6471" y="4443984"/>
            <a:ext cx="2176272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4ADE80"/>
                </a:solidFill>
                <a:latin typeface="Segoe UI"/>
                <a:ea typeface="Segoe UI"/>
                <a:cs typeface="Segoe UI"/>
              </a:rPr>
              <a:t>Gate: service levels &amp; sustained value</a:t>
            </a:r>
            <a:endParaRPr sz="900"/>
          </a:p>
        </p:txBody>
      </p:sp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7800DD8D-1280-4ED1-8845-9C2EE9A1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541264"/>
            <a:ext cx="11039551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Approval requested: controlled pilot scope, named data owners, security review, Entra ID integration and success measures.</a:t>
            </a:r>
            <a:endParaRPr sz="1350"/>
          </a:p>
        </p:txBody>
      </p:sp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9E3D7E52-C268-4037-917A-DA3D8220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645566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5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IQ</a:t>
            </a:r>
            <a:r>
              <a:rPr sz="975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D5149B19-F90E-4809-B18E-4D62B03C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18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3669390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0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5BA8BD81-5E92-4594-9509-C219EB4D8E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f1f634e5146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C83337C-1BA4-446F-B2F1-A0322290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0E27">
                  <a:alpha val="0"/>
                </a:srgbClr>
              </a:gs>
              <a:gs pos="50000">
                <a:srgbClr val="0A0E27">
                  <a:alpha val="35000"/>
                </a:srgbClr>
              </a:gs>
              <a:gs pos="100000">
                <a:srgbClr val="0A0E27">
                  <a:alpha val="70000"/>
                </a:srgbClr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C53176DF-7E34-4990-9CBE-E7A943E7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896112"/>
            <a:ext cx="2103120" cy="34747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DDFC">
              <a:alpha val="14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0895CCA-0BB4-4B73-9620-0496166E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896112"/>
            <a:ext cx="21031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 spc="25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THE NEXT HORIZON</a:t>
            </a:r>
            <a:endParaRPr sz="10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054A62B-7862-4443-8DC9-95088CBC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335024"/>
            <a:ext cx="100584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600" b="1">
                <a:solidFill>
                  <a:srgbClr val="E8ECFF"/>
                </a:solidFill>
                <a:latin typeface="Segoe UI"/>
                <a:ea typeface="Segoe UI"/>
                <a:cs typeface="Segoe UI"/>
              </a:rPr>
              <a:t>Intelligent </a:t>
            </a:r>
            <a:r>
              <a:rPr sz="5600" b="1">
                <a:gradFill>
                  <a:gsLst>
                    <a:gs pos="0">
                      <a:srgbClr val="5B8DEF"/>
                    </a:gs>
                    <a:gs pos="50000">
                      <a:srgbClr val="A26BFA"/>
                    </a:gs>
                    <a:gs pos="100000">
                      <a:srgbClr val="3DDDFC"/>
                    </a:gs>
                  </a:gsLst>
                  <a:lin ang="0" scaled="1"/>
                </a:gradFill>
                <a:latin typeface="Segoe UI"/>
                <a:ea typeface="Segoe UI"/>
                <a:cs typeface="Segoe UI"/>
              </a:rPr>
              <a:t>Exchange</a:t>
            </a:r>
            <a:endParaRPr sz="5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8B27FD8-992A-4E27-9BEE-B4CFDEDE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432304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From Answering to Anticipating.</a:t>
            </a:r>
            <a:endParaRPr sz="2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4DBE2F3-3B3F-4B97-ABCD-6C6FC121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962656"/>
            <a:ext cx="950976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BursaIQ: Bold in Innovation, United in Purpose, Responsible by Design, Strengthened through Synergy and Agile in Every Decision</a:t>
            </a:r>
            <a:endParaRPr sz="12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3D356DA-6907-49FB-96DF-D58CD58E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114800"/>
            <a:ext cx="2587752" cy="1554480"/>
          </a:xfrm>
          <a:prstGeom xmlns:a="http://schemas.openxmlformats.org/drawingml/2006/main" prst="roundRect">
            <a:avLst>
              <a:gd name="adj" fmla="val 411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CB36444-929A-4757-99A8-DA5C7D9C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97680"/>
            <a:ext cx="420624" cy="42062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" name="Image 1">
            <a:extLst xmlns:a="http://schemas.openxmlformats.org/drawingml/2006/main">
              <a:ext uri="{FF2B5EF4-FFF2-40B4-BE49-F238E27FC236}">
                <a16:creationId xmlns:a16="http://schemas.microsoft.com/office/drawing/2014/main" id="{0A94515B-A3AC-4513-B3A1-AB56E00EBB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3da6eb51c49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190" y="4398630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9194828-DC40-4FBF-BE83-0F5CFF88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4297680"/>
            <a:ext cx="170992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16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ANTICIPATE</a:t>
            </a:r>
            <a:endParaRPr sz="125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451C5F5-2B1B-4F0E-8BA7-425BBE3E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864608"/>
            <a:ext cx="214884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Insight arrives before the question</a:t>
            </a:r>
            <a:endParaRPr sz="10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CCC5487-CF60-41BB-8600-F0D0966F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338" y="4114800"/>
            <a:ext cx="2587752" cy="1554480"/>
          </a:xfrm>
          <a:prstGeom xmlns:a="http://schemas.openxmlformats.org/drawingml/2006/main" prst="roundRect">
            <a:avLst>
              <a:gd name="adj" fmla="val 411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E385BDB-38E5-4373-A6C8-90EA9CEA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506" y="4297680"/>
            <a:ext cx="420624" cy="42062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A26BFA">
              <a:alpha val="16000"/>
            </a:srgbClr>
          </a:solidFill>
          <a:ln xmlns:a="http://schemas.openxmlformats.org/drawingml/2006/main" w="9525">
            <a:solidFill>
              <a:srgbClr val="A26BFA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" name="Image 2">
            <a:extLst xmlns:a="http://schemas.openxmlformats.org/drawingml/2006/main">
              <a:ext uri="{FF2B5EF4-FFF2-40B4-BE49-F238E27FC236}">
                <a16:creationId xmlns:a16="http://schemas.microsoft.com/office/drawing/2014/main" id="{CE5F5398-49F8-4448-94B2-D97D952F88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1f8a86bf34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5456" y="4398630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C4A1DAF8-50B9-40B2-BA40-30518A2C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858" y="4297680"/>
            <a:ext cx="170992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160">
                <a:solidFill>
                  <a:srgbClr val="A26BFA"/>
                </a:solidFill>
                <a:latin typeface="Segoe UI"/>
                <a:ea typeface="Segoe UI"/>
                <a:cs typeface="Segoe UI"/>
              </a:rPr>
              <a:t>ADVISE</a:t>
            </a:r>
            <a:endParaRPr sz="125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AD2E4F9E-2CBC-4B73-9337-1450A978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794" y="4864608"/>
            <a:ext cx="214884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Understanding at every level and language</a:t>
            </a:r>
            <a:endParaRPr sz="10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AAE171F6-83D1-4109-895E-B52317CA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605" y="4114800"/>
            <a:ext cx="2587752" cy="1554480"/>
          </a:xfrm>
          <a:prstGeom xmlns:a="http://schemas.openxmlformats.org/drawingml/2006/main" prst="roundRect">
            <a:avLst>
              <a:gd name="adj" fmla="val 411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C3F9DBC6-0356-4EB5-B043-E38DCE7B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773" y="4297680"/>
            <a:ext cx="420624" cy="42062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5B8DEF">
              <a:alpha val="16000"/>
            </a:srgbClr>
          </a:solidFill>
          <a:ln xmlns:a="http://schemas.openxmlformats.org/drawingml/2006/main" w="9525">
            <a:solidFill>
              <a:srgbClr val="5B8DEF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Image 3">
            <a:extLst xmlns:a="http://schemas.openxmlformats.org/drawingml/2006/main">
              <a:ext uri="{FF2B5EF4-FFF2-40B4-BE49-F238E27FC236}">
                <a16:creationId xmlns:a16="http://schemas.microsoft.com/office/drawing/2014/main" id="{88ED0F35-F47D-4242-832B-DD9FD63615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4cc53c80643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2723" y="4398630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5952D4FE-7A37-4543-95D4-0DA7B604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125" y="4297680"/>
            <a:ext cx="170992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160">
                <a:solidFill>
                  <a:srgbClr val="5B8DEF"/>
                </a:solidFill>
                <a:latin typeface="Segoe UI"/>
                <a:ea typeface="Segoe UI"/>
                <a:cs typeface="Segoe UI"/>
              </a:rPr>
              <a:t>AUTOMATE</a:t>
            </a:r>
            <a:endParaRPr sz="125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50529E90-56C0-47D1-8303-AEADD27A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061" y="4864608"/>
            <a:ext cx="214884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Answers become finished, formatted report</a:t>
            </a:r>
            <a:endParaRPr sz="10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229E01FD-4A26-440E-B9CA-91796A0F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871" y="4114800"/>
            <a:ext cx="2587752" cy="1554480"/>
          </a:xfrm>
          <a:prstGeom xmlns:a="http://schemas.openxmlformats.org/drawingml/2006/main" prst="roundRect">
            <a:avLst>
              <a:gd name="adj" fmla="val 4118"/>
            </a:avLst>
          </a:prstGeom>
          <a:gradFill xmlns:a="http://schemas.openxmlformats.org/drawingml/2006/main">
            <a:gsLst>
              <a:gs pos="0">
                <a:srgbClr val="1A2150">
                  <a:alpha val="70000"/>
                </a:srgbClr>
              </a:gs>
              <a:gs pos="100000">
                <a:srgbClr val="1A2150">
                  <a:alpha val="35000"/>
                </a:srgbClr>
              </a:gs>
            </a:gsLst>
            <a:lin ang="5400000" scaled="1"/>
          </a:gra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331F922B-4B9D-43E6-8E92-840E7CE8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039" y="4297680"/>
            <a:ext cx="420624" cy="420624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3DDDFC">
              <a:alpha val="16000"/>
            </a:srgbClr>
          </a:solidFill>
          <a:ln xmlns:a="http://schemas.openxmlformats.org/drawingml/2006/main" w="9525">
            <a:solidFill>
              <a:srgbClr val="3DDDF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6" name="Image 4">
            <a:extLst xmlns:a="http://schemas.openxmlformats.org/drawingml/2006/main">
              <a:ext uri="{FF2B5EF4-FFF2-40B4-BE49-F238E27FC236}">
                <a16:creationId xmlns:a16="http://schemas.microsoft.com/office/drawing/2014/main" id="{D694E917-8106-4EC1-A9C7-1F2ED7BFF8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aa87865fb44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9989" y="4398630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FF944273-D49B-41F7-97DF-A27234E3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391" y="4297680"/>
            <a:ext cx="170992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160">
                <a:solidFill>
                  <a:srgbClr val="3DDDFC"/>
                </a:solidFill>
                <a:latin typeface="Segoe UI"/>
                <a:ea typeface="Segoe UI"/>
                <a:cs typeface="Segoe UI"/>
              </a:rPr>
              <a:t>AMPLIFY</a:t>
            </a:r>
            <a:endParaRPr sz="125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A5F8377A-B315-4F95-92BD-E83BB7AE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7327" y="4864608"/>
            <a:ext cx="214884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A8B0D0"/>
                </a:solidFill>
                <a:latin typeface="Segoe UI"/>
                <a:ea typeface="Segoe UI"/>
                <a:cs typeface="Segoe UI"/>
              </a:rPr>
              <a:t>One answer lifts the whole organisation</a:t>
            </a:r>
            <a:endParaRPr sz="1000"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D89B03C8-2361-406B-BA3C-22E96584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23" y="645566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75" b="1">
                <a:solidFill>
                  <a:srgbClr val="6B7299"/>
                </a:solidFill>
                <a:latin typeface="Segoe UI"/>
                <a:ea typeface="Segoe UI"/>
                <a:cs typeface="Segoe UI"/>
              </a:rPr>
              <a:t>19 / 19</a:t>
            </a:r>
            <a:endParaRPr sz="975"/>
          </a:p>
        </p:txBody>
      </p:sp>
    </p:spTree>
    <p:extLst>
      <p:ext uri="{BB962C8B-B14F-4D97-AF65-F5344CB8AC3E}">
        <p14:creationId xmlns:p14="http://schemas.microsoft.com/office/powerpoint/2010/main" val="15488253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2026-10-09T13:28:09.6200000Z</dcterms:created>
  <dcterms:modified xsi:type="dcterms:W3CDTF">2026-10-09T13:28:09.6200000Z</dcterms:modified>
</coreProperties>
</file>