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 Hoong Lim" userId="57f793da-26ee-4737-a350-362f758925b5" providerId="ADAL" clId="{8D656896-5C97-4001-B781-75B10E91A84D}"/>
    <pc:docChg chg="undo custSel mod modSld">
      <pc:chgData name="Kim Hoong Lim" userId="57f793da-26ee-4737-a350-362f758925b5" providerId="ADAL" clId="{8D656896-5C97-4001-B781-75B10E91A84D}" dt="2026-08-14T04:27:14.677" v="155" actId="20577"/>
      <pc:docMkLst>
        <pc:docMk/>
      </pc:docMkLst>
      <pc:sldChg chg="addSp modSp mod">
        <pc:chgData name="Kim Hoong Lim" userId="57f793da-26ee-4737-a350-362f758925b5" providerId="ADAL" clId="{8D656896-5C97-4001-B781-75B10E91A84D}" dt="2026-08-13T03:22:00.572" v="8" actId="164"/>
        <pc:sldMkLst>
          <pc:docMk/>
          <pc:sldMk cId="0" sldId="256"/>
        </pc:sldMkLst>
        <pc:spChg chg="mod">
          <ac:chgData name="Kim Hoong Lim" userId="57f793da-26ee-4737-a350-362f758925b5" providerId="ADAL" clId="{8D656896-5C97-4001-B781-75B10E91A84D}" dt="2026-08-13T03:22:00.572" v="8" actId="164"/>
          <ac:spMkLst>
            <pc:docMk/>
            <pc:sldMk cId="0" sldId="256"/>
            <ac:spMk id="4" creationId="{00000000-0000-0000-0000-000000000000}"/>
          </ac:spMkLst>
        </pc:spChg>
        <pc:spChg chg="mod">
          <ac:chgData name="Kim Hoong Lim" userId="57f793da-26ee-4737-a350-362f758925b5" providerId="ADAL" clId="{8D656896-5C97-4001-B781-75B10E91A84D}" dt="2026-08-13T03:22:00.572" v="8" actId="164"/>
          <ac:spMkLst>
            <pc:docMk/>
            <pc:sldMk cId="0" sldId="256"/>
            <ac:spMk id="5" creationId="{00000000-0000-0000-0000-000000000000}"/>
          </ac:spMkLst>
        </pc:spChg>
        <pc:grpChg chg="add mod">
          <ac:chgData name="Kim Hoong Lim" userId="57f793da-26ee-4737-a350-362f758925b5" providerId="ADAL" clId="{8D656896-5C97-4001-B781-75B10E91A84D}" dt="2026-08-13T03:22:00.572" v="8" actId="164"/>
          <ac:grpSpMkLst>
            <pc:docMk/>
            <pc:sldMk cId="0" sldId="256"/>
            <ac:grpSpMk id="22" creationId="{C765AC29-C6F2-BBBA-B62F-47FF17610114}"/>
          </ac:grpSpMkLst>
        </pc:grpChg>
      </pc:sldChg>
      <pc:sldChg chg="modSp mod">
        <pc:chgData name="Kim Hoong Lim" userId="57f793da-26ee-4737-a350-362f758925b5" providerId="ADAL" clId="{8D656896-5C97-4001-B781-75B10E91A84D}" dt="2026-08-14T04:27:14.677" v="155" actId="20577"/>
        <pc:sldMkLst>
          <pc:docMk/>
          <pc:sldMk cId="0" sldId="264"/>
        </pc:sldMkLst>
        <pc:spChg chg="mod">
          <ac:chgData name="Kim Hoong Lim" userId="57f793da-26ee-4737-a350-362f758925b5" providerId="ADAL" clId="{8D656896-5C97-4001-B781-75B10E91A84D}" dt="2026-08-14T04:27:14.677" v="155" actId="20577"/>
          <ac:spMkLst>
            <pc:docMk/>
            <pc:sldMk cId="0" sldId="264"/>
            <ac:spMk id="34" creationId="{00000000-0000-0000-0000-000000000000}"/>
          </ac:spMkLst>
        </pc:spChg>
      </pc:sldChg>
      <pc:sldChg chg="modSp mod">
        <pc:chgData name="Kim Hoong Lim" userId="57f793da-26ee-4737-a350-362f758925b5" providerId="ADAL" clId="{8D656896-5C97-4001-B781-75B10E91A84D}" dt="2026-08-13T07:45:31.069" v="51" actId="20577"/>
        <pc:sldMkLst>
          <pc:docMk/>
          <pc:sldMk cId="0" sldId="267"/>
        </pc:sldMkLst>
        <pc:spChg chg="mod">
          <ac:chgData name="Kim Hoong Lim" userId="57f793da-26ee-4737-a350-362f758925b5" providerId="ADAL" clId="{8D656896-5C97-4001-B781-75B10E91A84D}" dt="2026-08-13T07:44:25.792" v="12" actId="20577"/>
          <ac:spMkLst>
            <pc:docMk/>
            <pc:sldMk cId="0" sldId="267"/>
            <ac:spMk id="16" creationId="{00000000-0000-0000-0000-000000000000}"/>
          </ac:spMkLst>
        </pc:spChg>
        <pc:spChg chg="mod">
          <ac:chgData name="Kim Hoong Lim" userId="57f793da-26ee-4737-a350-362f758925b5" providerId="ADAL" clId="{8D656896-5C97-4001-B781-75B10E91A84D}" dt="2026-08-13T07:44:32.288" v="18" actId="20577"/>
          <ac:spMkLst>
            <pc:docMk/>
            <pc:sldMk cId="0" sldId="267"/>
            <ac:spMk id="22" creationId="{00000000-0000-0000-0000-000000000000}"/>
          </ac:spMkLst>
        </pc:spChg>
        <pc:spChg chg="mod">
          <ac:chgData name="Kim Hoong Lim" userId="57f793da-26ee-4737-a350-362f758925b5" providerId="ADAL" clId="{8D656896-5C97-4001-B781-75B10E91A84D}" dt="2026-08-13T07:44:37.429" v="25" actId="20577"/>
          <ac:spMkLst>
            <pc:docMk/>
            <pc:sldMk cId="0" sldId="267"/>
            <ac:spMk id="28" creationId="{00000000-0000-0000-0000-000000000000}"/>
          </ac:spMkLst>
        </pc:spChg>
        <pc:spChg chg="mod">
          <ac:chgData name="Kim Hoong Lim" userId="57f793da-26ee-4737-a350-362f758925b5" providerId="ADAL" clId="{8D656896-5C97-4001-B781-75B10E91A84D}" dt="2026-08-13T07:44:43.702" v="34" actId="20577"/>
          <ac:spMkLst>
            <pc:docMk/>
            <pc:sldMk cId="0" sldId="267"/>
            <ac:spMk id="34" creationId="{00000000-0000-0000-0000-000000000000}"/>
          </ac:spMkLst>
        </pc:spChg>
        <pc:spChg chg="mod">
          <ac:chgData name="Kim Hoong Lim" userId="57f793da-26ee-4737-a350-362f758925b5" providerId="ADAL" clId="{8D656896-5C97-4001-B781-75B10E91A84D}" dt="2026-08-13T07:45:04.587" v="42" actId="20577"/>
          <ac:spMkLst>
            <pc:docMk/>
            <pc:sldMk cId="0" sldId="267"/>
            <ac:spMk id="35" creationId="{00000000-0000-0000-0000-000000000000}"/>
          </ac:spMkLst>
        </pc:spChg>
        <pc:spChg chg="mod">
          <ac:chgData name="Kim Hoong Lim" userId="57f793da-26ee-4737-a350-362f758925b5" providerId="ADAL" clId="{8D656896-5C97-4001-B781-75B10E91A84D}" dt="2026-08-13T07:45:31.069" v="51" actId="20577"/>
          <ac:spMkLst>
            <pc:docMk/>
            <pc:sldMk cId="0" sldId="267"/>
            <ac:spMk id="49" creationId="{00000000-0000-0000-0000-000000000000}"/>
          </ac:spMkLst>
        </pc:spChg>
      </pc:sldChg>
      <pc:sldChg chg="modSp mod">
        <pc:chgData name="Kim Hoong Lim" userId="57f793da-26ee-4737-a350-362f758925b5" providerId="ADAL" clId="{8D656896-5C97-4001-B781-75B10E91A84D}" dt="2026-08-13T03:21:31.387" v="3" actId="1076"/>
        <pc:sldMkLst>
          <pc:docMk/>
          <pc:sldMk cId="0" sldId="274"/>
        </pc:sldMkLst>
        <pc:spChg chg="mod">
          <ac:chgData name="Kim Hoong Lim" userId="57f793da-26ee-4737-a350-362f758925b5" providerId="ADAL" clId="{8D656896-5C97-4001-B781-75B10E91A84D}" dt="2026-08-13T03:21:31.387" v="3" actId="1076"/>
          <ac:spMkLst>
            <pc:docMk/>
            <pc:sldMk cId="0" sldId="274"/>
            <ac:spMk id="3" creationId="{00000000-0000-0000-0000-000000000000}"/>
          </ac:spMkLst>
        </pc:spChg>
        <pc:picChg chg="mod">
          <ac:chgData name="Kim Hoong Lim" userId="57f793da-26ee-4737-a350-362f758925b5" providerId="ADAL" clId="{8D656896-5C97-4001-B781-75B10E91A84D}" dt="2026-08-13T03:21:30.521" v="2" actId="1076"/>
          <ac:picMkLst>
            <pc:docMk/>
            <pc:sldMk cId="0" sldId="274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902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5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3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49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6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65AC29-C6F2-BBBA-B62F-47FF17610114}"/>
              </a:ext>
            </a:extLst>
          </p:cNvPr>
          <p:cNvGrpSpPr/>
          <p:nvPr/>
        </p:nvGrpSpPr>
        <p:grpSpPr>
          <a:xfrm>
            <a:off x="576072" y="521208"/>
            <a:ext cx="2788920" cy="347472"/>
            <a:chOff x="576072" y="521208"/>
            <a:chExt cx="2788920" cy="347472"/>
          </a:xfrm>
        </p:grpSpPr>
        <p:sp>
          <p:nvSpPr>
            <p:cNvPr id="4" name="Shape 1"/>
            <p:cNvSpPr/>
            <p:nvPr/>
          </p:nvSpPr>
          <p:spPr>
            <a:xfrm>
              <a:off x="576072" y="521208"/>
              <a:ext cx="2788920" cy="347472"/>
            </a:xfrm>
            <a:prstGeom prst="roundRect">
              <a:avLst>
                <a:gd name="adj" fmla="val 50000"/>
              </a:avLst>
            </a:prstGeom>
            <a:solidFill>
              <a:srgbClr val="3DDDFC">
                <a:alpha val="14000"/>
              </a:srgbClr>
            </a:solidFill>
            <a:ln w="9525">
              <a:solidFill>
                <a:srgbClr val="3DDDFC">
                  <a:alpha val="45000"/>
                </a:srgbClr>
              </a:solidFill>
              <a:prstDash val="solid"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Text 2"/>
            <p:cNvSpPr/>
            <p:nvPr/>
          </p:nvSpPr>
          <p:spPr>
            <a:xfrm>
              <a:off x="576072" y="521208"/>
              <a:ext cx="27889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250" dirty="0">
                  <a:solidFill>
                    <a:srgbClr val="3DDDF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PROMPT-A-THON 2026</a:t>
              </a:r>
              <a:endParaRPr lang="en-US" sz="1000" dirty="0"/>
            </a:p>
          </p:txBody>
        </p:sp>
      </p:grpSp>
      <p:sp>
        <p:nvSpPr>
          <p:cNvPr id="6" name="Text 3"/>
          <p:cNvSpPr/>
          <p:nvPr/>
        </p:nvSpPr>
        <p:spPr>
          <a:xfrm>
            <a:off x="576072" y="1389888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7200" b="1" dirty="0">
                <a:gradFill>
                  <a:gsLst>
                    <a:gs pos="0">
                      <a:srgbClr val="5B8DEF"/>
                    </a:gs>
                    <a:gs pos="50000">
                      <a:srgbClr val="A26BFA"/>
                    </a:gs>
                    <a:gs pos="100000">
                      <a:srgbClr val="3DDDFC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576072" y="2651760"/>
            <a:ext cx="8778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Escalating Experts to Empowering Everyone in the Exchange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6072" y="34015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conversational market-intelligence assistant that helps every Warga Bursa ask, understand and decide with confidence.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76072" y="4370832"/>
            <a:ext cx="1298448" cy="420624"/>
          </a:xfrm>
          <a:prstGeom prst="roundRect">
            <a:avLst>
              <a:gd name="adj" fmla="val 50000"/>
            </a:avLst>
          </a:prstGeom>
          <a:solidFill>
            <a:srgbClr val="3DDDFC">
              <a:alpha val="18000"/>
            </a:srgbClr>
          </a:solidFill>
          <a:ln w="9525">
            <a:solidFill>
              <a:srgbClr val="3DDDF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7"/>
          <p:cNvSpPr/>
          <p:nvPr/>
        </p:nvSpPr>
        <p:spPr>
          <a:xfrm>
            <a:off x="576072" y="437083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92808" y="43708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295144" y="4370832"/>
            <a:ext cx="1298448" cy="420624"/>
          </a:xfrm>
          <a:prstGeom prst="roundRect">
            <a:avLst>
              <a:gd name="adj" fmla="val 50000"/>
            </a:avLst>
          </a:prstGeom>
          <a:solidFill>
            <a:srgbClr val="A26BFA">
              <a:alpha val="18000"/>
            </a:srgbClr>
          </a:solidFill>
          <a:ln w="9525">
            <a:solidFill>
              <a:srgbClr val="A26BF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2295144" y="437083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11880" y="43708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14216" y="4370832"/>
            <a:ext cx="1298448" cy="420624"/>
          </a:xfrm>
          <a:prstGeom prst="roundRect">
            <a:avLst>
              <a:gd name="adj" fmla="val 50000"/>
            </a:avLst>
          </a:prstGeom>
          <a:solidFill>
            <a:srgbClr val="5B8DEF">
              <a:alpha val="18000"/>
            </a:srgbClr>
          </a:solidFill>
          <a:ln w="9525">
            <a:solidFill>
              <a:srgbClr val="5B8DE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3"/>
          <p:cNvSpPr/>
          <p:nvPr/>
        </p:nvSpPr>
        <p:spPr>
          <a:xfrm>
            <a:off x="4014216" y="437083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30952" y="43708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733288" y="4370832"/>
            <a:ext cx="1298448" cy="420624"/>
          </a:xfrm>
          <a:prstGeom prst="roundRect">
            <a:avLst>
              <a:gd name="adj" fmla="val 5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6"/>
          <p:cNvSpPr/>
          <p:nvPr/>
        </p:nvSpPr>
        <p:spPr>
          <a:xfrm>
            <a:off x="5733288" y="437083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 Malaysia</a:t>
            </a:r>
            <a:r>
              <a:rPr lang="en-US" sz="975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July 2026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19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2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 · THE TEAM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minds. One mission.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strengths, one shared direction — People behind BursaIQ.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2148840"/>
            <a:ext cx="3429000" cy="2880360"/>
          </a:xfrm>
          <a:prstGeom prst="roundRect">
            <a:avLst>
              <a:gd name="adj" fmla="val 222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832104" y="2386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906524" y="2807208"/>
            <a:ext cx="768096" cy="768096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assets/icons/LuUserRoun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867" y="2991551"/>
            <a:ext cx="399410" cy="3994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8952" y="375818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 Kim Hoong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8952" y="42153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GCMC   ·   Age 27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381348" y="2148840"/>
            <a:ext cx="3429000" cy="2880360"/>
          </a:xfrm>
          <a:prstGeom prst="roundRect">
            <a:avLst>
              <a:gd name="adj" fmla="val 222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4637380" y="2386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711800" y="2807208"/>
            <a:ext cx="768096" cy="768096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2" descr="assets/icons/LuUserRound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143" y="2991551"/>
            <a:ext cx="399410" cy="39941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64228" y="375818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Abby Tiew Mei Qing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4564228" y="42153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GCMC   ·   Age 28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186623" y="2148840"/>
            <a:ext cx="3429000" cy="2880360"/>
          </a:xfrm>
          <a:prstGeom prst="roundRect">
            <a:avLst>
              <a:gd name="adj" fmla="val 222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Text 20"/>
          <p:cNvSpPr/>
          <p:nvPr/>
        </p:nvSpPr>
        <p:spPr>
          <a:xfrm>
            <a:off x="8442655" y="2386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517075" y="2807208"/>
            <a:ext cx="768096" cy="768096"/>
          </a:xfrm>
          <a:prstGeom prst="roundRect">
            <a:avLst>
              <a:gd name="adj" fmla="val 24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3" descr="assets/icons/LuUserRound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1418" y="2991551"/>
            <a:ext cx="399410" cy="39941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369503" y="375818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Pert Song Sow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8369503" y="42153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GCMC   ·   Age 32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19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boke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2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THE PROBLEM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question. Five hidden steps.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simple question triggers a multi-step retrieval chase and the answer often delays after the decision is made.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2103120"/>
            <a:ext cx="1956816" cy="3063240"/>
          </a:xfrm>
          <a:prstGeom prst="roundRect">
            <a:avLst>
              <a:gd name="adj" fmla="val 3271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758952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271016" y="2670048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assets/icons/LuSearch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079" y="2806111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" y="3383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22376" y="3767328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 the right dashboard or dataset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478024" y="3461004"/>
            <a:ext cx="4235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2846756" y="2103120"/>
            <a:ext cx="1956816" cy="3063240"/>
          </a:xfrm>
          <a:prstGeom prst="roundRect">
            <a:avLst>
              <a:gd name="adj" fmla="val 3271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Text 16"/>
          <p:cNvSpPr/>
          <p:nvPr/>
        </p:nvSpPr>
        <p:spPr>
          <a:xfrm>
            <a:off x="3029636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541700" y="2670048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2" name="Image 2" descr="assets/icons/LuSlidersHorizontal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7763" y="2806111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956484" y="3383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2993060" y="3767328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dates, segments and measures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748708" y="3461004"/>
            <a:ext cx="4235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117440" y="2103120"/>
            <a:ext cx="1956816" cy="3063240"/>
          </a:xfrm>
          <a:prstGeom prst="roundRect">
            <a:avLst>
              <a:gd name="adj" fmla="val 3271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7" name="Text 22"/>
          <p:cNvSpPr/>
          <p:nvPr/>
        </p:nvSpPr>
        <p:spPr>
          <a:xfrm>
            <a:off x="530032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812384" y="2670048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9" name="Image 3" descr="assets/icons/LuBookOpen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8446" y="2806111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227168" y="3383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5263744" y="3767328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multiple visuals and definitions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7019392" y="3461004"/>
            <a:ext cx="4235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7388123" y="2103120"/>
            <a:ext cx="1956816" cy="3063240"/>
          </a:xfrm>
          <a:prstGeom prst="roundRect">
            <a:avLst>
              <a:gd name="adj" fmla="val 3271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4" name="Text 28"/>
          <p:cNvSpPr/>
          <p:nvPr/>
        </p:nvSpPr>
        <p:spPr>
          <a:xfrm>
            <a:off x="7571003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083067" y="2670048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4ADE80">
              <a:alpha val="16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6" name="Image 4" descr="assets/icons/LuScale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130" y="2806111"/>
            <a:ext cx="294803" cy="294803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497851" y="3383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7534427" y="3767328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views or consolidate data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9290075" y="3461004"/>
            <a:ext cx="4235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Shape 33"/>
          <p:cNvSpPr/>
          <p:nvPr/>
        </p:nvSpPr>
        <p:spPr>
          <a:xfrm>
            <a:off x="9658807" y="2103120"/>
            <a:ext cx="1956816" cy="3063240"/>
          </a:xfrm>
          <a:prstGeom prst="roundRect">
            <a:avLst>
              <a:gd name="adj" fmla="val 3271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Text 34"/>
          <p:cNvSpPr/>
          <p:nvPr/>
        </p:nvSpPr>
        <p:spPr>
          <a:xfrm>
            <a:off x="9841687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10353751" y="2670048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3" name="Image 5" descr="assets/icons/LuBadgeCheck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9814" y="2806111"/>
            <a:ext cx="294803" cy="294803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768535" y="3383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9805111" y="3767328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the answer with an expert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576072" y="5760720"/>
            <a:ext cx="11039551" cy="512064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7" name="Shape 39"/>
          <p:cNvSpPr/>
          <p:nvPr/>
        </p:nvSpPr>
        <p:spPr>
          <a:xfrm>
            <a:off x="722376" y="5861304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8" name="Image 6" descr="assets/icons/LuCircleAlert_amb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991" y="5935919"/>
            <a:ext cx="161666" cy="161666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143000" y="5760720"/>
            <a:ext cx="10326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 </a:t>
            </a:r>
            <a:r>
              <a:rPr lang="en-US" sz="11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 may arrive after the moment of decision has already passed.</a:t>
            </a:r>
            <a:endParaRPr lang="en-US" sz="1150" dirty="0"/>
          </a:p>
        </p:txBody>
      </p:sp>
      <p:sp>
        <p:nvSpPr>
          <p:cNvPr id="50" name="Text 41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51" name="Text 42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19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2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THE EVIDENCE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value is stored, not realised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pattern holds worldwide, and the same gap is already measurable inside Bursa.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1847088"/>
            <a:ext cx="3520440" cy="1481328"/>
          </a:xfrm>
          <a:prstGeom prst="roundRect">
            <a:avLst>
              <a:gd name="adj" fmla="val 4321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813816" y="1975104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13816" y="267004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enterprise data is never used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13816" y="2962656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Seagate, Rethink Data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35628" y="1847088"/>
            <a:ext cx="3520440" cy="1481328"/>
          </a:xfrm>
          <a:prstGeom prst="roundRect">
            <a:avLst>
              <a:gd name="adj" fmla="val 4321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Text 14"/>
          <p:cNvSpPr/>
          <p:nvPr/>
        </p:nvSpPr>
        <p:spPr>
          <a:xfrm>
            <a:off x="4573372" y="1975104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4573372" y="267004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goes unused for analytics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3372" y="2962656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Forrester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095183" y="1847088"/>
            <a:ext cx="3520440" cy="1481328"/>
          </a:xfrm>
          <a:prstGeom prst="roundRect">
            <a:avLst>
              <a:gd name="adj" fmla="val 4321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Text 18"/>
          <p:cNvSpPr/>
          <p:nvPr/>
        </p:nvSpPr>
        <p:spPr>
          <a:xfrm>
            <a:off x="8332927" y="1975104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8332927" y="267004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 half their data is “dark”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332927" y="2962656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Splunk / IBM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76072" y="3529584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GAP, MEASURED INSIDE BURSA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76072" y="3895344"/>
            <a:ext cx="2057400" cy="1170432"/>
          </a:xfrm>
          <a:prstGeom prst="roundRect">
            <a:avLst>
              <a:gd name="adj" fmla="val 5469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6" name="Text 23"/>
          <p:cNvSpPr/>
          <p:nvPr/>
        </p:nvSpPr>
        <p:spPr>
          <a:xfrm>
            <a:off x="758952" y="40050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20+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58952" y="44439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 hoc data requests each month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821610" y="3895344"/>
            <a:ext cx="2057400" cy="1170432"/>
          </a:xfrm>
          <a:prstGeom prst="roundRect">
            <a:avLst>
              <a:gd name="adj" fmla="val 5469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Text 26"/>
          <p:cNvSpPr/>
          <p:nvPr/>
        </p:nvSpPr>
        <p:spPr>
          <a:xfrm>
            <a:off x="3004490" y="40050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3004490" y="44439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staff-hours spent retrieving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067148" y="3895344"/>
            <a:ext cx="2057400" cy="1170432"/>
          </a:xfrm>
          <a:prstGeom prst="roundRect">
            <a:avLst>
              <a:gd name="adj" fmla="val 5469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2" name="Text 29"/>
          <p:cNvSpPr/>
          <p:nvPr/>
        </p:nvSpPr>
        <p:spPr>
          <a:xfrm>
            <a:off x="5250028" y="40050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2h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250028" y="44439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turnaround per request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312685" y="3895344"/>
            <a:ext cx="2057400" cy="1170432"/>
          </a:xfrm>
          <a:prstGeom prst="roundRect">
            <a:avLst>
              <a:gd name="adj" fmla="val 5469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Text 32"/>
          <p:cNvSpPr/>
          <p:nvPr/>
        </p:nvSpPr>
        <p:spPr>
          <a:xfrm>
            <a:off x="7495565" y="40050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7495565" y="44439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involve data we already hold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9558223" y="3895344"/>
            <a:ext cx="2057400" cy="1170432"/>
          </a:xfrm>
          <a:prstGeom prst="roundRect">
            <a:avLst>
              <a:gd name="adj" fmla="val 5469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8" name="Text 35"/>
          <p:cNvSpPr/>
          <p:nvPr/>
        </p:nvSpPr>
        <p:spPr>
          <a:xfrm>
            <a:off x="9741103" y="40050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 50k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9741103" y="44439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productivity at stake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76072" y="5760720"/>
            <a:ext cx="11039551" cy="512064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Shape 38"/>
          <p:cNvSpPr/>
          <p:nvPr/>
        </p:nvSpPr>
        <p:spPr>
          <a:xfrm>
            <a:off x="722376" y="5861304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2" name="Image 1" descr="assets/icons/LuLightbulb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91" y="5935919"/>
            <a:ext cx="161666" cy="161666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1143000" y="5760720"/>
            <a:ext cx="10326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gap:  </a:t>
            </a:r>
            <a:r>
              <a:rPr lang="en-US" sz="11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exists. The value does not. Half the effort is spent re-finding what Bursa already owns.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45" name="Text 41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19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2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REAL-WORLD EXAMPLES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questions are simple. The retrieval path is not.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that surface in management meetings, market reviews and time-sensitive discussions.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1901952"/>
            <a:ext cx="3520440" cy="1700784"/>
          </a:xfrm>
          <a:prstGeom prst="roundRect">
            <a:avLst>
              <a:gd name="adj" fmla="val 37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777240" y="2084832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4" name="Image 1" descr="assets/icons/LuTrendingUp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" y="2172614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52728" y="20848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kern="0" spc="18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TRADING ACTIVITY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795528" y="2560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investor group drove the recent decline in Average Daily Traded Value?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35628" y="1901952"/>
            <a:ext cx="3520440" cy="1700784"/>
          </a:xfrm>
          <a:prstGeom prst="roundRect">
            <a:avLst>
              <a:gd name="adj" fmla="val 37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Shape 14"/>
          <p:cNvSpPr/>
          <p:nvPr/>
        </p:nvSpPr>
        <p:spPr>
          <a:xfrm>
            <a:off x="4536796" y="2084832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9" name="Image 2" descr="assets/icons/LuArrowRightLeft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578" y="2172614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12284" y="20848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kern="0" spc="180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 FLOW</a:t>
            </a:r>
            <a:endParaRPr lang="en-US" sz="975" dirty="0"/>
          </a:p>
        </p:txBody>
      </p:sp>
      <p:sp>
        <p:nvSpPr>
          <p:cNvPr id="21" name="Text 16"/>
          <p:cNvSpPr/>
          <p:nvPr/>
        </p:nvSpPr>
        <p:spPr>
          <a:xfrm>
            <a:off x="4555084" y="2560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does year-to-date fund flow compare with the same period last year?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095183" y="1901952"/>
            <a:ext cx="3520440" cy="1700784"/>
          </a:xfrm>
          <a:prstGeom prst="roundRect">
            <a:avLst>
              <a:gd name="adj" fmla="val 37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3" name="Shape 18"/>
          <p:cNvSpPr/>
          <p:nvPr/>
        </p:nvSpPr>
        <p:spPr>
          <a:xfrm>
            <a:off x="8296351" y="2084832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4" name="Image 3" descr="assets/icons/LuActivity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4134" y="2172614"/>
            <a:ext cx="190195" cy="19019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71839" y="20848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kern="0" spc="18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DRIVERS</a:t>
            </a:r>
            <a:endParaRPr lang="en-US" sz="975" dirty="0"/>
          </a:p>
        </p:txBody>
      </p:sp>
      <p:sp>
        <p:nvSpPr>
          <p:cNvPr id="26" name="Text 20"/>
          <p:cNvSpPr/>
          <p:nvPr/>
        </p:nvSpPr>
        <p:spPr>
          <a:xfrm>
            <a:off x="8314639" y="2560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sectors or stocks are driving yesterday’s market performance?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76072" y="3822192"/>
            <a:ext cx="3520440" cy="1700784"/>
          </a:xfrm>
          <a:prstGeom prst="roundRect">
            <a:avLst>
              <a:gd name="adj" fmla="val 37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Shape 22"/>
          <p:cNvSpPr/>
          <p:nvPr/>
        </p:nvSpPr>
        <p:spPr>
          <a:xfrm>
            <a:off x="777240" y="4005072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9" name="Image 4" descr="assets/icons/LuGauge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022" y="4092854"/>
            <a:ext cx="190195" cy="19019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52728" y="40050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kern="0" spc="18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VELOCITY</a:t>
            </a:r>
            <a:endParaRPr lang="en-US" sz="975" dirty="0"/>
          </a:p>
        </p:txBody>
      </p:sp>
      <p:sp>
        <p:nvSpPr>
          <p:cNvPr id="31" name="Text 24"/>
          <p:cNvSpPr/>
          <p:nvPr/>
        </p:nvSpPr>
        <p:spPr>
          <a:xfrm>
            <a:off x="795528" y="448056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does month-to-date market velocity compare with last year?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335628" y="3822192"/>
            <a:ext cx="3520440" cy="1700784"/>
          </a:xfrm>
          <a:prstGeom prst="roundRect">
            <a:avLst>
              <a:gd name="adj" fmla="val 37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3" name="Shape 26"/>
          <p:cNvSpPr/>
          <p:nvPr/>
        </p:nvSpPr>
        <p:spPr>
          <a:xfrm>
            <a:off x="4536796" y="4005072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4" name="Image 5" descr="assets/icons/LuRocket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4578" y="4092854"/>
            <a:ext cx="190195" cy="19019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12284" y="40050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kern="0" spc="180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IPO PERFORMANCE</a:t>
            </a:r>
            <a:endParaRPr lang="en-US" sz="975" dirty="0"/>
          </a:p>
        </p:txBody>
      </p:sp>
      <p:sp>
        <p:nvSpPr>
          <p:cNvPr id="36" name="Text 28"/>
          <p:cNvSpPr/>
          <p:nvPr/>
        </p:nvSpPr>
        <p:spPr>
          <a:xfrm>
            <a:off x="4555084" y="448056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many companies listed on the Main, ACE and LEAP Markets this half?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8095183" y="3822192"/>
            <a:ext cx="3520440" cy="1700784"/>
          </a:xfrm>
          <a:prstGeom prst="roundRect">
            <a:avLst>
              <a:gd name="adj" fmla="val 37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8" name="Shape 30"/>
          <p:cNvSpPr/>
          <p:nvPr/>
        </p:nvSpPr>
        <p:spPr>
          <a:xfrm>
            <a:off x="8296351" y="4005072"/>
            <a:ext cx="365760" cy="365760"/>
          </a:xfrm>
          <a:prstGeom prst="roundRect">
            <a:avLst>
              <a:gd name="adj" fmla="val 24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Image 6" descr="assets/icons/LuChartColumn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4134" y="4092854"/>
            <a:ext cx="190195" cy="19019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771839" y="40050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kern="0" spc="18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ETF PERFORMANCE</a:t>
            </a:r>
            <a:endParaRPr lang="en-US" sz="975" dirty="0"/>
          </a:p>
        </p:txBody>
      </p:sp>
      <p:sp>
        <p:nvSpPr>
          <p:cNvPr id="41" name="Text 32"/>
          <p:cNvSpPr/>
          <p:nvPr/>
        </p:nvSpPr>
        <p:spPr>
          <a:xfrm>
            <a:off x="8314639" y="448056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ETFs recorded the highest growth in traded value and volume?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576072" y="5760720"/>
            <a:ext cx="11039551" cy="512064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3" name="Shape 34"/>
          <p:cNvSpPr/>
          <p:nvPr/>
        </p:nvSpPr>
        <p:spPr>
          <a:xfrm>
            <a:off x="722376" y="5861304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4" name="Image 7" descr="assets/icons/LuCircleAlert_amb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991" y="5935919"/>
            <a:ext cx="161666" cy="16166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143000" y="5760720"/>
            <a:ext cx="10326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 </a:t>
            </a:r>
            <a:r>
              <a:rPr lang="en-US" sz="11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of these can take several dashboards, manual comparisons and analyst validation before an answer exists.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47" name="Text 37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19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boke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2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ADOPTION BARRIER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alone was never going to be enough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dashboards exist. The data exists. Four human habits still stand between a person and an answer.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2103120"/>
            <a:ext cx="2587752" cy="3063240"/>
          </a:xfrm>
          <a:prstGeom prst="roundRect">
            <a:avLst>
              <a:gd name="adj" fmla="val 247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795528" y="2322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" y="270662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assets/icons/LuUsers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23" y="2829519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5528" y="33832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Coordination fatigue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95528" y="4023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answer runs through somebody else. So the question quietly goes unasked.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393338" y="2103120"/>
            <a:ext cx="2587752" cy="3063240"/>
          </a:xfrm>
          <a:prstGeom prst="roundRect">
            <a:avLst>
              <a:gd name="adj" fmla="val 247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612794" y="2322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612794" y="270662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2" descr="assets/icons/LuGraduationCap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690" y="2829519"/>
            <a:ext cx="266273" cy="26627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12794" y="33832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literacy gap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612794" y="4023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dashboard assumes a fluency in the market. Not everyone here had the same understanding.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10605" y="2103120"/>
            <a:ext cx="2587752" cy="3063240"/>
          </a:xfrm>
          <a:prstGeom prst="roundRect">
            <a:avLst>
              <a:gd name="adj" fmla="val 247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Text 20"/>
          <p:cNvSpPr/>
          <p:nvPr/>
        </p:nvSpPr>
        <p:spPr>
          <a:xfrm>
            <a:off x="6430061" y="2322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430061" y="270662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3" descr="assets/icons/LuLayers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2956" y="2829519"/>
            <a:ext cx="266273" cy="26627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30061" y="33832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friction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30061" y="4023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dashboard has its own logic. Learning six is harder than asking one colleague.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027871" y="2103120"/>
            <a:ext cx="2587752" cy="3063240"/>
          </a:xfrm>
          <a:prstGeom prst="roundRect">
            <a:avLst>
              <a:gd name="adj" fmla="val 247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Text 25"/>
          <p:cNvSpPr/>
          <p:nvPr/>
        </p:nvSpPr>
        <p:spPr>
          <a:xfrm>
            <a:off x="9247327" y="2322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9247327" y="2706624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FB7185">
              <a:alpha val="16000"/>
            </a:srgbClr>
          </a:solidFill>
          <a:ln w="9525">
            <a:solidFill>
              <a:srgbClr val="FB718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3" name="Image 4" descr="assets/icons/LuShieldAlert_r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223" y="2829519"/>
            <a:ext cx="266273" cy="266273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247327" y="33832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Ownership avoidance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9247327" y="40233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the number yourself and you own the number. Most would rather not carry it.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76072" y="5760720"/>
            <a:ext cx="11039551" cy="512064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7" name="Shape 30"/>
          <p:cNvSpPr/>
          <p:nvPr/>
        </p:nvSpPr>
        <p:spPr>
          <a:xfrm>
            <a:off x="722376" y="5861304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8" name="Image 5" descr="assets/icons/LuCircleAlert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991" y="5935919"/>
            <a:ext cx="161666" cy="16166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143000" y="5760720"/>
            <a:ext cx="10326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barrier:  </a:t>
            </a:r>
            <a:r>
              <a:rPr lang="en-US" sz="11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was never access to the data. It is the effort, and the accountability, of using it.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41" name="Text 33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19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3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THE COST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Twice: Once by the Person, Once by the Decision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accessibility gap costs an employee their independence and costs the organization its speed.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6072" y="17739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· DEPENDENCY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" y="2066544"/>
            <a:ext cx="4846320" cy="1517904"/>
          </a:xfrm>
          <a:prstGeom prst="roundRect">
            <a:avLst>
              <a:gd name="adj" fmla="val 4217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FB7185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4" name="Image 1" descr="assets/icons/LuTriangleAlert_r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4028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69848" y="221284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answer runs through somebody else</a:t>
            </a:r>
            <a:endParaRPr lang="en-US" sz="1050" dirty="0"/>
          </a:p>
        </p:txBody>
      </p:sp>
      <p:pic>
        <p:nvPicPr>
          <p:cNvPr id="16" name="Image 2" descr="assets/icons/LuTriangleAlert_r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60904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9848" y="263347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becomes normal, so questions go unasked</a:t>
            </a:r>
            <a:endParaRPr lang="en-US" sz="1050" dirty="0"/>
          </a:p>
        </p:txBody>
      </p:sp>
      <p:pic>
        <p:nvPicPr>
          <p:cNvPr id="18" name="Image 3" descr="assets/icons/LuTriangleAlert_r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8152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69848" y="3054096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Specialists absorb work that is not their expertise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76072" y="37124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BursaIQ · SELF-RELIANCE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76072" y="4005072"/>
            <a:ext cx="4846320" cy="1517904"/>
          </a:xfrm>
          <a:prstGeom prst="roundRect">
            <a:avLst>
              <a:gd name="adj" fmla="val 4217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4ADE80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2" name="Image 4" descr="assets/icons/LuCircleCheckBig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78808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69848" y="4151376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person with the question reaches the answer</a:t>
            </a:r>
            <a:endParaRPr lang="en-US" sz="1050" dirty="0"/>
          </a:p>
        </p:txBody>
      </p:sp>
      <p:pic>
        <p:nvPicPr>
          <p:cNvPr id="24" name="Image 5" descr="assets/icons/LuCircleCheckBig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599432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9848" y="457200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Asking costs nothing, so more gets asked</a:t>
            </a:r>
            <a:endParaRPr lang="en-US" sz="1050" dirty="0"/>
          </a:p>
        </p:txBody>
      </p:sp>
      <p:pic>
        <p:nvPicPr>
          <p:cNvPr id="26" name="Image 6" descr="assets/icons/LuCircleCheckBig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20056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69848" y="4992624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Specialists return to analysis and judgement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5879592" y="1773936"/>
            <a:ext cx="5736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COSTS THE ORGANISATION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5879592" y="2066544"/>
            <a:ext cx="5736031" cy="3456432"/>
          </a:xfrm>
          <a:prstGeom prst="roundRect">
            <a:avLst>
              <a:gd name="adj" fmla="val 185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Text 21"/>
          <p:cNvSpPr/>
          <p:nvPr/>
        </p:nvSpPr>
        <p:spPr>
          <a:xfrm>
            <a:off x="6117336" y="2212848"/>
            <a:ext cx="526054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Slower decisions</a:t>
            </a:r>
            <a:endParaRPr lang="en-US" sz="11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stay open during the discussion that needed them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117336" y="2724912"/>
            <a:ext cx="5260543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23"/>
          <p:cNvSpPr/>
          <p:nvPr/>
        </p:nvSpPr>
        <p:spPr>
          <a:xfrm>
            <a:off x="6117336" y="2775204"/>
            <a:ext cx="526054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disruption</a:t>
            </a:r>
            <a:endParaRPr lang="en-US" sz="11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pause, defer or schedule follow-up work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117336" y="3287268"/>
            <a:ext cx="5260543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25"/>
          <p:cNvSpPr/>
          <p:nvPr/>
        </p:nvSpPr>
        <p:spPr>
          <a:xfrm>
            <a:off x="6117336" y="3337560"/>
            <a:ext cx="526054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bottlenecks</a:t>
            </a:r>
            <a:endParaRPr lang="en-US" sz="11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Specialists on repeat retrieval, not analysis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117336" y="3849624"/>
            <a:ext cx="5260543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27"/>
          <p:cNvSpPr/>
          <p:nvPr/>
        </p:nvSpPr>
        <p:spPr>
          <a:xfrm>
            <a:off x="6117336" y="3899916"/>
            <a:ext cx="526054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Inconsistent interpretation</a:t>
            </a:r>
            <a:endParaRPr lang="en-US" sz="11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filters produce conflicting answers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6117336" y="4411980"/>
            <a:ext cx="5260543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Text 29"/>
          <p:cNvSpPr/>
          <p:nvPr/>
        </p:nvSpPr>
        <p:spPr>
          <a:xfrm>
            <a:off x="6117336" y="4462272"/>
            <a:ext cx="526054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Reduced responsiveness</a:t>
            </a:r>
            <a:endParaRPr lang="en-US" sz="11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Slower reaction to market and stakeholder needs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117336" y="4974336"/>
            <a:ext cx="5260543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1"/>
          <p:cNvSpPr/>
          <p:nvPr/>
        </p:nvSpPr>
        <p:spPr>
          <a:xfrm>
            <a:off x="6117336" y="5024628"/>
            <a:ext cx="526054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data return</a:t>
            </a:r>
            <a:endParaRPr lang="en-US" sz="11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datasets deliver less than they could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576072" y="5760720"/>
            <a:ext cx="11039551" cy="512064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2" name="Shape 33"/>
          <p:cNvSpPr/>
          <p:nvPr/>
        </p:nvSpPr>
        <p:spPr>
          <a:xfrm>
            <a:off x="722376" y="5861304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3" name="Image 7" descr="assets/icons/LuZap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991" y="5935919"/>
            <a:ext cx="161666" cy="16166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143000" y="5760720"/>
            <a:ext cx="10326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chain:  </a:t>
            </a:r>
            <a:r>
              <a:rPr lang="en-US" sz="11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Slower retrieval   →   Delayed insight   →   Deferred or less-informed decisions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46" name="Text 36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19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plat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576072" y="896112"/>
            <a:ext cx="2788920" cy="347472"/>
          </a:xfrm>
          <a:prstGeom prst="roundRect">
            <a:avLst>
              <a:gd name="adj" fmla="val 50000"/>
            </a:avLst>
          </a:prstGeom>
          <a:solidFill>
            <a:srgbClr val="A26BFA">
              <a:alpha val="14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2"/>
          <p:cNvSpPr/>
          <p:nvPr/>
        </p:nvSpPr>
        <p:spPr>
          <a:xfrm>
            <a:off x="576072" y="8961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50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PROPOSED SOLUTION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6072" y="1316736"/>
            <a:ext cx="8686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6000" b="1" dirty="0">
                <a:gradFill>
                  <a:gsLst>
                    <a:gs pos="0">
                      <a:srgbClr val="5B8DEF"/>
                    </a:gs>
                    <a:gs pos="50000">
                      <a:srgbClr val="A26BFA"/>
                    </a:gs>
                    <a:gs pos="100000">
                      <a:srgbClr val="3DDDFC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76072" y="2450592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a Question. Get a Decision-ready Answer.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6072" y="298094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secure natural-language intelligence layer that turns trusted internal data into accessible, visual and traceable insights.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76072" y="3986784"/>
            <a:ext cx="2587752" cy="1700784"/>
          </a:xfrm>
          <a:prstGeom prst="roundRect">
            <a:avLst>
              <a:gd name="adj" fmla="val 37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7"/>
          <p:cNvSpPr/>
          <p:nvPr/>
        </p:nvSpPr>
        <p:spPr>
          <a:xfrm>
            <a:off x="777240" y="418795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1" descr="assets/icons/LuMessageSquar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288902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07592" y="418795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95528" y="4754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Everyday language — no dashboards or jargon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93338" y="3986784"/>
            <a:ext cx="2587752" cy="1700784"/>
          </a:xfrm>
          <a:prstGeom prst="roundRect">
            <a:avLst>
              <a:gd name="adj" fmla="val 37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1"/>
          <p:cNvSpPr/>
          <p:nvPr/>
        </p:nvSpPr>
        <p:spPr>
          <a:xfrm>
            <a:off x="3594506" y="418795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6" name="Image 2" descr="assets/icons/LuCpu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456" y="4288902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24858" y="418795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12794" y="4754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Interprets intent on governed data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0605" y="3986784"/>
            <a:ext cx="2587752" cy="1700784"/>
          </a:xfrm>
          <a:prstGeom prst="roundRect">
            <a:avLst>
              <a:gd name="adj" fmla="val 37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5"/>
          <p:cNvSpPr/>
          <p:nvPr/>
        </p:nvSpPr>
        <p:spPr>
          <a:xfrm>
            <a:off x="6411773" y="418795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3" descr="assets/icons/LuMessagesSquar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723" y="4288902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2125" y="418795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30061" y="4754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answer with context and source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027871" y="3986784"/>
            <a:ext cx="2587752" cy="1700784"/>
          </a:xfrm>
          <a:prstGeom prst="roundRect">
            <a:avLst>
              <a:gd name="adj" fmla="val 37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19"/>
          <p:cNvSpPr/>
          <p:nvPr/>
        </p:nvSpPr>
        <p:spPr>
          <a:xfrm>
            <a:off x="9229039" y="418795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4ADE80">
              <a:alpha val="16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6" name="Image 4" descr="assets/icons/LuZap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9989" y="4288902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59391" y="418795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247327" y="4754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with confidence in the moment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19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boke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3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THE PROTOTYPE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concept. This is running today.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question, a real follow-up, answered from governed data with the working and the source shown.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1792224"/>
            <a:ext cx="6144768" cy="3763952"/>
          </a:xfrm>
          <a:prstGeom prst="roundRect">
            <a:avLst>
              <a:gd name="adj" fmla="val 218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3DDDFC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3" name="Image 1" descr="assets/pr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01952"/>
            <a:ext cx="5925312" cy="35444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" y="5592752"/>
            <a:ext cx="6510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prototype</a:t>
            </a: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Governed demo data  ·  Answered in 3.6s with numbers and chart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031736" y="1792224"/>
            <a:ext cx="4583887" cy="914400"/>
          </a:xfrm>
          <a:prstGeom prst="roundRect">
            <a:avLst>
              <a:gd name="adj" fmla="val 70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Text 12"/>
          <p:cNvSpPr/>
          <p:nvPr/>
        </p:nvSpPr>
        <p:spPr>
          <a:xfrm>
            <a:off x="7214616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635240" y="1920240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Asked in plain language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214616" y="2212848"/>
            <a:ext cx="4218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SQL, no dashboard, no need to know where the data lives.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031736" y="2816352"/>
            <a:ext cx="4583887" cy="914400"/>
          </a:xfrm>
          <a:prstGeom prst="roundRect">
            <a:avLst>
              <a:gd name="adj" fmla="val 70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Text 16"/>
          <p:cNvSpPr/>
          <p:nvPr/>
        </p:nvSpPr>
        <p:spPr>
          <a:xfrm>
            <a:off x="7214616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635240" y="2944368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function call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214616" y="3236976"/>
            <a:ext cx="4218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fixed formula against a read-only mart, versioned. No free-form SQL is ever written.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7031736" y="3840480"/>
            <a:ext cx="4583887" cy="914400"/>
          </a:xfrm>
          <a:prstGeom prst="roundRect">
            <a:avLst>
              <a:gd name="adj" fmla="val 70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Text 20"/>
          <p:cNvSpPr/>
          <p:nvPr/>
        </p:nvSpPr>
        <p:spPr>
          <a:xfrm>
            <a:off x="7214616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635240" y="3968496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follow-up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7214616" y="4261104"/>
            <a:ext cx="4218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second question builds on the first. This is a conversation, not a search box.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7031736" y="4864608"/>
            <a:ext cx="4583887" cy="914400"/>
          </a:xfrm>
          <a:prstGeom prst="roundRect">
            <a:avLst>
              <a:gd name="adj" fmla="val 70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Text 24"/>
          <p:cNvSpPr/>
          <p:nvPr/>
        </p:nvSpPr>
        <p:spPr>
          <a:xfrm>
            <a:off x="7214616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635240" y="4992624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Verifiable, and checkable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214616" y="5285232"/>
            <a:ext cx="4218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Provenance on every answer, plus one-click human verification for high-stakes questions.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76072" y="5943600"/>
            <a:ext cx="11039551" cy="457200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2" name="Shape 28"/>
          <p:cNvSpPr/>
          <p:nvPr/>
        </p:nvSpPr>
        <p:spPr>
          <a:xfrm>
            <a:off x="722376" y="6016752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3" name="Image 2" descr="assets/icons/LuBadgeChec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91" y="6091367"/>
            <a:ext cx="161666" cy="16166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143000" y="5943600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are:  </a:t>
            </a:r>
            <a:r>
              <a:rPr lang="en-US" sz="11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before the pitch, not promised after it. What you are seeing is the actual product, not a mockup.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36" name="Text 31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19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3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THE ARCHITECTURE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Engine, Bursa IQ Engine, One Governed Path to Data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surface calls the same orchestration engine: The model reasons, the governed layer supplies the numbers.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17720" y="1737360"/>
            <a:ext cx="2926080" cy="36576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4672584" y="173736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Providers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7720" y="21031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↕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17720" y="2286000"/>
            <a:ext cx="2926080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3DDDFC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Text 13"/>
          <p:cNvSpPr/>
          <p:nvPr/>
        </p:nvSpPr>
        <p:spPr>
          <a:xfrm>
            <a:off x="4672584" y="226771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Gateway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72584" y="2542032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· Swappable models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17720" y="27980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↕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07992" y="2980944"/>
            <a:ext cx="3145536" cy="1481328"/>
          </a:xfrm>
          <a:prstGeom prst="roundRect">
            <a:avLst>
              <a:gd name="adj" fmla="val 493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A26BFA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Text 17"/>
          <p:cNvSpPr/>
          <p:nvPr/>
        </p:nvSpPr>
        <p:spPr>
          <a:xfrm>
            <a:off x="4617720" y="3035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1200" b="1" kern="0" spc="2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09160" y="3310128"/>
            <a:ext cx="2743200" cy="384048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3DDDFC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2" name="Text 19"/>
          <p:cNvSpPr/>
          <p:nvPr/>
        </p:nvSpPr>
        <p:spPr>
          <a:xfrm>
            <a:off x="4764024" y="331012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 Agent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17720" y="369417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09160" y="3840480"/>
            <a:ext cx="2743200" cy="54864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3DDDFC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Text 22"/>
          <p:cNvSpPr/>
          <p:nvPr/>
        </p:nvSpPr>
        <p:spPr>
          <a:xfrm>
            <a:off x="4764024" y="38404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Determine Intent Agents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64024" y="411480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 → Governed function → Result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617720" y="44622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07992" y="4626864"/>
            <a:ext cx="3145536" cy="841248"/>
          </a:xfrm>
          <a:prstGeom prst="roundRect">
            <a:avLst>
              <a:gd name="adj" fmla="val 869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Text 26"/>
          <p:cNvSpPr/>
          <p:nvPr/>
        </p:nvSpPr>
        <p:spPr>
          <a:xfrm>
            <a:off x="4617720" y="46817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SOURCES  ·  READ-ONLY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626864" y="4956048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8"/>
          <p:cNvSpPr/>
          <p:nvPr/>
        </p:nvSpPr>
        <p:spPr>
          <a:xfrm>
            <a:off x="4626864" y="495604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1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376672" y="4956048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Text 30"/>
          <p:cNvSpPr/>
          <p:nvPr/>
        </p:nvSpPr>
        <p:spPr>
          <a:xfrm>
            <a:off x="5376672" y="495604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2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126480" y="4956048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2"/>
          <p:cNvSpPr/>
          <p:nvPr/>
        </p:nvSpPr>
        <p:spPr>
          <a:xfrm>
            <a:off x="6126480" y="495604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3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876288" y="4956048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Text 34"/>
          <p:cNvSpPr/>
          <p:nvPr/>
        </p:nvSpPr>
        <p:spPr>
          <a:xfrm>
            <a:off x="6876288" y="495604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4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76072" y="3310128"/>
            <a:ext cx="1005840" cy="786384"/>
          </a:xfrm>
          <a:prstGeom prst="roundRect">
            <a:avLst>
              <a:gd name="adj" fmla="val 6977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5B8DEF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9" name="Text 36"/>
          <p:cNvSpPr/>
          <p:nvPr/>
        </p:nvSpPr>
        <p:spPr>
          <a:xfrm>
            <a:off x="630936" y="3310128"/>
            <a:ext cx="8961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2002536" y="2615184"/>
            <a:ext cx="2286000" cy="402336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Text 38"/>
          <p:cNvSpPr/>
          <p:nvPr/>
        </p:nvSpPr>
        <p:spPr>
          <a:xfrm>
            <a:off x="2057400" y="2615184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002536" y="3035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002536" y="3236976"/>
            <a:ext cx="2286000" cy="402336"/>
          </a:xfrm>
          <a:prstGeom prst="roundRect">
            <a:avLst>
              <a:gd name="adj" fmla="val 1363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4" name="Text 41"/>
          <p:cNvSpPr/>
          <p:nvPr/>
        </p:nvSpPr>
        <p:spPr>
          <a:xfrm>
            <a:off x="2057400" y="323697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002536" y="4059936"/>
            <a:ext cx="2286000" cy="54864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6" name="Text 43"/>
          <p:cNvSpPr/>
          <p:nvPr/>
        </p:nvSpPr>
        <p:spPr>
          <a:xfrm>
            <a:off x="2057400" y="405993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file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2057400" y="43342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Excel, ready to use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600200" y="3310128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⇄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306824" y="30175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306824" y="41148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↙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8229600" y="3145536"/>
            <a:ext cx="3383280" cy="566928"/>
          </a:xfrm>
          <a:prstGeom prst="roundRect">
            <a:avLst>
              <a:gd name="adj" fmla="val 9677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4ADE80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2" name="Text 49"/>
          <p:cNvSpPr/>
          <p:nvPr/>
        </p:nvSpPr>
        <p:spPr>
          <a:xfrm>
            <a:off x="8284464" y="315468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284464" y="3429000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Identity, role and entitlement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8229600" y="3877056"/>
            <a:ext cx="3383280" cy="566928"/>
          </a:xfrm>
          <a:prstGeom prst="roundRect">
            <a:avLst>
              <a:gd name="adj" fmla="val 9677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4ADE80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5" name="Text 52"/>
          <p:cNvSpPr/>
          <p:nvPr/>
        </p:nvSpPr>
        <p:spPr>
          <a:xfrm>
            <a:off x="8284464" y="388620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Search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8284464" y="4160520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and metric metadata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7653528" y="320040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7653528" y="393192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8229600" y="468172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b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↕  </a:t>
            </a: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calls
</a:t>
            </a:r>
            <a:r>
              <a:rPr lang="en-US" sz="950" b="1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  </a:t>
            </a: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and identity, inside the tenant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76072" y="5870448"/>
            <a:ext cx="11039551" cy="457200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1" name="Shape 58"/>
          <p:cNvSpPr/>
          <p:nvPr/>
        </p:nvSpPr>
        <p:spPr>
          <a:xfrm>
            <a:off x="722376" y="5943600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62" name="Image 1" descr="assets/icons/LuCircleCheckBi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91" y="6018215"/>
            <a:ext cx="161666" cy="161666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1143000" y="5870448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answer ships with:  </a:t>
            </a:r>
            <a:r>
              <a:rPr lang="en-US" sz="11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answer · Chart · Reporting period · Source dataset · Calculation used</a:t>
            </a:r>
            <a:endParaRPr lang="en-US" sz="1150" dirty="0"/>
          </a:p>
        </p:txBody>
      </p:sp>
      <p:sp>
        <p:nvSpPr>
          <p:cNvPr id="64" name="Text 60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65" name="Text 61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3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ACCURACY &amp; ASSURANCE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Accuracy to Accountability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conversational layer is only worth having if the number it returns can be trusted in a board paper.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1810512"/>
            <a:ext cx="2587752" cy="2395728"/>
          </a:xfrm>
          <a:prstGeom prst="roundRect">
            <a:avLst>
              <a:gd name="adj" fmla="val 267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777240" y="1975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505456" y="19568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assets/icons/LuFilter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2066544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" y="2523744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calculation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77240" y="3035808"/>
            <a:ext cx="21854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formula lives in the semantic layer. The model selects a function, it never writes free-form SQL, so the maths cannot drift.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393338" y="1810512"/>
            <a:ext cx="2587752" cy="2395728"/>
          </a:xfrm>
          <a:prstGeom prst="roundRect">
            <a:avLst>
              <a:gd name="adj" fmla="val 267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594506" y="1975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322722" y="19568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2" descr="assets/icons/LuTarget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450" y="2066544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94506" y="2523744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Golden-answer testing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594506" y="3035808"/>
            <a:ext cx="21854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metric has a known-correct result. Generated answers are compared against it before anything ships.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10605" y="1810512"/>
            <a:ext cx="2587752" cy="2395728"/>
          </a:xfrm>
          <a:prstGeom prst="roundRect">
            <a:avLst>
              <a:gd name="adj" fmla="val 267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Text 20"/>
          <p:cNvSpPr/>
          <p:nvPr/>
        </p:nvSpPr>
        <p:spPr>
          <a:xfrm>
            <a:off x="6411773" y="1975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139989" y="19568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3" descr="assets/icons/LuRotateCcw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9717" y="2066544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11773" y="2523744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 testing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411773" y="3035808"/>
            <a:ext cx="21854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questions are re-run before any prompt or model change, so accuracy drift is caught before users meet it.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9027871" y="1810512"/>
            <a:ext cx="2587752" cy="2395728"/>
          </a:xfrm>
          <a:prstGeom prst="roundRect">
            <a:avLst>
              <a:gd name="adj" fmla="val 267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Text 25"/>
          <p:cNvSpPr/>
          <p:nvPr/>
        </p:nvSpPr>
        <p:spPr>
          <a:xfrm>
            <a:off x="9229039" y="19751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10957255" y="19568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3" name="Image 4" descr="assets/icons/LuUserCheck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6983" y="2066544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229039" y="2523744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validation on request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9229039" y="3035808"/>
            <a:ext cx="21854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board-level questions, one click routes the answer to the data owner to confirm before it is used.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576072" y="4407408"/>
            <a:ext cx="11039551" cy="1060704"/>
          </a:xfrm>
          <a:prstGeom prst="roundRect">
            <a:avLst>
              <a:gd name="adj" fmla="val 603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FB7185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7" name="Text 30"/>
          <p:cNvSpPr/>
          <p:nvPr/>
        </p:nvSpPr>
        <p:spPr>
          <a:xfrm>
            <a:off x="850392" y="4535424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ARE NOT CLAIMING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850392" y="4791456"/>
            <a:ext cx="104909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systems can be confidently wrong, and this one is no exception. </a:t>
            </a:r>
            <a:r>
              <a:rPr lang="en-US" sz="11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precisely why the calculation is governed rather than generated, why every answer carries its source, and why a person can be put back in the loop on demand.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76072" y="5742432"/>
            <a:ext cx="11039551" cy="475488"/>
          </a:xfrm>
          <a:prstGeom prst="roundRect">
            <a:avLst>
              <a:gd name="adj" fmla="val 1346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0" name="Shape 33"/>
          <p:cNvSpPr/>
          <p:nvPr/>
        </p:nvSpPr>
        <p:spPr>
          <a:xfrm>
            <a:off x="722376" y="5824728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1" name="Image 5" descr="assets/icons/LuShieldCheck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991" y="5899343"/>
            <a:ext cx="161666" cy="16166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143000" y="5742432"/>
            <a:ext cx="103263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Standard:  </a:t>
            </a:r>
            <a:r>
              <a:rPr lang="en-US" sz="11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may phrase the answer. It never decides the number.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44" name="Text 36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19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boke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3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ACCESS WITH BOUNDARIES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can ask. Not everyone can see.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BursaIQ widens who can ask a question. It never widens what a person is allowed to see.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1792224"/>
            <a:ext cx="2587752" cy="2194560"/>
          </a:xfrm>
          <a:prstGeom prst="roundRect">
            <a:avLst>
              <a:gd name="adj" fmla="val 2917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777240" y="1956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542032" y="1938528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assets/icons/LuMessageSquar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982" y="2039478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" y="2468880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ask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77240" y="2980944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entry point for the whole organisation. No one needs to know where the data lives.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393338" y="1792224"/>
            <a:ext cx="2587752" cy="2194560"/>
          </a:xfrm>
          <a:prstGeom prst="roundRect">
            <a:avLst>
              <a:gd name="adj" fmla="val 2917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594506" y="1956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359298" y="1938528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2" descr="assets/icons/LuLoc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248" y="2039478"/>
            <a:ext cx="218724" cy="2187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94506" y="2468880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check who are them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594506" y="2980944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 resolves your identity, role and business unit before anything is retrieved.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10605" y="1792224"/>
            <a:ext cx="2587752" cy="2194560"/>
          </a:xfrm>
          <a:prstGeom prst="roundRect">
            <a:avLst>
              <a:gd name="adj" fmla="val 2917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Text 20"/>
          <p:cNvSpPr/>
          <p:nvPr/>
        </p:nvSpPr>
        <p:spPr>
          <a:xfrm>
            <a:off x="6411773" y="1956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176565" y="1938528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7" name="Image 3" descr="assets/icons/LuFilter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7515" y="2039478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11773" y="2468880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inherits user’s rights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411773" y="2980944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and column entitlements are applied at query time, not filtered out afterwards.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9027871" y="1792224"/>
            <a:ext cx="2587752" cy="2194560"/>
          </a:xfrm>
          <a:prstGeom prst="roundRect">
            <a:avLst>
              <a:gd name="adj" fmla="val 2917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Text 25"/>
          <p:cNvSpPr/>
          <p:nvPr/>
        </p:nvSpPr>
        <p:spPr>
          <a:xfrm>
            <a:off x="9229039" y="1956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10993831" y="1938528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3" name="Image 4" descr="assets/icons/LuBadgeCheck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4781" y="2039478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229039" y="2468880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see only their scope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9229039" y="2980944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 is built from data that the role already permits. Nothing else is reachable.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576072" y="4133088"/>
            <a:ext cx="110395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THAT MEANS IN PRACTICE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76072" y="4443984"/>
            <a:ext cx="3520440" cy="969264"/>
          </a:xfrm>
          <a:prstGeom prst="roundRect">
            <a:avLst>
              <a:gd name="adj" fmla="val 660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8" name="Text 31"/>
          <p:cNvSpPr/>
          <p:nvPr/>
        </p:nvSpPr>
        <p:spPr>
          <a:xfrm>
            <a:off x="795528" y="457200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market analyst asks about ADV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795528" y="495604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Answered in full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4335628" y="4443984"/>
            <a:ext cx="3520440" cy="969264"/>
          </a:xfrm>
          <a:prstGeom prst="roundRect">
            <a:avLst>
              <a:gd name="adj" fmla="val 660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Text 34"/>
          <p:cNvSpPr/>
          <p:nvPr/>
        </p:nvSpPr>
        <p:spPr>
          <a:xfrm>
            <a:off x="4555084" y="457200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analyst asks about payroll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4555084" y="495604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data returned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8095183" y="4443984"/>
            <a:ext cx="3520440" cy="969264"/>
          </a:xfrm>
          <a:prstGeom prst="roundRect">
            <a:avLst>
              <a:gd name="adj" fmla="val 660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4" name="Text 37"/>
          <p:cNvSpPr/>
          <p:nvPr/>
        </p:nvSpPr>
        <p:spPr>
          <a:xfrm>
            <a:off x="8314639" y="457200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HR partner asks about benefits take-up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8314639" y="495604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Answered, for their population only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576072" y="5742432"/>
            <a:ext cx="11039551" cy="475488"/>
          </a:xfrm>
          <a:prstGeom prst="roundRect">
            <a:avLst>
              <a:gd name="adj" fmla="val 1346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7" name="Shape 40"/>
          <p:cNvSpPr/>
          <p:nvPr/>
        </p:nvSpPr>
        <p:spPr>
          <a:xfrm>
            <a:off x="722376" y="5824728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8" name="Image 5" descr="assets/icons/LuLoc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91" y="5899343"/>
            <a:ext cx="161666" cy="161666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143000" y="5742432"/>
            <a:ext cx="103263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Distinction:  </a:t>
            </a: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BursaIQ inherits user existing access. It is a faster way to reach </a:t>
            </a:r>
            <a:r>
              <a:rPr lang="en-US" sz="110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users </a:t>
            </a: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already entitled to, never a way around it.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51" name="Text 43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19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28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DOMAIN PACKS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data is where we start, not where it stops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governed engine can serve any approved domain, so value reaches every function rather than a single desk.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1847088"/>
            <a:ext cx="3520440" cy="1755648"/>
          </a:xfrm>
          <a:prstGeom prst="roundRect">
            <a:avLst>
              <a:gd name="adj" fmla="val 364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0"/>
          <p:cNvSpPr/>
          <p:nvPr/>
        </p:nvSpPr>
        <p:spPr>
          <a:xfrm>
            <a:off x="777240" y="204825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4" name="Image 1" descr="assets/icons/LuChartLin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15798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62456" y="2029968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&amp; TRADING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362456" y="226771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Intelligence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95528" y="2670048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ADV, velocity, fund flow, IPO pipeline, ETF performance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127248" y="2029968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4ADE80">
              <a:alpha val="16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5"/>
          <p:cNvSpPr/>
          <p:nvPr/>
        </p:nvSpPr>
        <p:spPr>
          <a:xfrm>
            <a:off x="3127248" y="202996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SCOPE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4335628" y="1847088"/>
            <a:ext cx="3520440" cy="1755648"/>
          </a:xfrm>
          <a:prstGeom prst="roundRect">
            <a:avLst>
              <a:gd name="adj" fmla="val 364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Shape 17"/>
          <p:cNvSpPr/>
          <p:nvPr/>
        </p:nvSpPr>
        <p:spPr>
          <a:xfrm>
            <a:off x="4536796" y="204825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2" name="Image 2" descr="assets/icons/LuBuilding2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524" y="2157984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22012" y="2029968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 &amp; ISSUER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122012" y="226771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 Insight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55084" y="2670048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 pipeline, filings status, issuer profiles and disclosures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886804" y="2029968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4ADE80">
              <a:alpha val="16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2"/>
          <p:cNvSpPr/>
          <p:nvPr/>
        </p:nvSpPr>
        <p:spPr>
          <a:xfrm>
            <a:off x="6886804" y="202996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SCOPE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8095183" y="1847088"/>
            <a:ext cx="3520440" cy="1755648"/>
          </a:xfrm>
          <a:prstGeom prst="roundRect">
            <a:avLst>
              <a:gd name="adj" fmla="val 364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Shape 24"/>
          <p:cNvSpPr/>
          <p:nvPr/>
        </p:nvSpPr>
        <p:spPr>
          <a:xfrm>
            <a:off x="8296351" y="204825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3" descr="assets/icons/LuCompass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079" y="2157984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881567" y="2029968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&amp; COMMS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8881567" y="226771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&amp; Narrative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8314639" y="2670048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Peer benchmarks, market share and the numbers behind stakeholder communications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76072" y="3803904"/>
            <a:ext cx="3520440" cy="1755648"/>
          </a:xfrm>
          <a:prstGeom prst="roundRect">
            <a:avLst>
              <a:gd name="adj" fmla="val 364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Shape 29"/>
          <p:cNvSpPr/>
          <p:nvPr/>
        </p:nvSpPr>
        <p:spPr>
          <a:xfrm>
            <a:off x="777240" y="4005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6" name="Image 4" descr="assets/icons/LuCoins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114800"/>
            <a:ext cx="237744" cy="23774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62456" y="3986784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&amp; CORPORATE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362456" y="422452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 Performance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795528" y="4626864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Budgets, cost centres and spend against plan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4335628" y="3803904"/>
            <a:ext cx="3520440" cy="1755648"/>
          </a:xfrm>
          <a:prstGeom prst="roundRect">
            <a:avLst>
              <a:gd name="adj" fmla="val 364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Shape 34"/>
          <p:cNvSpPr/>
          <p:nvPr/>
        </p:nvSpPr>
        <p:spPr>
          <a:xfrm>
            <a:off x="4536796" y="4005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2" name="Image 5" descr="assets/icons/LuGauge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6524" y="4114800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122012" y="3986784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&amp; COMPLIANCE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5122012" y="422452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Oversight &amp; Surveillance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4555084" y="4626864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monitoring, unusual-activity context and case background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8095183" y="3803904"/>
            <a:ext cx="3520440" cy="1755648"/>
          </a:xfrm>
          <a:prstGeom prst="roundRect">
            <a:avLst>
              <a:gd name="adj" fmla="val 3646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7" name="Shape 39"/>
          <p:cNvSpPr/>
          <p:nvPr/>
        </p:nvSpPr>
        <p:spPr>
          <a:xfrm>
            <a:off x="8296351" y="4005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8" name="Image 6" descr="assets/icons/LuUsersRound_amb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6079" y="4114800"/>
            <a:ext cx="237744" cy="237744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881567" y="3986784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8881567" y="422452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&amp; Workforce</a:t>
            </a:r>
            <a:endParaRPr lang="en-US" sz="1250" dirty="0"/>
          </a:p>
        </p:txBody>
      </p:sp>
      <p:sp>
        <p:nvSpPr>
          <p:cNvPr id="51" name="Text 42"/>
          <p:cNvSpPr/>
          <p:nvPr/>
        </p:nvSpPr>
        <p:spPr>
          <a:xfrm>
            <a:off x="8314639" y="4626864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and org structure, applicant tracking, benefits administration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576072" y="5760720"/>
            <a:ext cx="11039551" cy="512064"/>
          </a:xfrm>
          <a:prstGeom prst="roundRect">
            <a:avLst>
              <a:gd name="adj" fmla="val 1250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3" name="Shape 44"/>
          <p:cNvSpPr/>
          <p:nvPr/>
        </p:nvSpPr>
        <p:spPr>
          <a:xfrm>
            <a:off x="722376" y="5861304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54" name="Image 7" descr="assets/icons/LuLayers_amb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991" y="5935919"/>
            <a:ext cx="161666" cy="161666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1143000" y="5760720"/>
            <a:ext cx="10326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principle:  </a:t>
            </a:r>
            <a:r>
              <a:rPr lang="en-US" sz="115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way to ask. Many governed domains behind it. Every department served by the same engine.</a:t>
            </a:r>
            <a:endParaRPr lang="en-US" sz="1150" dirty="0"/>
          </a:p>
        </p:txBody>
      </p:sp>
      <p:sp>
        <p:nvSpPr>
          <p:cNvPr id="56" name="Text 46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57" name="Text 47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19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28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THE COLLABORATORS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if only the data owners are in the room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BursaIQ is not one team’s project. Every governed domain has an owner, and each of them makes the layer possible.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1810512"/>
            <a:ext cx="3383280" cy="3712464"/>
          </a:xfrm>
          <a:prstGeom prst="roundRect">
            <a:avLst>
              <a:gd name="adj" fmla="val 189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832104" y="201168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32104" y="2359152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assets/icons/LuNetwor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112" y="2517160"/>
            <a:ext cx="342351" cy="3423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2104" y="3182112"/>
            <a:ext cx="28712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Technology &amp;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and Digital Services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832104" y="3950208"/>
            <a:ext cx="28712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Owns the databases, the pipelines and the platform every answer depends on. Without their data marts and access model there is no governed layer to ask questions of.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325112" y="1810512"/>
            <a:ext cx="3508096" cy="1115568"/>
          </a:xfrm>
          <a:prstGeom prst="roundRect">
            <a:avLst>
              <a:gd name="adj" fmla="val 573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5"/>
          <p:cNvSpPr/>
          <p:nvPr/>
        </p:nvSpPr>
        <p:spPr>
          <a:xfrm>
            <a:off x="4507992" y="1993392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0" name="Image 2" descr="assets/icons/LuChartPi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553" y="2089953"/>
            <a:ext cx="209215" cy="2092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20056" y="1975104"/>
            <a:ext cx="264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Operations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020056" y="2267712"/>
            <a:ext cx="264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Defines and validates the market metrics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8107528" y="1810512"/>
            <a:ext cx="3508096" cy="1115568"/>
          </a:xfrm>
          <a:prstGeom prst="roundRect">
            <a:avLst>
              <a:gd name="adj" fmla="val 573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Shape 19"/>
          <p:cNvSpPr/>
          <p:nvPr/>
        </p:nvSpPr>
        <p:spPr>
          <a:xfrm>
            <a:off x="8290408" y="1993392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5" name="Image 3" descr="assets/icons/LuUser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968" y="2089953"/>
            <a:ext cx="209215" cy="20921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802472" y="1975104"/>
            <a:ext cx="264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Resources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802472" y="2267712"/>
            <a:ext cx="264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the scope and entitlements for people data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325112" y="3108960"/>
            <a:ext cx="3508096" cy="1115568"/>
          </a:xfrm>
          <a:prstGeom prst="roundRect">
            <a:avLst>
              <a:gd name="adj" fmla="val 573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Shape 23"/>
          <p:cNvSpPr/>
          <p:nvPr/>
        </p:nvSpPr>
        <p:spPr>
          <a:xfrm>
            <a:off x="4507992" y="3291840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4" descr="assets/icons/LuCoins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553" y="3388401"/>
            <a:ext cx="209215" cy="20921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20056" y="3273552"/>
            <a:ext cx="264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020056" y="3566160"/>
            <a:ext cx="264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Confirms figures and definitions carry across reporting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8107528" y="3108960"/>
            <a:ext cx="3508096" cy="1115568"/>
          </a:xfrm>
          <a:prstGeom prst="roundRect">
            <a:avLst>
              <a:gd name="adj" fmla="val 573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4" name="Shape 27"/>
          <p:cNvSpPr/>
          <p:nvPr/>
        </p:nvSpPr>
        <p:spPr>
          <a:xfrm>
            <a:off x="8290408" y="3291840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FB7185">
              <a:alpha val="16000"/>
            </a:srgbClr>
          </a:solidFill>
          <a:ln w="9525">
            <a:solidFill>
              <a:srgbClr val="FB718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5" name="Image 5" descr="assets/icons/LuGauge_ro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6968" y="3388401"/>
            <a:ext cx="209215" cy="20921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802472" y="3273552"/>
            <a:ext cx="264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&amp; Compliance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8802472" y="3566160"/>
            <a:ext cx="264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the guardrails and reviews what may be asked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4325112" y="4407408"/>
            <a:ext cx="3508096" cy="1115568"/>
          </a:xfrm>
          <a:prstGeom prst="roundRect">
            <a:avLst>
              <a:gd name="adj" fmla="val 573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9" name="Shape 31"/>
          <p:cNvSpPr/>
          <p:nvPr/>
        </p:nvSpPr>
        <p:spPr>
          <a:xfrm>
            <a:off x="4507992" y="4590288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4ADE80">
              <a:alpha val="16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0" name="Image 6" descr="assets/icons/LuLock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4553" y="4686849"/>
            <a:ext cx="209215" cy="20921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020056" y="4572000"/>
            <a:ext cx="264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Identity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5020056" y="4864608"/>
            <a:ext cx="264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Owns the Entra ID roles the access model runs on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8107528" y="4407408"/>
            <a:ext cx="3508096" cy="1115568"/>
          </a:xfrm>
          <a:prstGeom prst="roundRect">
            <a:avLst>
              <a:gd name="adj" fmla="val 573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4" name="Shape 35"/>
          <p:cNvSpPr/>
          <p:nvPr/>
        </p:nvSpPr>
        <p:spPr>
          <a:xfrm>
            <a:off x="8290408" y="4590288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5" name="Image 7" descr="assets/icons/LuFileCheck_amb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6968" y="4686849"/>
            <a:ext cx="209215" cy="209215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8802472" y="4572000"/>
            <a:ext cx="264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Governance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8802472" y="4864608"/>
            <a:ext cx="264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Approves every definition before it enters the layer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576072" y="5742432"/>
            <a:ext cx="11039551" cy="475488"/>
          </a:xfrm>
          <a:prstGeom prst="roundRect">
            <a:avLst>
              <a:gd name="adj" fmla="val 1346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9" name="Shape 39"/>
          <p:cNvSpPr/>
          <p:nvPr/>
        </p:nvSpPr>
        <p:spPr>
          <a:xfrm>
            <a:off x="722376" y="5824728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50" name="Image 8" descr="assets/icons/LuUsersRound_amb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6991" y="5899343"/>
            <a:ext cx="161666" cy="161666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143000" y="5742432"/>
            <a:ext cx="103263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are asking for:  </a:t>
            </a: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budget, and not headcount. Access to the data you already own, and a definition we can all agree on.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53" name="Text 42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19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3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STAND OUT POINTS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BursaIQ vs other Tools: Key Differentiators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Delivering Up-to-date Exchange Intelligence for Faster and Smarter Decisions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971800" y="177393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AI Chatbots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79592" y="177393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Intelligence Tools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787384" y="1773936"/>
            <a:ext cx="2761488" cy="36576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5B8DEF"/>
              </a:gs>
              <a:gs pos="100000">
                <a:srgbClr val="A26BFA"/>
              </a:gs>
            </a:gsLst>
            <a:lin ang="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Text 12"/>
          <p:cNvSpPr/>
          <p:nvPr/>
        </p:nvSpPr>
        <p:spPr>
          <a:xfrm>
            <a:off x="8787384" y="1773936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BursaIQ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76072" y="22311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Retrieval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971800" y="2231136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/>
          <p:nvPr/>
        </p:nvSpPr>
        <p:spPr>
          <a:xfrm>
            <a:off x="3099816" y="22311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10712" y="223113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knowledge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79592" y="2231136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Text 18"/>
          <p:cNvSpPr/>
          <p:nvPr/>
        </p:nvSpPr>
        <p:spPr>
          <a:xfrm>
            <a:off x="6007608" y="22311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18504" y="223113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manual refresh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787384" y="2231136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3DDDFC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Text 21"/>
          <p:cNvSpPr/>
          <p:nvPr/>
        </p:nvSpPr>
        <p:spPr>
          <a:xfrm>
            <a:off x="8915400" y="22311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226296" y="223113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Queries up-to-date data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76072" y="28346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Self-Quary Agents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971800" y="2834640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Text 25"/>
          <p:cNvSpPr/>
          <p:nvPr/>
        </p:nvSpPr>
        <p:spPr>
          <a:xfrm>
            <a:off x="3099816" y="283464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410712" y="283464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inputs required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879592" y="2834640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1" name="Text 28"/>
          <p:cNvSpPr/>
          <p:nvPr/>
        </p:nvSpPr>
        <p:spPr>
          <a:xfrm>
            <a:off x="6007608" y="283464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318504" y="283464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Predefined dashboards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787384" y="2834640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3DDDFC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4" name="Text 31"/>
          <p:cNvSpPr/>
          <p:nvPr/>
        </p:nvSpPr>
        <p:spPr>
          <a:xfrm>
            <a:off x="8915400" y="283464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226296" y="2834640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search and context retrieval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76072" y="34381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2971800" y="3438144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8" name="Text 35"/>
          <p:cNvSpPr/>
          <p:nvPr/>
        </p:nvSpPr>
        <p:spPr>
          <a:xfrm>
            <a:off x="3099816" y="343814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3410712" y="3438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responses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879592" y="3438144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Text 38"/>
          <p:cNvSpPr/>
          <p:nvPr/>
        </p:nvSpPr>
        <p:spPr>
          <a:xfrm>
            <a:off x="6007608" y="343814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318504" y="3438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SQL or UI navigation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787384" y="3438144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3DDDFC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4" name="Text 41"/>
          <p:cNvSpPr/>
          <p:nvPr/>
        </p:nvSpPr>
        <p:spPr>
          <a:xfrm>
            <a:off x="8915400" y="343814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226296" y="3438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Context-aware, Bursa-specific NLP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76072" y="404164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Access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2971800" y="4041648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8" name="Text 45"/>
          <p:cNvSpPr/>
          <p:nvPr/>
        </p:nvSpPr>
        <p:spPr>
          <a:xfrm>
            <a:off x="3099816" y="40416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3410712" y="4041648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access control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79592" y="4041648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1" name="Text 48"/>
          <p:cNvSpPr/>
          <p:nvPr/>
        </p:nvSpPr>
        <p:spPr>
          <a:xfrm>
            <a:off x="6007608" y="40416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318504" y="4041648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RBAC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8787384" y="4041648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3DDDFC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4" name="Text 51"/>
          <p:cNvSpPr/>
          <p:nvPr/>
        </p:nvSpPr>
        <p:spPr>
          <a:xfrm>
            <a:off x="8915400" y="40416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226296" y="4041648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Fine-grained, role-based security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76072" y="464515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Bursa-Specific Tuning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2971800" y="4645152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8" name="Text 55"/>
          <p:cNvSpPr/>
          <p:nvPr/>
        </p:nvSpPr>
        <p:spPr>
          <a:xfrm>
            <a:off x="3099816" y="464515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3410712" y="464515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AI responses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879592" y="4645152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1" name="Text 58"/>
          <p:cNvSpPr/>
          <p:nvPr/>
        </p:nvSpPr>
        <p:spPr>
          <a:xfrm>
            <a:off x="6007608" y="464515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6318504" y="464515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configuration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8787384" y="4645152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3DDDFC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4" name="Text 61"/>
          <p:cNvSpPr/>
          <p:nvPr/>
        </p:nvSpPr>
        <p:spPr>
          <a:xfrm>
            <a:off x="8915400" y="464515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9226296" y="464515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understanding of Bursa terms</a:t>
            </a:r>
            <a:endParaRPr lang="en-US" sz="950" dirty="0"/>
          </a:p>
        </p:txBody>
      </p:sp>
      <p:sp>
        <p:nvSpPr>
          <p:cNvPr id="66" name="Text 63"/>
          <p:cNvSpPr/>
          <p:nvPr/>
        </p:nvSpPr>
        <p:spPr>
          <a:xfrm>
            <a:off x="576072" y="524865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Teams Integration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2971800" y="5248656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8" name="Text 65"/>
          <p:cNvSpPr/>
          <p:nvPr/>
        </p:nvSpPr>
        <p:spPr>
          <a:xfrm>
            <a:off x="3099816" y="524865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3410712" y="52486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custom setup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5879592" y="5248656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1" name="Text 68"/>
          <p:cNvSpPr/>
          <p:nvPr/>
        </p:nvSpPr>
        <p:spPr>
          <a:xfrm>
            <a:off x="6007608" y="524865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6318504" y="52486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natively integrated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8787384" y="5248656"/>
            <a:ext cx="2761488" cy="512064"/>
          </a:xfrm>
          <a:prstGeom prst="roundRect">
            <a:avLst>
              <a:gd name="adj" fmla="val 10714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12700">
            <a:solidFill>
              <a:srgbClr val="3DDDFC">
                <a:alpha val="5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4" name="Text 71"/>
          <p:cNvSpPr/>
          <p:nvPr/>
        </p:nvSpPr>
        <p:spPr>
          <a:xfrm>
            <a:off x="8915400" y="524865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9226296" y="52486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embedded in Teams workflow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576072" y="5943600"/>
            <a:ext cx="110395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BursaIQ combines the simplicity of AI chat, analytical power of BI platforms and enterprise-grade security at scale</a:t>
            </a:r>
            <a:endParaRPr lang="en-US" sz="1150" dirty="0"/>
          </a:p>
        </p:txBody>
      </p:sp>
      <p:sp>
        <p:nvSpPr>
          <p:cNvPr id="77" name="Text 74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78" name="Text 75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19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boke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3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· THE VALUE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costs, what it returns, and when it pays back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internal baselines on one side, a contained build on the other.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6072" y="1737360"/>
            <a:ext cx="529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RETURN · PER YEAR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24448" y="1737360"/>
            <a:ext cx="529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INVESTMENT · TO PILOT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" y="2048256"/>
            <a:ext cx="2535860" cy="932688"/>
          </a:xfrm>
          <a:prstGeom prst="roundRect">
            <a:avLst>
              <a:gd name="adj" fmla="val 68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Text 12"/>
          <p:cNvSpPr/>
          <p:nvPr/>
        </p:nvSpPr>
        <p:spPr>
          <a:xfrm>
            <a:off x="758952" y="2139696"/>
            <a:ext cx="21701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3h → 15m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58952" y="2560320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answer time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31388" y="2048256"/>
            <a:ext cx="2535860" cy="932688"/>
          </a:xfrm>
          <a:prstGeom prst="roundRect">
            <a:avLst>
              <a:gd name="adj" fmla="val 68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Text 15"/>
          <p:cNvSpPr/>
          <p:nvPr/>
        </p:nvSpPr>
        <p:spPr>
          <a:xfrm>
            <a:off x="3514268" y="2139696"/>
            <a:ext cx="21701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514268" y="2560320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ad hoc requests automated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6072" y="3127248"/>
            <a:ext cx="2535860" cy="932688"/>
          </a:xfrm>
          <a:prstGeom prst="roundRect">
            <a:avLst>
              <a:gd name="adj" fmla="val 68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Text 18"/>
          <p:cNvSpPr/>
          <p:nvPr/>
        </p:nvSpPr>
        <p:spPr>
          <a:xfrm>
            <a:off x="758952" y="3218688"/>
            <a:ext cx="21701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hrs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58952" y="3639312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time redirected / month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331388" y="3127248"/>
            <a:ext cx="2535860" cy="932688"/>
          </a:xfrm>
          <a:prstGeom prst="roundRect">
            <a:avLst>
              <a:gd name="adj" fmla="val 68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Text 21"/>
          <p:cNvSpPr/>
          <p:nvPr/>
        </p:nvSpPr>
        <p:spPr>
          <a:xfrm>
            <a:off x="3514268" y="3218688"/>
            <a:ext cx="21701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 50k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514268" y="3639312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productivity value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324448" y="2048256"/>
            <a:ext cx="2535860" cy="932688"/>
          </a:xfrm>
          <a:prstGeom prst="roundRect">
            <a:avLst>
              <a:gd name="adj" fmla="val 68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7" name="Text 24"/>
          <p:cNvSpPr/>
          <p:nvPr/>
        </p:nvSpPr>
        <p:spPr>
          <a:xfrm>
            <a:off x="6507328" y="2139696"/>
            <a:ext cx="21701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~12 weeks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507328" y="2560320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of concept to pilot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079763" y="2048256"/>
            <a:ext cx="2535860" cy="932688"/>
          </a:xfrm>
          <a:prstGeom prst="roundRect">
            <a:avLst>
              <a:gd name="adj" fmla="val 68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Text 27"/>
          <p:cNvSpPr/>
          <p:nvPr/>
        </p:nvSpPr>
        <p:spPr>
          <a:xfrm>
            <a:off x="9262643" y="2139696"/>
            <a:ext cx="21701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people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262643" y="2560320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part-time, no new headcount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324448" y="3127248"/>
            <a:ext cx="2535860" cy="932688"/>
          </a:xfrm>
          <a:prstGeom prst="roundRect">
            <a:avLst>
              <a:gd name="adj" fmla="val 68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3" name="Text 30"/>
          <p:cNvSpPr/>
          <p:nvPr/>
        </p:nvSpPr>
        <p:spPr>
          <a:xfrm>
            <a:off x="6507328" y="3218688"/>
            <a:ext cx="21701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507328" y="3639312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estate and licences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079763" y="3127248"/>
            <a:ext cx="2535860" cy="932688"/>
          </a:xfrm>
          <a:prstGeom prst="roundRect">
            <a:avLst>
              <a:gd name="adj" fmla="val 6863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6" name="Text 33"/>
          <p:cNvSpPr/>
          <p:nvPr/>
        </p:nvSpPr>
        <p:spPr>
          <a:xfrm>
            <a:off x="9262643" y="3218688"/>
            <a:ext cx="21701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marts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9262643" y="3639312"/>
            <a:ext cx="2170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read-only, already built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76072" y="4279392"/>
            <a:ext cx="110395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VALUE LANDS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76072" y="4572000"/>
            <a:ext cx="3520440" cy="1024128"/>
          </a:xfrm>
          <a:prstGeom prst="roundRect">
            <a:avLst>
              <a:gd name="adj" fmla="val 625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0" name="Shape 37"/>
          <p:cNvSpPr/>
          <p:nvPr/>
        </p:nvSpPr>
        <p:spPr>
          <a:xfrm>
            <a:off x="758952" y="4718304"/>
            <a:ext cx="347472" cy="347472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1" name="Image 1" descr="assets/icons/LuChartNoAxesColumn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45" y="4801697"/>
            <a:ext cx="180685" cy="180685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197864" y="471830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758952" y="508406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 retrieval and formatting effort · Fewer repetitive ad hoc requests · Redirect analysts to higher-value work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335628" y="4572000"/>
            <a:ext cx="3520440" cy="1024128"/>
          </a:xfrm>
          <a:prstGeom prst="roundRect">
            <a:avLst>
              <a:gd name="adj" fmla="val 625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5" name="Shape 41"/>
          <p:cNvSpPr/>
          <p:nvPr/>
        </p:nvSpPr>
        <p:spPr>
          <a:xfrm>
            <a:off x="4518508" y="4718304"/>
            <a:ext cx="347472" cy="347472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6" name="Image 2" descr="assets/icons/LuTarget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901" y="4801697"/>
            <a:ext cx="180685" cy="180685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4957420" y="471830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Decision-making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4518508" y="508406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questions during meetings · Reduce follow-up delays · Improve consistency and confidence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8095183" y="4572000"/>
            <a:ext cx="3520440" cy="1024128"/>
          </a:xfrm>
          <a:prstGeom prst="roundRect">
            <a:avLst>
              <a:gd name="adj" fmla="val 6250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0" name="Shape 45"/>
          <p:cNvSpPr/>
          <p:nvPr/>
        </p:nvSpPr>
        <p:spPr>
          <a:xfrm>
            <a:off x="8278063" y="4718304"/>
            <a:ext cx="347472" cy="347472"/>
          </a:xfrm>
          <a:prstGeom prst="roundRect">
            <a:avLst>
              <a:gd name="adj" fmla="val 24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51" name="Image 3" descr="assets/icons/LuGraduationCap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456" y="4801697"/>
            <a:ext cx="180685" cy="180685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8716975" y="471830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53" name="Text 47"/>
          <p:cNvSpPr/>
          <p:nvPr/>
        </p:nvSpPr>
        <p:spPr>
          <a:xfrm>
            <a:off x="8278063" y="508406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Broaden self-service access · Raise data and market literacy · Scale conversational analytics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576072" y="5760720"/>
            <a:ext cx="11039551" cy="475488"/>
          </a:xfrm>
          <a:prstGeom prst="roundRect">
            <a:avLst>
              <a:gd name="adj" fmla="val 1346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5" name="Shape 49"/>
          <p:cNvSpPr/>
          <p:nvPr/>
        </p:nvSpPr>
        <p:spPr>
          <a:xfrm>
            <a:off x="722376" y="5843016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56" name="Image 4" descr="assets/icons/LuCircleDollarSign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991" y="5917631"/>
            <a:ext cx="161666" cy="161666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1143000" y="5760720"/>
            <a:ext cx="103263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Payback:  </a:t>
            </a: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pilot pays for itself inside the first year on redirected analyst time alone, before any decision-quality gain is counted.</a:t>
            </a:r>
            <a:endParaRPr lang="en-US" sz="1100" dirty="0"/>
          </a:p>
        </p:txBody>
      </p:sp>
      <p:sp>
        <p:nvSpPr>
          <p:cNvPr id="58" name="Text 51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59" name="Text 52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19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h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3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· OPPORTUNITY &amp; RISK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large upside, with every risk named and controlled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BursaIQ unlocks if it works, and what stands in the way if it is built carelessly.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6072" y="17556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" y="2048256"/>
            <a:ext cx="4846320" cy="822960"/>
          </a:xfrm>
          <a:prstGeom prst="roundRect">
            <a:avLst>
              <a:gd name="adj" fmla="val 777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4" name="Shape 11"/>
          <p:cNvSpPr/>
          <p:nvPr/>
        </p:nvSpPr>
        <p:spPr>
          <a:xfrm>
            <a:off x="758952" y="2258568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assets/icons/LuTarge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3" y="2355129"/>
            <a:ext cx="209215" cy="2092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07592" y="2176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ANTICIPATE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307592" y="24505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arrives before the question is asked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76072" y="2980944"/>
            <a:ext cx="4846320" cy="822960"/>
          </a:xfrm>
          <a:prstGeom prst="roundRect">
            <a:avLst>
              <a:gd name="adj" fmla="val 777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5"/>
          <p:cNvSpPr/>
          <p:nvPr/>
        </p:nvSpPr>
        <p:spPr>
          <a:xfrm>
            <a:off x="758952" y="3191256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0" name="Image 2" descr="assets/icons/LuGraduationCap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3" y="3287817"/>
            <a:ext cx="209215" cy="2092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07592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ADVISE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307592" y="3383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at every level and in every language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76072" y="3913632"/>
            <a:ext cx="4846320" cy="822960"/>
          </a:xfrm>
          <a:prstGeom prst="roundRect">
            <a:avLst>
              <a:gd name="adj" fmla="val 777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Shape 19"/>
          <p:cNvSpPr/>
          <p:nvPr/>
        </p:nvSpPr>
        <p:spPr>
          <a:xfrm>
            <a:off x="758952" y="4123944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5" name="Image 3" descr="assets/icons/LuSettings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13" y="4220505"/>
            <a:ext cx="209215" cy="20921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07592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307592" y="43159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become finished, formatted work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76072" y="4846320"/>
            <a:ext cx="4846320" cy="822960"/>
          </a:xfrm>
          <a:prstGeom prst="roundRect">
            <a:avLst>
              <a:gd name="adj" fmla="val 777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Shape 23"/>
          <p:cNvSpPr/>
          <p:nvPr/>
        </p:nvSpPr>
        <p:spPr>
          <a:xfrm>
            <a:off x="758952" y="5056632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0" name="Image 4" descr="assets/icons/LuLayers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513" y="5153193"/>
            <a:ext cx="209215" cy="20921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07592" y="4974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AMPLIFY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307592" y="52486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answer lifts the whole organisation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879592" y="1755648"/>
            <a:ext cx="57360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PRINCIPAL RISKS · AND THE CONTROL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879592" y="2048256"/>
            <a:ext cx="5736031" cy="822960"/>
          </a:xfrm>
          <a:prstGeom prst="roundRect">
            <a:avLst>
              <a:gd name="adj" fmla="val 777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Shape 28"/>
          <p:cNvSpPr/>
          <p:nvPr/>
        </p:nvSpPr>
        <p:spPr>
          <a:xfrm>
            <a:off x="10719511" y="219456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 w="9525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29"/>
          <p:cNvSpPr/>
          <p:nvPr/>
        </p:nvSpPr>
        <p:spPr>
          <a:xfrm>
            <a:off x="10719511" y="21945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6099048" y="2157984"/>
            <a:ext cx="4547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and data-security exposure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6099048" y="2487168"/>
            <a:ext cx="52971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Read-only. Isolated from live trading systems.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879592" y="2980944"/>
            <a:ext cx="5736031" cy="822960"/>
          </a:xfrm>
          <a:prstGeom prst="roundRect">
            <a:avLst>
              <a:gd name="adj" fmla="val 777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0" name="Shape 33"/>
          <p:cNvSpPr/>
          <p:nvPr/>
        </p:nvSpPr>
        <p:spPr>
          <a:xfrm>
            <a:off x="10719511" y="312724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 w="9525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Text 34"/>
          <p:cNvSpPr/>
          <p:nvPr/>
        </p:nvSpPr>
        <p:spPr>
          <a:xfrm>
            <a:off x="10719511" y="3127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6099048" y="3090672"/>
            <a:ext cx="4547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Inaccurate or misleading AI answers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6099048" y="3419856"/>
            <a:ext cx="52971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functions only. The model never writes the formula.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5879592" y="3913632"/>
            <a:ext cx="5736031" cy="822960"/>
          </a:xfrm>
          <a:prstGeom prst="roundRect">
            <a:avLst>
              <a:gd name="adj" fmla="val 777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5" name="Shape 38"/>
          <p:cNvSpPr/>
          <p:nvPr/>
        </p:nvSpPr>
        <p:spPr>
          <a:xfrm>
            <a:off x="10719511" y="4059936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Text 39"/>
          <p:cNvSpPr/>
          <p:nvPr/>
        </p:nvSpPr>
        <p:spPr>
          <a:xfrm>
            <a:off x="10719511" y="40599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6099048" y="4023360"/>
            <a:ext cx="4547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governance and access complexity</a:t>
            </a:r>
            <a:endParaRPr lang="en-US" sz="1150" dirty="0"/>
          </a:p>
        </p:txBody>
      </p:sp>
      <p:sp>
        <p:nvSpPr>
          <p:cNvPr id="48" name="Text 41"/>
          <p:cNvSpPr/>
          <p:nvPr/>
        </p:nvSpPr>
        <p:spPr>
          <a:xfrm>
            <a:off x="6099048" y="4352544"/>
            <a:ext cx="52971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and entitlement checks at query time.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5879592" y="4846320"/>
            <a:ext cx="5736031" cy="822960"/>
          </a:xfrm>
          <a:prstGeom prst="roundRect">
            <a:avLst>
              <a:gd name="adj" fmla="val 777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0" name="Shape 43"/>
          <p:cNvSpPr/>
          <p:nvPr/>
        </p:nvSpPr>
        <p:spPr>
          <a:xfrm>
            <a:off x="10719511" y="4992624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 w="9525">
            <a:solidFill>
              <a:srgbClr val="FB718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1" name="Text 44"/>
          <p:cNvSpPr/>
          <p:nvPr/>
        </p:nvSpPr>
        <p:spPr>
          <a:xfrm>
            <a:off x="10719511" y="499262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6099048" y="4956048"/>
            <a:ext cx="4547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adoption or limited relevance</a:t>
            </a:r>
            <a:endParaRPr lang="en-US" sz="1150" dirty="0"/>
          </a:p>
        </p:txBody>
      </p:sp>
      <p:sp>
        <p:nvSpPr>
          <p:cNvPr id="53" name="Text 46"/>
          <p:cNvSpPr/>
          <p:nvPr/>
        </p:nvSpPr>
        <p:spPr>
          <a:xfrm>
            <a:off x="6099048" y="5285232"/>
            <a:ext cx="52971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r>
              <a:rPr lang="en-US" sz="9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around the four adoption barriers, not around the data.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576072" y="5797296"/>
            <a:ext cx="11039551" cy="475488"/>
          </a:xfrm>
          <a:prstGeom prst="roundRect">
            <a:avLst>
              <a:gd name="adj" fmla="val 13462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5" name="Shape 48"/>
          <p:cNvSpPr/>
          <p:nvPr/>
        </p:nvSpPr>
        <p:spPr>
          <a:xfrm>
            <a:off x="722376" y="5879592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F59E0B">
              <a:alpha val="16000"/>
            </a:srgbClr>
          </a:solidFill>
          <a:ln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56" name="Image 5" descr="assets/icons/LuLock_amb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991" y="5954207"/>
            <a:ext cx="161666" cy="161666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1143000" y="5797296"/>
            <a:ext cx="103263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gate:  </a:t>
            </a:r>
            <a:r>
              <a:rPr lang="en-US" sz="1100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production connectivity and no autonomous decisions until the security, accuracy and governance gates are passed.</a:t>
            </a:r>
            <a:endParaRPr lang="en-US" sz="1100" dirty="0"/>
          </a:p>
        </p:txBody>
      </p:sp>
      <p:sp>
        <p:nvSpPr>
          <p:cNvPr id="58" name="Text 50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59" name="Text 51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19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2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2"/>
          <p:cNvSpPr/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3DDDF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3"/>
          <p:cNvSpPr/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5B8DEF">
              <a:alpha val="70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4"/>
          <p:cNvSpPr/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A26BFA">
              <a:alpha val="55000"/>
            </a:srgb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5"/>
          <p:cNvSpPr/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gradFill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· THE ROADMAP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only when Evidence supports the next stage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phased approach limits exposure, produces measurable learning and keeps management in control of each expansion.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" y="2048256"/>
            <a:ext cx="2542032" cy="3127248"/>
          </a:xfrm>
          <a:prstGeom prst="roundRect">
            <a:avLst>
              <a:gd name="adj" fmla="val 251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0"/>
          <p:cNvSpPr/>
          <p:nvPr/>
        </p:nvSpPr>
        <p:spPr>
          <a:xfrm>
            <a:off x="777240" y="22494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545336" y="2615184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5" name="Image 1" descr="assets/icons/LuSprou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177" y="2760025"/>
            <a:ext cx="313822" cy="31382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4088" y="3364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of Concept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58952" y="37490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team, non-sensitive sample data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58952" y="4443984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Gate: known-answer accuracy &amp; security review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081528" y="3429000"/>
            <a:ext cx="363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3408578" y="2048256"/>
            <a:ext cx="2542032" cy="3127248"/>
          </a:xfrm>
          <a:prstGeom prst="roundRect">
            <a:avLst>
              <a:gd name="adj" fmla="val 251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Text 17"/>
          <p:cNvSpPr/>
          <p:nvPr/>
        </p:nvSpPr>
        <p:spPr>
          <a:xfrm>
            <a:off x="3609746" y="22494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377842" y="2615184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3" name="Image 2" descr="assets/icons/LuUsers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683" y="2760025"/>
            <a:ext cx="313822" cy="31382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536594" y="3364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Pilot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3591458" y="37490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users, read-only, human validation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591458" y="4443984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Gate: adoption, response quality &amp; latency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914034" y="3429000"/>
            <a:ext cx="363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241085" y="2048256"/>
            <a:ext cx="2542032" cy="3127248"/>
          </a:xfrm>
          <a:prstGeom prst="roundRect">
            <a:avLst>
              <a:gd name="adj" fmla="val 251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Text 24"/>
          <p:cNvSpPr/>
          <p:nvPr/>
        </p:nvSpPr>
        <p:spPr>
          <a:xfrm>
            <a:off x="6442253" y="22494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7210349" y="2615184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1" name="Image 3" descr="assets/icons/LuNetwor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5190" y="2760025"/>
            <a:ext cx="313822" cy="31382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369101" y="3364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Expansion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6423965" y="37490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across approved domains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423965" y="4443984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Gate: governance approval &amp; support readiness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8746541" y="3429000"/>
            <a:ext cx="363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Shape 30"/>
          <p:cNvSpPr/>
          <p:nvPr/>
        </p:nvSpPr>
        <p:spPr>
          <a:xfrm>
            <a:off x="9073591" y="2048256"/>
            <a:ext cx="2542032" cy="3127248"/>
          </a:xfrm>
          <a:prstGeom prst="roundRect">
            <a:avLst>
              <a:gd name="adj" fmla="val 251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7" name="Text 31"/>
          <p:cNvSpPr/>
          <p:nvPr/>
        </p:nvSpPr>
        <p:spPr>
          <a:xfrm>
            <a:off x="9274759" y="22494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10042855" y="2615184"/>
            <a:ext cx="603504" cy="603504"/>
          </a:xfrm>
          <a:prstGeom prst="roundRect">
            <a:avLst>
              <a:gd name="adj" fmla="val 24000"/>
            </a:avLst>
          </a:prstGeom>
          <a:solidFill>
            <a:srgbClr val="4ADE80">
              <a:alpha val="16000"/>
            </a:srgbClr>
          </a:solidFill>
          <a:ln w="9525">
            <a:solidFill>
              <a:srgbClr val="4ADE8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39" name="Image 4" descr="assets/icons/LuRocket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7696" y="2760025"/>
            <a:ext cx="313822" cy="31382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201607" y="3364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Scale</a:t>
            </a:r>
            <a:endParaRPr lang="en-US" sz="1350" dirty="0"/>
          </a:p>
        </p:txBody>
      </p:sp>
      <p:sp>
        <p:nvSpPr>
          <p:cNvPr id="41" name="Text 34"/>
          <p:cNvSpPr/>
          <p:nvPr/>
        </p:nvSpPr>
        <p:spPr>
          <a:xfrm>
            <a:off x="9256471" y="374904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Monitored service, continuous improvement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9256471" y="4443984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Gate: service levels &amp; sustained value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576072" y="5541264"/>
            <a:ext cx="110395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are asking for: Approval to run Stage 01, one team, one read-only mart, and a named data owner per domain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</a:t>
            </a:r>
            <a:r>
              <a:rPr lang="en-US" sz="975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</a:t>
            </a:r>
            <a:r>
              <a:rPr lang="en-US" sz="975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Prompt-a-thon 2026</a:t>
            </a:r>
            <a:endParaRPr lang="en-US" sz="975" dirty="0"/>
          </a:p>
        </p:txBody>
      </p:sp>
      <p:sp>
        <p:nvSpPr>
          <p:cNvPr id="45" name="Text 38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19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1"/>
          <p:cNvSpPr/>
          <p:nvPr/>
        </p:nvSpPr>
        <p:spPr>
          <a:xfrm>
            <a:off x="576072" y="896112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3DDDFC">
              <a:alpha val="14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2"/>
          <p:cNvSpPr/>
          <p:nvPr/>
        </p:nvSpPr>
        <p:spPr>
          <a:xfrm>
            <a:off x="576072" y="896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5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HORIZON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6072" y="1335024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E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</a:t>
            </a:r>
            <a:r>
              <a:rPr lang="en-US" sz="5600" b="1" dirty="0">
                <a:gradFill>
                  <a:gsLst>
                    <a:gs pos="0">
                      <a:srgbClr val="5B8DEF"/>
                    </a:gs>
                    <a:gs pos="50000">
                      <a:srgbClr val="A26BFA"/>
                    </a:gs>
                    <a:gs pos="100000">
                      <a:srgbClr val="3DDDFC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76072" y="2432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Answering to Anticipating.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76072" y="2962656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BursaIQ: Bold in Innovation, United in Purpose, Responsible by Design, Strengthened through Synergy and Agile in Every Decision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76072" y="4114800"/>
            <a:ext cx="2587752" cy="1554480"/>
          </a:xfrm>
          <a:prstGeom prst="roundRect">
            <a:avLst>
              <a:gd name="adj" fmla="val 411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Shape 7"/>
          <p:cNvSpPr/>
          <p:nvPr/>
        </p:nvSpPr>
        <p:spPr>
          <a:xfrm>
            <a:off x="777240" y="429768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1" name="Image 1" descr="assets/icons/LuMessagesSquar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39863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07592" y="42976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6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ANTICIPATE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95528" y="4864608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arrives before the question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93338" y="4114800"/>
            <a:ext cx="2587752" cy="1554480"/>
          </a:xfrm>
          <a:prstGeom prst="roundRect">
            <a:avLst>
              <a:gd name="adj" fmla="val 411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1"/>
          <p:cNvSpPr/>
          <p:nvPr/>
        </p:nvSpPr>
        <p:spPr>
          <a:xfrm>
            <a:off x="3594506" y="429768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A26BFA">
              <a:alpha val="16000"/>
            </a:srgbClr>
          </a:solidFill>
          <a:ln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16" name="Image 2" descr="assets/icons/LuBrain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456" y="439863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24858" y="42976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60" dirty="0">
                <a:solidFill>
                  <a:srgbClr val="A26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612794" y="4864608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at every level and language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0605" y="4114800"/>
            <a:ext cx="2587752" cy="1554480"/>
          </a:xfrm>
          <a:prstGeom prst="roundRect">
            <a:avLst>
              <a:gd name="adj" fmla="val 411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5"/>
          <p:cNvSpPr/>
          <p:nvPr/>
        </p:nvSpPr>
        <p:spPr>
          <a:xfrm>
            <a:off x="6411773" y="429768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5B8DEF">
              <a:alpha val="16000"/>
            </a:srgbClr>
          </a:solidFill>
          <a:ln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1" name="Image 3" descr="assets/icons/LuLightbulb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723" y="4398630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2125" y="42976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6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30061" y="4864608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become finished, formatted report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027871" y="4114800"/>
            <a:ext cx="2587752" cy="1554480"/>
          </a:xfrm>
          <a:prstGeom prst="roundRect">
            <a:avLst>
              <a:gd name="adj" fmla="val 4118"/>
            </a:avLst>
          </a:prstGeom>
          <a:gradFill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w="9525">
            <a:solidFill>
              <a:srgbClr val="FFFFFF">
                <a:alpha val="16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Shape 19"/>
          <p:cNvSpPr/>
          <p:nvPr/>
        </p:nvSpPr>
        <p:spPr>
          <a:xfrm>
            <a:off x="9229039" y="429768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3DDDFC">
              <a:alpha val="16000"/>
            </a:srgbClr>
          </a:solidFill>
          <a:ln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26" name="Image 4" descr="assets/icons/LuRocket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9989" y="4398630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59391" y="42976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60" dirty="0">
                <a:solidFill>
                  <a:srgbClr val="3DDD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AMPLIFY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247327" y="4864608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B0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answer lifts the whole organisation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6B7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19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2554</Words>
  <Application>Microsoft Office PowerPoint</Application>
  <PresentationFormat>Widescreen</PresentationFormat>
  <Paragraphs>471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BursaIQ · Prompt-a-thon 2026</dc:title>
  <dc:subject>PptxGenJS Presentation</dc:subject>
  <dc:creator>BursaIQ Team</dc:creator>
  <cp:lastModifiedBy>Kim Hoong Lim</cp:lastModifiedBy>
  <cp:revision>1</cp:revision>
  <dcterms:created xsi:type="dcterms:W3CDTF">2026-08-13T01:55:53Z</dcterms:created>
  <dcterms:modified xsi:type="dcterms:W3CDTF">2026-08-14T04:27:17Z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d48a1c6-a2ec-49d2-beaa-ed3d16628e0e_Enabled">
    <vt:lpwstr>true</vt:lpwstr>
  </property>
  <property fmtid="{D5CDD505-2E9C-101B-9397-08002B2CF9AE}" pid="3" name="MSIP_Label_0d48a1c6-a2ec-49d2-beaa-ed3d16628e0e_SetDate">
    <vt:lpwstr>2026-08-13T03:21:57Z</vt:lpwstr>
  </property>
  <property fmtid="{D5CDD505-2E9C-101B-9397-08002B2CF9AE}" pid="4" name="MSIP_Label_0d48a1c6-a2ec-49d2-beaa-ed3d16628e0e_Method">
    <vt:lpwstr>Standard</vt:lpwstr>
  </property>
  <property fmtid="{D5CDD505-2E9C-101B-9397-08002B2CF9AE}" pid="5" name="MSIP_Label_0d48a1c6-a2ec-49d2-beaa-ed3d16628e0e_Name">
    <vt:lpwstr>Public</vt:lpwstr>
  </property>
  <property fmtid="{D5CDD505-2E9C-101B-9397-08002B2CF9AE}" pid="6" name="MSIP_Label_0d48a1c6-a2ec-49d2-beaa-ed3d16628e0e_SiteId">
    <vt:lpwstr>d6d2c0de-fe9d-4b6f-90eb-25edd69db24c</vt:lpwstr>
  </property>
  <property fmtid="{D5CDD505-2E9C-101B-9397-08002B2CF9AE}" pid="7" name="MSIP_Label_0d48a1c6-a2ec-49d2-beaa-ed3d16628e0e_ActionId">
    <vt:lpwstr>4e4b33c2-6e14-4d7b-86cc-b86f1598397b</vt:lpwstr>
  </property>
  <property fmtid="{D5CDD505-2E9C-101B-9397-08002B2CF9AE}" pid="8" name="MSIP_Label_0d48a1c6-a2ec-49d2-beaa-ed3d16628e0e_ContentBits">
    <vt:lpwstr>0</vt:lpwstr>
  </property>
  <property fmtid="{D5CDD505-2E9C-101B-9397-08002B2CF9AE}" pid="9" name="MSIP_Label_0d48a1c6-a2ec-49d2-beaa-ed3d16628e0e_Tag">
    <vt:lpwstr>10, 3, 0, 1</vt:lpwstr>
  </property>
</Properties>
</file>