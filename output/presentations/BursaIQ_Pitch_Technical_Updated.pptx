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40D3481-C431-4713-ABC8-9941E0B922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AC3A7-4AC9-4BD3-9565-0AE265697C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A7C313-27D8-460C-A690-92263FAF58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B03CAB-1C9A-4466-8AD1-178D8CBD2F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027A66-EA80-4D26-8439-B8C843F6CA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811C2-3D30-457A-9709-4918CF734D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CH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4120" y="651960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BursaIQ  ·  Technical Architecture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384280" y="6510600"/>
            <a:ext cx="3837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ECFDF-B77D-48A6-94B3-5214C8871D9B}" type="slidenum"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92A5E"/>
          </a:solidFill>
          <a:ln w="12700">
            <a:solidFill>
              <a:srgbClr val="09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 rot="1200000">
            <a:off x="7909560" y="-1051560"/>
            <a:ext cx="5303160" cy="5303160"/>
          </a:xfrm>
          <a:prstGeom prst="arc">
            <a:avLst>
              <a:gd name="adj1" fmla="val 16200000"/>
              <a:gd name="adj2" fmla="val 0"/>
            </a:avLst>
          </a:prstGeom>
          <a:noFill/>
          <a:ln w="43180">
            <a:solidFill>
              <a:srgbClr val="1B70E8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 rot="12300000">
            <a:off x="8503920" y="2880720"/>
            <a:ext cx="4480200" cy="4480200"/>
          </a:xfrm>
          <a:prstGeom prst="arc">
            <a:avLst>
              <a:gd name="adj1" fmla="val 16200000"/>
              <a:gd name="adj2" fmla="val 0"/>
            </a:avLst>
          </a:prstGeom>
          <a:noFill/>
          <a:ln w="27940">
            <a:solidFill>
              <a:srgbClr val="14B8D4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567000" y="5119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BursaIQ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585360" y="1408320"/>
            <a:ext cx="251424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76800" y="1476720"/>
            <a:ext cx="23313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B9D6FF"/>
                </a:solidFill>
                <a:effectLst/>
                <a:uFillTx/>
                <a:latin typeface="Aptos"/>
              </a:rPr>
              <a:t>REPOSITORY-ALIGNED · OCT 2026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567000" y="1856160"/>
            <a:ext cx="69490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Technical Architecture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&amp; Implemented Platform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594360" y="3291840"/>
            <a:ext cx="6537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D8E5F7"/>
                </a:solidFill>
                <a:effectLst/>
                <a:uFillTx/>
                <a:latin typeface="Aptos"/>
              </a:rPr>
              <a:t>Flask APIs, governed AI execution, deterministic analytics, role-filtered knowledge, human approval and reusable intelligence—implemented as one local prototype.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594360" y="460872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85800" y="467712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4B8D4"/>
                </a:solidFill>
                <a:effectLst/>
                <a:uFillTx/>
                <a:latin typeface="Aptos"/>
              </a:rPr>
              <a:t>Python 3.11+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1947600" y="460872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2039040" y="467712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Flask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3300840" y="460872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3392280" y="467712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SQLite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4654440" y="460872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4745880" y="467712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JavaScript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6"/>
          <p:cNvSpPr/>
          <p:nvPr/>
        </p:nvSpPr>
        <p:spPr>
          <a:xfrm>
            <a:off x="594360" y="504756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685800" y="511596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4B8D4"/>
                </a:solidFill>
                <a:effectLst/>
                <a:uFillTx/>
                <a:latin typeface="Aptos"/>
              </a:rPr>
              <a:t>Ollama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1947600" y="504756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2039040" y="511596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Copilot Studio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3300840" y="504756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3392280" y="511596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RAG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4654440" y="5047560"/>
            <a:ext cx="1170000" cy="273960"/>
          </a:xfrm>
          <a:prstGeom prst="roundRect">
            <a:avLst>
              <a:gd name="adj" fmla="val 26667"/>
            </a:avLst>
          </a:prstGeom>
          <a:solidFill>
            <a:srgbClr val="123B70"/>
          </a:solidFill>
          <a:ln w="12700">
            <a:solidFill>
              <a:srgbClr val="123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4745880" y="5115960"/>
            <a:ext cx="98712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PDF output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594360" y="585216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1A8C8"/>
                </a:solidFill>
                <a:effectLst/>
                <a:uFillTx/>
                <a:latin typeface="Aptos"/>
              </a:rPr>
              <a:t>Scope: code architecture, feature wiring, data paths, governance controls and demo boundaries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5"/>
          </p:nvPr>
        </p:nvSpPr>
        <p:spPr>
          <a:xfrm>
            <a:off x="11384280" y="6510600"/>
            <a:ext cx="3837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2A3E9B-C1DD-4052-8ADE-4AE343A62FFD}" type="slidenum"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38840" y="2743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111" strike="noStrike">
                <a:solidFill>
                  <a:srgbClr val="0B5FFF"/>
                </a:solidFill>
                <a:effectLst/>
                <a:uFillTx/>
                <a:latin typeface="Aptos"/>
              </a:rPr>
              <a:t>IMPLEMENTED SURFACE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438840" y="640080"/>
            <a:ext cx="1120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Twelve connected pages share one governed backend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457200" y="117036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Navigation is grouped by execution, follow-through and administration; all stateful features persist through Flask APIs.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457200" y="166428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457200" y="166428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640080" y="181980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731520" y="188820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ENTRY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640080" y="215784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Home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40080" y="245988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Live semantic routing to conversational Q&amp;A or an active registered mission capability.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2834640" y="166428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2834640" y="166428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3017520" y="181980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3108960" y="188820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EXECUTE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3017520" y="215784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AI Assistant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3017520" y="245988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Live answers, evidence, metrics and hybrid HTML/SVG analytics charts.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5212080" y="166428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5212080" y="166428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5394960" y="181980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5486400" y="188820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KNOWLEDGE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5394960" y="215784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Ask Bursa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5394960" y="245988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Role-filtered RAG over indexed documents with citations and source-scope disclosure.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7589520" y="166428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7589520" y="166428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7772400" y="181980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7863840" y="188820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MISSIONS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7772400" y="215784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My Workforce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7772400" y="245988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Governed missions, worker stages, agents, teams and capabilities.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9966960" y="166428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9966960" y="166428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10149840" y="181980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10241280" y="188820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COLLAB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10149840" y="215784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Collaborative Rooms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10149840" y="245988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Persisted rooms, tasks, files, AI teammates and decisions.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3"/>
          <p:cNvSpPr/>
          <p:nvPr/>
        </p:nvSpPr>
        <p:spPr>
          <a:xfrm>
            <a:off x="457200" y="299916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4"/>
          <p:cNvSpPr/>
          <p:nvPr/>
        </p:nvSpPr>
        <p:spPr>
          <a:xfrm>
            <a:off x="457200" y="299916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5"/>
          <p:cNvSpPr/>
          <p:nvPr/>
        </p:nvSpPr>
        <p:spPr>
          <a:xfrm>
            <a:off x="640080" y="315468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6"/>
          <p:cNvSpPr/>
          <p:nvPr/>
        </p:nvSpPr>
        <p:spPr>
          <a:xfrm>
            <a:off x="731520" y="322344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WORKFLOW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7"/>
          <p:cNvSpPr/>
          <p:nvPr/>
        </p:nvSpPr>
        <p:spPr>
          <a:xfrm>
            <a:off x="640080" y="349308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Automation Studio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8"/>
          <p:cNvSpPr/>
          <p:nvPr/>
        </p:nvSpPr>
        <p:spPr>
          <a:xfrm>
            <a:off x="640080" y="379476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Persisted visual workflows with validation, retries, approvals and resumable runs.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9"/>
          <p:cNvSpPr/>
          <p:nvPr/>
        </p:nvSpPr>
        <p:spPr>
          <a:xfrm>
            <a:off x="2834640" y="299916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0"/>
          <p:cNvSpPr/>
          <p:nvPr/>
        </p:nvSpPr>
        <p:spPr>
          <a:xfrm>
            <a:off x="2834640" y="2999160"/>
            <a:ext cx="63720" cy="1078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1"/>
          <p:cNvSpPr/>
          <p:nvPr/>
        </p:nvSpPr>
        <p:spPr>
          <a:xfrm>
            <a:off x="3017520" y="315468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2"/>
          <p:cNvSpPr/>
          <p:nvPr/>
        </p:nvSpPr>
        <p:spPr>
          <a:xfrm>
            <a:off x="3108960" y="322344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REUSE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3"/>
          <p:cNvSpPr/>
          <p:nvPr/>
        </p:nvSpPr>
        <p:spPr>
          <a:xfrm>
            <a:off x="3017520" y="349308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Intelligence Exchange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4"/>
          <p:cNvSpPr/>
          <p:nvPr/>
        </p:nvSpPr>
        <p:spPr>
          <a:xfrm>
            <a:off x="3017520" y="379476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Approved, versioned assets with provenance and traceable reuse as a new mission.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5"/>
          <p:cNvSpPr/>
          <p:nvPr/>
        </p:nvSpPr>
        <p:spPr>
          <a:xfrm>
            <a:off x="5212080" y="299916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6"/>
          <p:cNvSpPr/>
          <p:nvPr/>
        </p:nvSpPr>
        <p:spPr>
          <a:xfrm>
            <a:off x="5212080" y="2999160"/>
            <a:ext cx="63720" cy="10785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7"/>
          <p:cNvSpPr/>
          <p:nvPr/>
        </p:nvSpPr>
        <p:spPr>
          <a:xfrm>
            <a:off x="5394960" y="315468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8"/>
          <p:cNvSpPr/>
          <p:nvPr/>
        </p:nvSpPr>
        <p:spPr>
          <a:xfrm>
            <a:off x="5486400" y="322344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FOLLOW-UP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9"/>
          <p:cNvSpPr/>
          <p:nvPr/>
        </p:nvSpPr>
        <p:spPr>
          <a:xfrm>
            <a:off x="5394960" y="349308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Action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0"/>
          <p:cNvSpPr/>
          <p:nvPr/>
        </p:nvSpPr>
        <p:spPr>
          <a:xfrm>
            <a:off x="5394960" y="379476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Backend-derived attention queue, decision memory and reviewable email schedules.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1"/>
          <p:cNvSpPr/>
          <p:nvPr/>
        </p:nvSpPr>
        <p:spPr>
          <a:xfrm>
            <a:off x="7589520" y="299916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2"/>
          <p:cNvSpPr/>
          <p:nvPr/>
        </p:nvSpPr>
        <p:spPr>
          <a:xfrm>
            <a:off x="7589520" y="2999160"/>
            <a:ext cx="63720" cy="10785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3"/>
          <p:cNvSpPr/>
          <p:nvPr/>
        </p:nvSpPr>
        <p:spPr>
          <a:xfrm>
            <a:off x="7772400" y="315468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4"/>
          <p:cNvSpPr/>
          <p:nvPr/>
        </p:nvSpPr>
        <p:spPr>
          <a:xfrm>
            <a:off x="7863840" y="322344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GOVERN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5"/>
          <p:cNvSpPr/>
          <p:nvPr/>
        </p:nvSpPr>
        <p:spPr>
          <a:xfrm>
            <a:off x="7772400" y="349308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Verification Centre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6"/>
          <p:cNvSpPr/>
          <p:nvPr/>
        </p:nvSpPr>
        <p:spPr>
          <a:xfrm>
            <a:off x="7772400" y="379476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Review, approval, requested changes, resubmission and audit history.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7"/>
          <p:cNvSpPr/>
          <p:nvPr/>
        </p:nvSpPr>
        <p:spPr>
          <a:xfrm>
            <a:off x="9966960" y="299916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8"/>
          <p:cNvSpPr/>
          <p:nvPr/>
        </p:nvSpPr>
        <p:spPr>
          <a:xfrm>
            <a:off x="9966960" y="2999160"/>
            <a:ext cx="63720" cy="107856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9"/>
          <p:cNvSpPr/>
          <p:nvPr/>
        </p:nvSpPr>
        <p:spPr>
          <a:xfrm>
            <a:off x="10149840" y="315468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0"/>
          <p:cNvSpPr/>
          <p:nvPr/>
        </p:nvSpPr>
        <p:spPr>
          <a:xfrm>
            <a:off x="10241280" y="322344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ADMIN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1"/>
          <p:cNvSpPr/>
          <p:nvPr/>
        </p:nvSpPr>
        <p:spPr>
          <a:xfrm>
            <a:off x="10149840" y="349308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Knowledge Admin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2"/>
          <p:cNvSpPr/>
          <p:nvPr/>
        </p:nvSpPr>
        <p:spPr>
          <a:xfrm>
            <a:off x="10149840" y="379476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Upload, metadata, permissions, indexing, failures, removal and suggestions.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3"/>
          <p:cNvSpPr/>
          <p:nvPr/>
        </p:nvSpPr>
        <p:spPr>
          <a:xfrm>
            <a:off x="457200" y="433440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4"/>
          <p:cNvSpPr/>
          <p:nvPr/>
        </p:nvSpPr>
        <p:spPr>
          <a:xfrm>
            <a:off x="457200" y="4334400"/>
            <a:ext cx="63720" cy="107856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65"/>
          <p:cNvSpPr/>
          <p:nvPr/>
        </p:nvSpPr>
        <p:spPr>
          <a:xfrm>
            <a:off x="640080" y="448956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6"/>
          <p:cNvSpPr/>
          <p:nvPr/>
        </p:nvSpPr>
        <p:spPr>
          <a:xfrm>
            <a:off x="731520" y="455832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ADMIN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7"/>
          <p:cNvSpPr/>
          <p:nvPr/>
        </p:nvSpPr>
        <p:spPr>
          <a:xfrm>
            <a:off x="640080" y="482796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Connectors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8"/>
          <p:cNvSpPr/>
          <p:nvPr/>
        </p:nvSpPr>
        <p:spPr>
          <a:xfrm>
            <a:off x="640080" y="512964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Governed requests; external access stays unavailable until configured.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9"/>
          <p:cNvSpPr/>
          <p:nvPr/>
        </p:nvSpPr>
        <p:spPr>
          <a:xfrm>
            <a:off x="2834640" y="4334400"/>
            <a:ext cx="2148480" cy="107856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70"/>
          <p:cNvSpPr/>
          <p:nvPr/>
        </p:nvSpPr>
        <p:spPr>
          <a:xfrm>
            <a:off x="2834640" y="4334400"/>
            <a:ext cx="63720" cy="107856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1"/>
          <p:cNvSpPr/>
          <p:nvPr/>
        </p:nvSpPr>
        <p:spPr>
          <a:xfrm>
            <a:off x="3017520" y="448956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2"/>
          <p:cNvSpPr/>
          <p:nvPr/>
        </p:nvSpPr>
        <p:spPr>
          <a:xfrm>
            <a:off x="3108960" y="455832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PLATFORM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3"/>
          <p:cNvSpPr/>
          <p:nvPr/>
        </p:nvSpPr>
        <p:spPr>
          <a:xfrm>
            <a:off x="3017520" y="4827960"/>
            <a:ext cx="1801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Settings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4"/>
          <p:cNvSpPr/>
          <p:nvPr/>
        </p:nvSpPr>
        <p:spPr>
          <a:xfrm>
            <a:off x="3017520" y="5129640"/>
            <a:ext cx="1801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Local preferences and live model-provider availability.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5"/>
          <p:cNvSpPr/>
          <p:nvPr/>
        </p:nvSpPr>
        <p:spPr>
          <a:xfrm>
            <a:off x="5212080" y="4334400"/>
            <a:ext cx="6903360" cy="1078560"/>
          </a:xfrm>
          <a:prstGeom prst="roundRect">
            <a:avLst>
              <a:gd name="adj" fmla="val 6780"/>
            </a:avLst>
          </a:prstGeom>
          <a:solidFill>
            <a:srgbClr val="092A5E"/>
          </a:solidFill>
          <a:ln w="12700">
            <a:solidFill>
              <a:srgbClr val="09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6"/>
          <p:cNvSpPr/>
          <p:nvPr/>
        </p:nvSpPr>
        <p:spPr>
          <a:xfrm>
            <a:off x="5486400" y="45352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Shared rendering contract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7"/>
          <p:cNvSpPr/>
          <p:nvPr/>
        </p:nvSpPr>
        <p:spPr>
          <a:xfrm>
            <a:off x="5486400" y="4910400"/>
            <a:ext cx="626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D8E5F7"/>
                </a:solidFill>
                <a:effectLst/>
                <a:uFillTx/>
                <a:latin typeface="Aptos"/>
              </a:rPr>
              <a:t>Summary metrics · tables · charts · findings · evidence · quality checks · interpretation boundaries · downloadable outputs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8"/>
          <p:cNvSpPr/>
          <p:nvPr/>
        </p:nvSpPr>
        <p:spPr>
          <a:xfrm>
            <a:off x="457200" y="5797080"/>
            <a:ext cx="11292840" cy="360"/>
          </a:xfrm>
          <a:prstGeom prst="line">
            <a:avLst/>
          </a:prstGeom>
          <a:ln w="12700">
            <a:solidFill>
              <a:srgbClr val="D7E0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9"/>
          <p:cNvSpPr/>
          <p:nvPr/>
        </p:nvSpPr>
        <p:spPr>
          <a:xfrm>
            <a:off x="475560" y="595260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All surfaces are implemented in index.html + static/js/workforce.js and backed by server.py / bursaiq modules.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sldNum" idx="6"/>
          </p:nvPr>
        </p:nvSpPr>
        <p:spPr>
          <a:xfrm>
            <a:off x="11384280" y="6510600"/>
            <a:ext cx="3837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5B3818-268D-405A-8FBE-D41FD5923CDC}" type="slidenum"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38840" y="2743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111" strike="noStrike">
                <a:solidFill>
                  <a:srgbClr val="0B5FFF"/>
                </a:solidFill>
                <a:effectLst/>
                <a:uFillTx/>
                <a:latin typeface="Aptos"/>
              </a:rPr>
              <a:t>DESIGN ARCHITECTURE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38840" y="640080"/>
            <a:ext cx="1120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Layered system with explicit execution and trust boundaries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57200" y="117036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The model interprets intent and generates language; Python owns capability allowlisting, deterministic analytics, validation, persistence and reports.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6089760" y="2267640"/>
            <a:ext cx="360" cy="182880"/>
          </a:xfrm>
          <a:prstGeom prst="line">
            <a:avLst/>
          </a:prstGeom>
          <a:ln w="20320">
            <a:solidFill>
              <a:srgbClr val="91A8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6089760" y="3108960"/>
            <a:ext cx="360" cy="182880"/>
          </a:xfrm>
          <a:prstGeom prst="line">
            <a:avLst/>
          </a:prstGeom>
          <a:ln w="20320">
            <a:solidFill>
              <a:srgbClr val="91A8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6089760" y="3949920"/>
            <a:ext cx="360" cy="182880"/>
          </a:xfrm>
          <a:prstGeom prst="line">
            <a:avLst/>
          </a:prstGeom>
          <a:ln w="20320">
            <a:solidFill>
              <a:srgbClr val="91A8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6089760" y="4791240"/>
            <a:ext cx="360" cy="182880"/>
          </a:xfrm>
          <a:prstGeom prst="line">
            <a:avLst/>
          </a:prstGeom>
          <a:ln w="20320">
            <a:solidFill>
              <a:srgbClr val="91A8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7818120" y="3703320"/>
            <a:ext cx="960120" cy="360"/>
          </a:xfrm>
          <a:prstGeom prst="line">
            <a:avLst/>
          </a:prstGeom>
          <a:ln w="17780">
            <a:solidFill>
              <a:srgbClr val="91A8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 flipH="1">
            <a:off x="7818120" y="3703320"/>
            <a:ext cx="941760" cy="360"/>
          </a:xfrm>
          <a:prstGeom prst="line">
            <a:avLst/>
          </a:prstGeom>
          <a:ln w="17780">
            <a:solidFill>
              <a:srgbClr val="91A8C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02920" y="1609200"/>
            <a:ext cx="7314840" cy="658080"/>
          </a:xfrm>
          <a:prstGeom prst="roundRect">
            <a:avLst>
              <a:gd name="adj" fmla="val 8333"/>
            </a:avLst>
          </a:prstGeom>
          <a:solidFill>
            <a:srgbClr val="EDF4FF"/>
          </a:solidFill>
          <a:ln w="889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658440" y="1755720"/>
            <a:ext cx="347040" cy="34704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658440" y="1837800"/>
            <a:ext cx="34704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1134000" y="17283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Browser interface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2880360" y="172836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Responsive HTML/CSS/JavaScript · 11 pages · safe Markdown · HTML/SVG analytics charts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502920" y="2450520"/>
            <a:ext cx="7314840" cy="658080"/>
          </a:xfrm>
          <a:prstGeom prst="roundRect">
            <a:avLst>
              <a:gd name="adj" fmla="val 8333"/>
            </a:avLst>
          </a:prstGeom>
          <a:solidFill>
            <a:srgbClr val="EAF3FF"/>
          </a:solidFill>
          <a:ln w="889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658440" y="2597040"/>
            <a:ext cx="347040" cy="34704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658440" y="2679120"/>
            <a:ext cx="34704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1134000" y="25693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Flask API boundary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2880360" y="256932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Routing, request validation, role checks, provider gateway and feature-specific APIs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502920" y="3291840"/>
            <a:ext cx="7314840" cy="658080"/>
          </a:xfrm>
          <a:prstGeom prst="roundRect">
            <a:avLst>
              <a:gd name="adj" fmla="val 8333"/>
            </a:avLst>
          </a:prstGeom>
          <a:solidFill>
            <a:srgbClr val="F1EEFF"/>
          </a:solidFill>
          <a:ln w="889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658440" y="3438000"/>
            <a:ext cx="347040" cy="34704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1"/>
          <p:cNvSpPr/>
          <p:nvPr/>
        </p:nvSpPr>
        <p:spPr>
          <a:xfrm>
            <a:off x="658440" y="3520440"/>
            <a:ext cx="34704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1134000" y="341064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Orchestration &amp; governance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3"/>
          <p:cNvSpPr/>
          <p:nvPr/>
        </p:nvSpPr>
        <p:spPr>
          <a:xfrm>
            <a:off x="2880360" y="341064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Mission engine · Agent Registry · teams · Capability Registry · workflow engine · approval gates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502920" y="4133160"/>
            <a:ext cx="7314840" cy="658080"/>
          </a:xfrm>
          <a:prstGeom prst="roundRect">
            <a:avLst>
              <a:gd name="adj" fmla="val 8333"/>
            </a:avLst>
          </a:prstGeom>
          <a:solidFill>
            <a:srgbClr val="E8F8F5"/>
          </a:solidFill>
          <a:ln w="889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658440" y="4279320"/>
            <a:ext cx="347040" cy="347040"/>
          </a:xfrm>
          <a:prstGeom prst="ellipse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6"/>
          <p:cNvSpPr/>
          <p:nvPr/>
        </p:nvSpPr>
        <p:spPr>
          <a:xfrm>
            <a:off x="658440" y="4361760"/>
            <a:ext cx="34704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7"/>
          <p:cNvSpPr/>
          <p:nvPr/>
        </p:nvSpPr>
        <p:spPr>
          <a:xfrm>
            <a:off x="1134000" y="42519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Execution services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8"/>
          <p:cNvSpPr/>
          <p:nvPr/>
        </p:nvSpPr>
        <p:spPr>
          <a:xfrm>
            <a:off x="2880360" y="425196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Allowlisted Python executors · RAG · PDF generation · model providers · structured result validation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502920" y="4974480"/>
            <a:ext cx="7314840" cy="65808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889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658440" y="5120640"/>
            <a:ext cx="347040" cy="347040"/>
          </a:xfrm>
          <a:prstGeom prst="ellipse">
            <a:avLst/>
          </a:prstGeom>
          <a:solidFill>
            <a:srgbClr val="092A5E"/>
          </a:solidFill>
          <a:ln w="12700">
            <a:solidFill>
              <a:srgbClr val="09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1"/>
          <p:cNvSpPr/>
          <p:nvPr/>
        </p:nvSpPr>
        <p:spPr>
          <a:xfrm>
            <a:off x="658440" y="5203080"/>
            <a:ext cx="34704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2"/>
          <p:cNvSpPr/>
          <p:nvPr/>
        </p:nvSpPr>
        <p:spPr>
          <a:xfrm>
            <a:off x="1134000" y="50932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State &amp; governed assets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3"/>
          <p:cNvSpPr/>
          <p:nvPr/>
        </p:nvSpPr>
        <p:spPr>
          <a:xfrm>
            <a:off x="2880360" y="509328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SQLite runtime store · controlled knowledge files · synthetic CSV inputs · output/pdf deliverables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8275320" y="1609200"/>
            <a:ext cx="3401280" cy="10238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8275320" y="1609200"/>
            <a:ext cx="63720" cy="10238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6"/>
          <p:cNvSpPr/>
          <p:nvPr/>
        </p:nvSpPr>
        <p:spPr>
          <a:xfrm>
            <a:off x="8458200" y="176472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8549640" y="183348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LANGUAGE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8458200" y="2103120"/>
            <a:ext cx="305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Model providers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9"/>
          <p:cNvSpPr/>
          <p:nvPr/>
        </p:nvSpPr>
        <p:spPr>
          <a:xfrm>
            <a:off x="8458200" y="2404800"/>
            <a:ext cx="3053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Ollama: qwen2.5:3b + nomic-embed-text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Copilot Studio: server-side Direct Line token exchange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0"/>
          <p:cNvSpPr/>
          <p:nvPr/>
        </p:nvSpPr>
        <p:spPr>
          <a:xfrm>
            <a:off x="8275320" y="2953440"/>
            <a:ext cx="3401280" cy="133452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8275320" y="2953440"/>
            <a:ext cx="63720" cy="13345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2"/>
          <p:cNvSpPr/>
          <p:nvPr/>
        </p:nvSpPr>
        <p:spPr>
          <a:xfrm>
            <a:off x="8458200" y="310896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3"/>
          <p:cNvSpPr/>
          <p:nvPr/>
        </p:nvSpPr>
        <p:spPr>
          <a:xfrm>
            <a:off x="8549640" y="317772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ALLOWLIST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8458200" y="3447360"/>
            <a:ext cx="305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Capability safety boundary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8458200" y="3749040"/>
            <a:ext cx="305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 registry record cannot install code. Only executor IDs in MISSION_EXECUTORS can run; missing, disabled, changed or input-incomplete contracts are rejected.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6"/>
          <p:cNvSpPr/>
          <p:nvPr/>
        </p:nvSpPr>
        <p:spPr>
          <a:xfrm>
            <a:off x="8275320" y="4608720"/>
            <a:ext cx="3401280" cy="10238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8275320" y="4608720"/>
            <a:ext cx="63720" cy="102384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8"/>
          <p:cNvSpPr/>
          <p:nvPr/>
        </p:nvSpPr>
        <p:spPr>
          <a:xfrm>
            <a:off x="8458200" y="476388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8549640" y="483264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STATE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8458200" y="5102280"/>
            <a:ext cx="305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Persistence boundary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1"/>
          <p:cNvSpPr/>
          <p:nvPr/>
        </p:nvSpPr>
        <p:spPr>
          <a:xfrm>
            <a:off x="8458200" y="5403960"/>
            <a:ext cx="3053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SQLite persists governed platform state. Local Analysis uploads remain in memory; reports are written to output/pdf/.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2"/>
          <p:cNvSpPr/>
          <p:nvPr/>
        </p:nvSpPr>
        <p:spPr>
          <a:xfrm>
            <a:off x="8549640" y="5879520"/>
            <a:ext cx="1700280" cy="273960"/>
          </a:xfrm>
          <a:prstGeom prst="roundRect">
            <a:avLst>
              <a:gd name="adj" fmla="val 26667"/>
            </a:avLst>
          </a:prstGeom>
          <a:solidFill>
            <a:srgbClr val="FFF5D9"/>
          </a:solidFill>
          <a:ln w="12700">
            <a:solidFill>
              <a:srgbClr val="FFF5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3"/>
          <p:cNvSpPr/>
          <p:nvPr/>
        </p:nvSpPr>
        <p:spPr>
          <a:xfrm>
            <a:off x="8641080" y="5948280"/>
            <a:ext cx="1517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A45A00"/>
                </a:solidFill>
                <a:effectLst/>
                <a:uFillTx/>
                <a:latin typeface="Aptos"/>
              </a:rPr>
              <a:t>NO SECRETS IN BROWSER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54"/>
          <p:cNvSpPr/>
          <p:nvPr/>
        </p:nvSpPr>
        <p:spPr>
          <a:xfrm>
            <a:off x="10314360" y="5879520"/>
            <a:ext cx="1462680" cy="273960"/>
          </a:xfrm>
          <a:prstGeom prst="roundRect">
            <a:avLst>
              <a:gd name="adj" fmla="val 26667"/>
            </a:avLst>
          </a:prstGeom>
          <a:solidFill>
            <a:srgbClr val="FFF5D9"/>
          </a:solidFill>
          <a:ln w="12700">
            <a:solidFill>
              <a:srgbClr val="FFF5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5"/>
          <p:cNvSpPr/>
          <p:nvPr/>
        </p:nvSpPr>
        <p:spPr>
          <a:xfrm>
            <a:off x="10405800" y="5948280"/>
            <a:ext cx="12798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A45A00"/>
                </a:solidFill>
                <a:effectLst/>
                <a:uFillTx/>
                <a:latin typeface="Aptos"/>
              </a:rPr>
              <a:t>NO SILENT FAKE SUCCESS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sldNum" idx="7"/>
          </p:nvPr>
        </p:nvSpPr>
        <p:spPr>
          <a:xfrm>
            <a:off x="11384280" y="6510600"/>
            <a:ext cx="3837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62FDF9-1E20-4765-884F-425240758A3B}" type="slidenum"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38840" y="2743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111" strike="noStrike">
                <a:solidFill>
                  <a:srgbClr val="0B5FFF"/>
                </a:solidFill>
                <a:effectLst/>
                <a:uFillTx/>
                <a:latin typeface="Aptos"/>
              </a:rPr>
              <a:t>RUNTIME BEHAVIOR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38840" y="640080"/>
            <a:ext cx="1120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One request can become a governed, reusable technical artifact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457200" y="117036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Execution freezes the selected capability, team and agent versions; approval and reuse retain provenance.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1974960" y="2386440"/>
            <a:ext cx="137160" cy="360"/>
          </a:xfrm>
          <a:prstGeom prst="line">
            <a:avLst/>
          </a:prstGeom>
          <a:ln w="19050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3648240" y="2386440"/>
            <a:ext cx="137160" cy="360"/>
          </a:xfrm>
          <a:prstGeom prst="line">
            <a:avLst/>
          </a:prstGeom>
          <a:ln w="19050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5321520" y="2386440"/>
            <a:ext cx="137160" cy="360"/>
          </a:xfrm>
          <a:prstGeom prst="line">
            <a:avLst/>
          </a:prstGeom>
          <a:ln w="19050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6995160" y="2386440"/>
            <a:ext cx="137160" cy="360"/>
          </a:xfrm>
          <a:prstGeom prst="line">
            <a:avLst/>
          </a:prstGeom>
          <a:ln w="19050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8668440" y="2386440"/>
            <a:ext cx="137160" cy="360"/>
          </a:xfrm>
          <a:prstGeom prst="line">
            <a:avLst/>
          </a:prstGeom>
          <a:ln w="19050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10341720" y="2386440"/>
            <a:ext cx="137160" cy="360"/>
          </a:xfrm>
          <a:prstGeom prst="line">
            <a:avLst/>
          </a:prstGeom>
          <a:ln w="19050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43884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EDF4FF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557640" y="1974960"/>
            <a:ext cx="310680" cy="31068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55764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93276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Request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56700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Home or New AI Mission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211212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EDF4FF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2231280" y="1974960"/>
            <a:ext cx="310680" cy="31068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223128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260604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Route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8"/>
          <p:cNvSpPr/>
          <p:nvPr/>
        </p:nvSpPr>
        <p:spPr>
          <a:xfrm>
            <a:off x="224028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Live provider classifies intent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378576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F1EEFF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0"/>
          <p:cNvSpPr/>
          <p:nvPr/>
        </p:nvSpPr>
        <p:spPr>
          <a:xfrm>
            <a:off x="3904560" y="1974960"/>
            <a:ext cx="310680" cy="31068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390456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427932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Validate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391356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Capability, files, team, agents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4"/>
          <p:cNvSpPr/>
          <p:nvPr/>
        </p:nvSpPr>
        <p:spPr>
          <a:xfrm>
            <a:off x="545904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F1EEFF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5"/>
          <p:cNvSpPr/>
          <p:nvPr/>
        </p:nvSpPr>
        <p:spPr>
          <a:xfrm>
            <a:off x="5577840" y="1974960"/>
            <a:ext cx="310680" cy="31068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557784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595260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Execute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558684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Allowlisted deterministic Python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713232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7251120" y="1974960"/>
            <a:ext cx="310680" cy="310680"/>
          </a:xfrm>
          <a:prstGeom prst="ellipse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1"/>
          <p:cNvSpPr/>
          <p:nvPr/>
        </p:nvSpPr>
        <p:spPr>
          <a:xfrm>
            <a:off x="725112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2"/>
          <p:cNvSpPr/>
          <p:nvPr/>
        </p:nvSpPr>
        <p:spPr>
          <a:xfrm>
            <a:off x="762624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3"/>
          <p:cNvSpPr/>
          <p:nvPr/>
        </p:nvSpPr>
        <p:spPr>
          <a:xfrm>
            <a:off x="726048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Approve or request changes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4"/>
          <p:cNvSpPr/>
          <p:nvPr/>
        </p:nvSpPr>
        <p:spPr>
          <a:xfrm>
            <a:off x="880560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5"/>
          <p:cNvSpPr/>
          <p:nvPr/>
        </p:nvSpPr>
        <p:spPr>
          <a:xfrm>
            <a:off x="8924400" y="1974960"/>
            <a:ext cx="310680" cy="310680"/>
          </a:xfrm>
          <a:prstGeom prst="ellipse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892440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929952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Publish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893376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Versioned Exchange asset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9"/>
          <p:cNvSpPr/>
          <p:nvPr/>
        </p:nvSpPr>
        <p:spPr>
          <a:xfrm>
            <a:off x="10478880" y="1847160"/>
            <a:ext cx="1535760" cy="109692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0160">
            <a:solidFill>
              <a:srgbClr val="C8D5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0"/>
          <p:cNvSpPr/>
          <p:nvPr/>
        </p:nvSpPr>
        <p:spPr>
          <a:xfrm>
            <a:off x="10598040" y="1974960"/>
            <a:ext cx="310680" cy="310680"/>
          </a:xfrm>
          <a:prstGeom prst="ellipse">
            <a:avLst/>
          </a:prstGeom>
          <a:solidFill>
            <a:srgbClr val="092A5E"/>
          </a:solidFill>
          <a:ln w="12700">
            <a:solidFill>
              <a:srgbClr val="09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1"/>
          <p:cNvSpPr/>
          <p:nvPr/>
        </p:nvSpPr>
        <p:spPr>
          <a:xfrm>
            <a:off x="10598040" y="2048400"/>
            <a:ext cx="3106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2"/>
          <p:cNvSpPr/>
          <p:nvPr/>
        </p:nvSpPr>
        <p:spPr>
          <a:xfrm>
            <a:off x="10972800" y="1974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Reuse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3"/>
          <p:cNvSpPr/>
          <p:nvPr/>
        </p:nvSpPr>
        <p:spPr>
          <a:xfrm>
            <a:off x="10607040" y="2350080"/>
            <a:ext cx="1279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New mission with provenance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4"/>
          <p:cNvSpPr/>
          <p:nvPr/>
        </p:nvSpPr>
        <p:spPr>
          <a:xfrm>
            <a:off x="457200" y="34106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Workflow Builder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5"/>
          <p:cNvSpPr/>
          <p:nvPr/>
        </p:nvSpPr>
        <p:spPr>
          <a:xfrm>
            <a:off x="457200" y="37490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Persisted node graph and run state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6"/>
          <p:cNvSpPr/>
          <p:nvPr/>
        </p:nvSpPr>
        <p:spPr>
          <a:xfrm>
            <a:off x="3849480" y="3739680"/>
            <a:ext cx="182880" cy="360"/>
          </a:xfrm>
          <a:prstGeom prst="line">
            <a:avLst/>
          </a:prstGeom>
          <a:ln w="15875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7"/>
          <p:cNvSpPr/>
          <p:nvPr/>
        </p:nvSpPr>
        <p:spPr>
          <a:xfrm>
            <a:off x="5230080" y="3739680"/>
            <a:ext cx="182880" cy="360"/>
          </a:xfrm>
          <a:prstGeom prst="line">
            <a:avLst/>
          </a:prstGeom>
          <a:ln w="15875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8"/>
          <p:cNvSpPr/>
          <p:nvPr/>
        </p:nvSpPr>
        <p:spPr>
          <a:xfrm>
            <a:off x="6611040" y="3739680"/>
            <a:ext cx="182880" cy="360"/>
          </a:xfrm>
          <a:prstGeom prst="line">
            <a:avLst/>
          </a:prstGeom>
          <a:ln w="15875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9"/>
          <p:cNvSpPr/>
          <p:nvPr/>
        </p:nvSpPr>
        <p:spPr>
          <a:xfrm>
            <a:off x="7991640" y="3739680"/>
            <a:ext cx="182880" cy="360"/>
          </a:xfrm>
          <a:prstGeom prst="line">
            <a:avLst/>
          </a:prstGeom>
          <a:ln w="15875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0"/>
          <p:cNvSpPr/>
          <p:nvPr/>
        </p:nvSpPr>
        <p:spPr>
          <a:xfrm>
            <a:off x="9372600" y="3739680"/>
            <a:ext cx="182880" cy="360"/>
          </a:xfrm>
          <a:prstGeom prst="line">
            <a:avLst/>
          </a:prstGeom>
          <a:ln w="15875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1"/>
          <p:cNvSpPr/>
          <p:nvPr/>
        </p:nvSpPr>
        <p:spPr>
          <a:xfrm>
            <a:off x="10753200" y="3739680"/>
            <a:ext cx="182880" cy="360"/>
          </a:xfrm>
          <a:prstGeom prst="line">
            <a:avLst/>
          </a:prstGeom>
          <a:ln w="15875">
            <a:solidFill>
              <a:srgbClr val="8CA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2"/>
          <p:cNvSpPr/>
          <p:nvPr/>
        </p:nvSpPr>
        <p:spPr>
          <a:xfrm>
            <a:off x="265176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3"/>
          <p:cNvSpPr/>
          <p:nvPr/>
        </p:nvSpPr>
        <p:spPr>
          <a:xfrm>
            <a:off x="272484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Trigger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4"/>
          <p:cNvSpPr/>
          <p:nvPr/>
        </p:nvSpPr>
        <p:spPr>
          <a:xfrm>
            <a:off x="403236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5"/>
          <p:cNvSpPr/>
          <p:nvPr/>
        </p:nvSpPr>
        <p:spPr>
          <a:xfrm>
            <a:off x="410580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Gather Data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56"/>
          <p:cNvSpPr/>
          <p:nvPr/>
        </p:nvSpPr>
        <p:spPr>
          <a:xfrm>
            <a:off x="541332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7"/>
          <p:cNvSpPr/>
          <p:nvPr/>
        </p:nvSpPr>
        <p:spPr>
          <a:xfrm>
            <a:off x="548640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AI Agent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8"/>
          <p:cNvSpPr/>
          <p:nvPr/>
        </p:nvSpPr>
        <p:spPr>
          <a:xfrm>
            <a:off x="679392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397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9"/>
          <p:cNvSpPr/>
          <p:nvPr/>
        </p:nvSpPr>
        <p:spPr>
          <a:xfrm>
            <a:off x="686700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Condition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0"/>
          <p:cNvSpPr/>
          <p:nvPr/>
        </p:nvSpPr>
        <p:spPr>
          <a:xfrm>
            <a:off x="817488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FFF5D9"/>
          </a:solidFill>
          <a:ln w="1397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61"/>
          <p:cNvSpPr/>
          <p:nvPr/>
        </p:nvSpPr>
        <p:spPr>
          <a:xfrm>
            <a:off x="824796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Human Approval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2"/>
          <p:cNvSpPr/>
          <p:nvPr/>
        </p:nvSpPr>
        <p:spPr>
          <a:xfrm>
            <a:off x="955548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E8F8F5"/>
          </a:solidFill>
          <a:ln w="1397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3"/>
          <p:cNvSpPr/>
          <p:nvPr/>
        </p:nvSpPr>
        <p:spPr>
          <a:xfrm>
            <a:off x="962856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Generate Report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4"/>
          <p:cNvSpPr/>
          <p:nvPr/>
        </p:nvSpPr>
        <p:spPr>
          <a:xfrm>
            <a:off x="10936080" y="3456360"/>
            <a:ext cx="1197360" cy="566640"/>
          </a:xfrm>
          <a:prstGeom prst="roundRect">
            <a:avLst>
              <a:gd name="adj" fmla="val 8065"/>
            </a:avLst>
          </a:prstGeom>
          <a:solidFill>
            <a:srgbClr val="E8F8F5"/>
          </a:solidFill>
          <a:ln w="1397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5"/>
          <p:cNvSpPr/>
          <p:nvPr/>
        </p:nvSpPr>
        <p:spPr>
          <a:xfrm>
            <a:off x="11009520" y="363924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Publish / Send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66"/>
          <p:cNvSpPr/>
          <p:nvPr/>
        </p:nvSpPr>
        <p:spPr>
          <a:xfrm>
            <a:off x="457200" y="4416480"/>
            <a:ext cx="3520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7"/>
          <p:cNvSpPr/>
          <p:nvPr/>
        </p:nvSpPr>
        <p:spPr>
          <a:xfrm>
            <a:off x="457200" y="4416480"/>
            <a:ext cx="63720" cy="11426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8"/>
          <p:cNvSpPr/>
          <p:nvPr/>
        </p:nvSpPr>
        <p:spPr>
          <a:xfrm>
            <a:off x="640080" y="46177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Human approval is resumable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9"/>
          <p:cNvSpPr/>
          <p:nvPr/>
        </p:nvSpPr>
        <p:spPr>
          <a:xfrm>
            <a:off x="640080" y="4919400"/>
            <a:ext cx="31726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Workflow approval uses the same review queue. A valid decision resumes the original run at the next node; repeated decisions are rejected.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70"/>
          <p:cNvSpPr/>
          <p:nvPr/>
        </p:nvSpPr>
        <p:spPr>
          <a:xfrm>
            <a:off x="4160520" y="4416480"/>
            <a:ext cx="35200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71"/>
          <p:cNvSpPr/>
          <p:nvPr/>
        </p:nvSpPr>
        <p:spPr>
          <a:xfrm>
            <a:off x="4160520" y="4416480"/>
            <a:ext cx="63720" cy="11426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2"/>
          <p:cNvSpPr/>
          <p:nvPr/>
        </p:nvSpPr>
        <p:spPr>
          <a:xfrm>
            <a:off x="4343400" y="46177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Result envelope is schema-driven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3"/>
          <p:cNvSpPr/>
          <p:nvPr/>
        </p:nvSpPr>
        <p:spPr>
          <a:xfrm>
            <a:off x="4343400" y="4919400"/>
            <a:ext cx="31726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Metrics, tables, charts, evidence, quality checks and boundaries render consistently across Assistant, Workforce and Verification.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4"/>
          <p:cNvSpPr/>
          <p:nvPr/>
        </p:nvSpPr>
        <p:spPr>
          <a:xfrm>
            <a:off x="7863840" y="4416480"/>
            <a:ext cx="38401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5"/>
          <p:cNvSpPr/>
          <p:nvPr/>
        </p:nvSpPr>
        <p:spPr>
          <a:xfrm>
            <a:off x="7863840" y="4416480"/>
            <a:ext cx="63720" cy="114264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6"/>
          <p:cNvSpPr/>
          <p:nvPr/>
        </p:nvSpPr>
        <p:spPr>
          <a:xfrm>
            <a:off x="8046720" y="4617720"/>
            <a:ext cx="3492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Unsupported integrations fail honestly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7"/>
          <p:cNvSpPr/>
          <p:nvPr/>
        </p:nvSpPr>
        <p:spPr>
          <a:xfrm>
            <a:off x="8046720" y="4919400"/>
            <a:ext cx="34927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Publish / Send only executes an explicitly supported integration. Unconfigured external send paths are blocked and recorded as unavailable.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8"/>
          </p:nvPr>
        </p:nvSpPr>
        <p:spPr>
          <a:xfrm>
            <a:off x="11384280" y="6510600"/>
            <a:ext cx="3837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3B6599-5E3A-41F2-8D6F-A9E28F1508C2}" type="slidenum"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438840" y="2743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111" strike="noStrike">
                <a:solidFill>
                  <a:srgbClr val="0B5FFF"/>
                </a:solidFill>
                <a:effectLst/>
                <a:uFillTx/>
                <a:latin typeface="Aptos"/>
              </a:rPr>
              <a:t>IMPLEMENTATION SNAPSHOT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438840" y="640080"/>
            <a:ext cx="1120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Technology stack, data contracts and current demo boundaries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457200" y="117036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This slide replaces the business-comparison content with what the repository actually runs and validates.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475560" y="1600200"/>
            <a:ext cx="34927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475560" y="1600200"/>
            <a:ext cx="63720" cy="15998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"/>
          <p:cNvSpPr/>
          <p:nvPr/>
        </p:nvSpPr>
        <p:spPr>
          <a:xfrm>
            <a:off x="658440" y="175572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749880" y="182412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RUNTIME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658440" y="2094120"/>
            <a:ext cx="3145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Application stack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658440" y="2395800"/>
            <a:ext cx="31453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/>
            <a:endParaRPr lang="en-US" sz="82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713160" y="2450520"/>
            <a:ext cx="2971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Python 3.11+ / Flask service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Responsive vanilla JavaScript frontend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SQLite persistence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Node.js frontend contract tests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PDF generation and validation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4169520" y="1600200"/>
            <a:ext cx="34927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4169520" y="1600200"/>
            <a:ext cx="63720" cy="15998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4352400" y="175572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4443840" y="182412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PROVIDERS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4352400" y="2094120"/>
            <a:ext cx="3145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AI and knowledge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4352400" y="2395800"/>
            <a:ext cx="31453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/>
            <a:endParaRPr lang="en-US" sz="82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4407480" y="2450520"/>
            <a:ext cx="2971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Ollama generation + embeddings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Microsoft Copilot Studio / Direct Line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Role-filtered document retrieval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PDF, Office, CSV, text, Markdown, HTML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No OCR for image-only PDFs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7"/>
          <p:cNvSpPr/>
          <p:nvPr/>
        </p:nvSpPr>
        <p:spPr>
          <a:xfrm>
            <a:off x="7863840" y="1600200"/>
            <a:ext cx="3840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  <a:effectLst>
            <a:outerShdw algn="bl" blurRad="15120" dir="2700000" dist="50402" kx="0" ky="0" rotWithShape="0" sx="100000" sy="100000">
              <a:srgbClr val="B9C6D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7863840" y="1600200"/>
            <a:ext cx="63720" cy="1599840"/>
          </a:xfrm>
          <a:prstGeom prst="rect">
            <a:avLst/>
          </a:prstGeom>
          <a:solidFill>
            <a:srgbClr val="19B7A5"/>
          </a:solidFill>
          <a:ln w="12700">
            <a:solidFill>
              <a:srgbClr val="19B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8046720" y="1755720"/>
            <a:ext cx="1188360" cy="27396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8138160" y="182412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EXECUTORS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8046720" y="2094120"/>
            <a:ext cx="3492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Registered analytics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8046720" y="2395800"/>
            <a:ext cx="3492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/>
            <a:endParaRPr lang="en-US" sz="82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8119800" y="2450520"/>
            <a:ext cx="3273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ADV / investor participation analysis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Security liquidity and turnover analysis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market_trades_demo.csv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investor_participation_demo.csv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4213D"/>
              </a:buClr>
              <a:buFont typeface="Symbol" charset="2"/>
              <a:buChar char=""/>
            </a:pPr>
            <a:r>
              <a:rPr lang="en-US" sz="920" b="0" u="none" strike="noStrike">
                <a:solidFill>
                  <a:srgbClr val="14213D"/>
                </a:solidFill>
                <a:effectLst/>
                <a:uFillTx/>
                <a:latin typeface="Aptos"/>
              </a:rPr>
              <a:t>daily_security_trading_demo.csv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4"/>
          <p:cNvSpPr/>
          <p:nvPr/>
        </p:nvSpPr>
        <p:spPr>
          <a:xfrm>
            <a:off x="475560" y="3511440"/>
            <a:ext cx="718668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7E0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713160" y="37490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92A5E"/>
                </a:solidFill>
                <a:effectLst/>
                <a:uFillTx/>
                <a:latin typeface="Aptos"/>
              </a:rPr>
              <a:t>Persistence 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6"/>
          <p:cNvSpPr/>
          <p:nvPr/>
        </p:nvSpPr>
        <p:spPr>
          <a:xfrm>
            <a:off x="713160" y="4187880"/>
            <a:ext cx="1069560" cy="273960"/>
          </a:xfrm>
          <a:prstGeom prst="roundRect">
            <a:avLst>
              <a:gd name="adj" fmla="val 26667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804600" y="4256640"/>
            <a:ext cx="8866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0B5FFF"/>
                </a:solidFill>
                <a:effectLst/>
                <a:uFillTx/>
                <a:latin typeface="Aptos"/>
              </a:rPr>
              <a:t>SQLITE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8"/>
          <p:cNvSpPr/>
          <p:nvPr/>
        </p:nvSpPr>
        <p:spPr>
          <a:xfrm>
            <a:off x="1938600" y="4224600"/>
            <a:ext cx="5394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missions, versions, worker events, agents, teams, capabilities, workflows, rooms, approvals, settings, RAG chunks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9"/>
          <p:cNvSpPr/>
          <p:nvPr/>
        </p:nvSpPr>
        <p:spPr>
          <a:xfrm>
            <a:off x="713160" y="4581000"/>
            <a:ext cx="1069560" cy="273960"/>
          </a:xfrm>
          <a:prstGeom prst="roundRect">
            <a:avLst>
              <a:gd name="adj" fmla="val 26667"/>
            </a:avLst>
          </a:prstGeom>
          <a:solidFill>
            <a:srgbClr val="E8F8F5"/>
          </a:solidFill>
          <a:ln w="12700">
            <a:solidFill>
              <a:srgbClr val="E8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0"/>
          <p:cNvSpPr/>
          <p:nvPr/>
        </p:nvSpPr>
        <p:spPr>
          <a:xfrm>
            <a:off x="804600" y="4649760"/>
            <a:ext cx="8866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9B7A5"/>
                </a:solidFill>
                <a:effectLst/>
                <a:uFillTx/>
                <a:latin typeface="Aptos"/>
              </a:rPr>
              <a:t>FILESYSTEM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1"/>
          <p:cNvSpPr/>
          <p:nvPr/>
        </p:nvSpPr>
        <p:spPr>
          <a:xfrm>
            <a:off x="1938600" y="4617720"/>
            <a:ext cx="5394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controlled knowledge sources, synthetic CSV inputs, generated PDF reports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2"/>
          <p:cNvSpPr/>
          <p:nvPr/>
        </p:nvSpPr>
        <p:spPr>
          <a:xfrm>
            <a:off x="713160" y="4974480"/>
            <a:ext cx="1069560" cy="273960"/>
          </a:xfrm>
          <a:prstGeom prst="roundRect">
            <a:avLst>
              <a:gd name="adj" fmla="val 26667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3"/>
          <p:cNvSpPr/>
          <p:nvPr/>
        </p:nvSpPr>
        <p:spPr>
          <a:xfrm>
            <a:off x="804600" y="5042880"/>
            <a:ext cx="8866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7A5AF8"/>
                </a:solidFill>
                <a:effectLst/>
                <a:uFillTx/>
                <a:latin typeface="Aptos"/>
              </a:rPr>
              <a:t>MEMORY ONLY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4"/>
          <p:cNvSpPr/>
          <p:nvPr/>
        </p:nvSpPr>
        <p:spPr>
          <a:xfrm>
            <a:off x="1938600" y="5010840"/>
            <a:ext cx="5394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Local Analysis uploads; cleared at process restart or session deletion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5"/>
          <p:cNvSpPr/>
          <p:nvPr/>
        </p:nvSpPr>
        <p:spPr>
          <a:xfrm>
            <a:off x="7863840" y="3511440"/>
            <a:ext cx="3840120" cy="1965600"/>
          </a:xfrm>
          <a:prstGeom prst="roundRect">
            <a:avLst>
              <a:gd name="adj" fmla="val 3721"/>
            </a:avLst>
          </a:prstGeom>
          <a:solidFill>
            <a:srgbClr val="FFF5D9"/>
          </a:solidFill>
          <a:ln w="11430">
            <a:solidFill>
              <a:srgbClr val="F5C9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6"/>
          <p:cNvSpPr/>
          <p:nvPr/>
        </p:nvSpPr>
        <p:spPr>
          <a:xfrm>
            <a:off x="8119800" y="37490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74D00"/>
                </a:solidFill>
                <a:effectLst/>
                <a:uFillTx/>
                <a:latin typeface="Aptos"/>
              </a:rPr>
              <a:t>Current boundaries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7"/>
          <p:cNvSpPr/>
          <p:nvPr/>
        </p:nvSpPr>
        <p:spPr>
          <a:xfrm>
            <a:off x="8119800" y="4187880"/>
            <a:ext cx="3264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marL="152280" indent="-152280" defTabSz="914400">
              <a:lnSpc>
                <a:spcPct val="100000"/>
              </a:lnSpc>
              <a:buClr>
                <a:srgbClr val="694100"/>
              </a:buClr>
              <a:buFont typeface="Symbol" charset="2"/>
              <a:buChar char=""/>
            </a:pPr>
            <a:r>
              <a:rPr lang="en-US" sz="989" b="0" u="none" strike="noStrike">
                <a:solidFill>
                  <a:srgbClr val="694100"/>
                </a:solidFill>
                <a:effectLst/>
                <a:uFillTx/>
                <a:latin typeface="Aptos"/>
              </a:rPr>
              <a:t>Synthetic demonstration data and identities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694100"/>
              </a:buClr>
              <a:buFont typeface="Symbol" charset="2"/>
              <a:buChar char=""/>
            </a:pPr>
            <a:r>
              <a:rPr lang="en-US" sz="989" b="0" u="none" strike="noStrike">
                <a:solidFill>
                  <a:srgbClr val="694100"/>
                </a:solidFill>
                <a:effectLst/>
                <a:uFillTx/>
                <a:latin typeface="Aptos"/>
              </a:rPr>
              <a:t>Local role checks—not production SSO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694100"/>
              </a:buClr>
              <a:buFont typeface="Symbol" charset="2"/>
              <a:buChar char=""/>
            </a:pPr>
            <a:r>
              <a:rPr lang="en-US" sz="989" b="0" u="none" strike="noStrike">
                <a:solidFill>
                  <a:srgbClr val="694100"/>
                </a:solidFill>
                <a:effectLst/>
                <a:uFillTx/>
                <a:latin typeface="Aptos"/>
              </a:rPr>
              <a:t>External connectors require administrator configuration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694100"/>
              </a:buClr>
              <a:buFont typeface="Symbol" charset="2"/>
              <a:buChar char=""/>
            </a:pPr>
            <a:r>
              <a:rPr lang="en-US" sz="989" b="0" u="none" strike="noStrike">
                <a:solidFill>
                  <a:srgbClr val="694100"/>
                </a:solidFill>
                <a:effectLst/>
                <a:uFillTx/>
                <a:latin typeface="Aptos"/>
              </a:rPr>
              <a:t>Provider failures surface as unavailable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694100"/>
              </a:buClr>
              <a:buFont typeface="Symbol" charset="2"/>
              <a:buChar char=""/>
            </a:pPr>
            <a:r>
              <a:rPr lang="en-US" sz="989" b="0" u="none" strike="noStrike">
                <a:solidFill>
                  <a:srgbClr val="694100"/>
                </a:solidFill>
                <a:effectLst/>
                <a:uFillTx/>
                <a:latin typeface="Aptos"/>
              </a:rPr>
              <a:t>No production market feed is claimed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8"/>
          <p:cNvSpPr/>
          <p:nvPr/>
        </p:nvSpPr>
        <p:spPr>
          <a:xfrm>
            <a:off x="475200" y="5806440"/>
            <a:ext cx="11229120" cy="360"/>
          </a:xfrm>
          <a:prstGeom prst="line">
            <a:avLst/>
          </a:prstGeom>
          <a:ln w="12700">
            <a:solidFill>
              <a:srgbClr val="D7E0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9"/>
          <p:cNvSpPr/>
          <p:nvPr/>
        </p:nvSpPr>
        <p:spPr>
          <a:xfrm>
            <a:off x="493920" y="5961960"/>
            <a:ext cx="758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Primary implementation: server.py · index.html · static/js/workforce.js · bursaiq/*.py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0"/>
          <p:cNvSpPr/>
          <p:nvPr/>
        </p:nvSpPr>
        <p:spPr>
          <a:xfrm>
            <a:off x="8915400" y="5925240"/>
            <a:ext cx="2788560" cy="273960"/>
          </a:xfrm>
          <a:prstGeom prst="roundRect">
            <a:avLst>
              <a:gd name="adj" fmla="val 26667"/>
            </a:avLst>
          </a:prstGeom>
          <a:solidFill>
            <a:srgbClr val="FFF5D9"/>
          </a:solidFill>
          <a:ln w="12700">
            <a:solidFill>
              <a:srgbClr val="FFF5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41"/>
          <p:cNvSpPr/>
          <p:nvPr/>
        </p:nvSpPr>
        <p:spPr>
          <a:xfrm>
            <a:off x="9006840" y="5994000"/>
            <a:ext cx="26056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874D00"/>
                </a:solidFill>
                <a:effectLst/>
                <a:uFillTx/>
                <a:latin typeface="Aptos"/>
              </a:rPr>
              <a:t>TECHNICAL DEMO — NOT MARKET GUIDANCE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Num" idx="9"/>
          </p:nvPr>
        </p:nvSpPr>
        <p:spPr>
          <a:xfrm>
            <a:off x="11384280" y="6510600"/>
            <a:ext cx="383760" cy="16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ECBFE-7469-488D-9C36-A969DA25AF43}" type="slidenum"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  <Words>0</Words>
  <Paragraphs>0</Paragraphs>
  <Company>BursaIQ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2026-10-21T09:33:08Z</dcterms:created>
  <dc:creator>BursaIQ</dc:creator>
  <dc:description/>
  <dc:language>en-US</dc:language>
  <cp:lastModifiedBy>BursaIQ</cp:lastModifiedBy>
  <dcterms:modified xsi:type="dcterms:W3CDTF">2026-10-21T09:33:08Z</dcterms:modified>
  <cp:revision>1</cp:revision>
  <dc:subject>Technical architecture and implemented feature overview</dc:subject>
  <dc:title>BursaIQ — Technical Architecture &amp; Implemented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On-screen Show (16:9)</vt:lpwstr>
  </property>
  <property fmtid="{D5CDD505-2E9C-101B-9397-08002B2CF9AE}" pid="4" name="Slides">
    <vt:r8>5</vt:r8>
  </property>
</Properties>
</file>