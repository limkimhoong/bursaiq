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3" r:id="rId2"/>
    <p:sldId id="264" r:id="rId3"/>
    <p:sldId id="265" r:id="rId4"/>
    <p:sldId id="268" r:id="rId5"/>
    <p:sldId id="270" r:id="rId6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3DACA-296D-4472-9EFB-55203343F701}" v="4" dt="2026-10-19T07:00:50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m Kim Hoong" userId="57f793da-26ee-4737-a350-362f758925b5" providerId="ADAL" clId="{8D656896-5C97-4001-B781-75B10E91A84D}"/>
    <pc:docChg chg="undo custSel mod modSld">
      <pc:chgData name="Lim Kim Hoong" userId="57f793da-26ee-4737-a350-362f758925b5" providerId="ADAL" clId="{8D656896-5C97-4001-B781-75B10E91A84D}" dt="2026-10-19T07:00:50.660" v="399" actId="14100"/>
      <pc:docMkLst>
        <pc:docMk/>
      </pc:docMkLst>
      <pc:sldChg chg="modSp mod">
        <pc:chgData name="Lim Kim Hoong" userId="57f793da-26ee-4737-a350-362f758925b5" providerId="ADAL" clId="{8D656896-5C97-4001-B781-75B10E91A84D}" dt="2026-10-19T06:32:55.835" v="112" actId="20577"/>
        <pc:sldMkLst>
          <pc:docMk/>
          <pc:sldMk cId="1655698898" sldId="263"/>
        </pc:sldMkLst>
        <pc:spChg chg="mod">
          <ac:chgData name="Lim Kim Hoong" userId="57f793da-26ee-4737-a350-362f758925b5" providerId="ADAL" clId="{8D656896-5C97-4001-B781-75B10E91A84D}" dt="2026-10-19T06:30:53.928" v="40" actId="14100"/>
          <ac:spMkLst>
            <pc:docMk/>
            <pc:sldMk cId="1655698898" sldId="263"/>
            <ac:spMk id="8" creationId="{1918C3A1-3292-4C93-9AB0-571D468310C0}"/>
          </ac:spMkLst>
        </pc:spChg>
        <pc:spChg chg="mod">
          <ac:chgData name="Lim Kim Hoong" userId="57f793da-26ee-4737-a350-362f758925b5" providerId="ADAL" clId="{8D656896-5C97-4001-B781-75B10E91A84D}" dt="2026-10-19T06:31:02.797" v="42" actId="20577"/>
          <ac:spMkLst>
            <pc:docMk/>
            <pc:sldMk cId="1655698898" sldId="263"/>
            <ac:spMk id="13" creationId="{FE6AA576-5EF9-43E1-BE32-494582A9E057}"/>
          </ac:spMkLst>
        </pc:spChg>
        <pc:spChg chg="mod">
          <ac:chgData name="Lim Kim Hoong" userId="57f793da-26ee-4737-a350-362f758925b5" providerId="ADAL" clId="{8D656896-5C97-4001-B781-75B10E91A84D}" dt="2026-10-19T06:32:55.835" v="112" actId="20577"/>
          <ac:spMkLst>
            <pc:docMk/>
            <pc:sldMk cId="1655698898" sldId="263"/>
            <ac:spMk id="18" creationId="{0BB2BF4D-50EF-4D92-8A6E-1498DE727D1B}"/>
          </ac:spMkLst>
        </pc:spChg>
      </pc:sldChg>
      <pc:sldChg chg="modSp mod">
        <pc:chgData name="Lim Kim Hoong" userId="57f793da-26ee-4737-a350-362f758925b5" providerId="ADAL" clId="{8D656896-5C97-4001-B781-75B10E91A84D}" dt="2026-10-19T06:41:05.224" v="151" actId="20577"/>
        <pc:sldMkLst>
          <pc:docMk/>
          <pc:sldMk cId="1382736946" sldId="264"/>
        </pc:sldMkLst>
        <pc:spChg chg="mod">
          <ac:chgData name="Lim Kim Hoong" userId="57f793da-26ee-4737-a350-362f758925b5" providerId="ADAL" clId="{8D656896-5C97-4001-B781-75B10E91A84D}" dt="2026-10-19T06:33:28.425" v="124" actId="20577"/>
          <ac:spMkLst>
            <pc:docMk/>
            <pc:sldMk cId="1382736946" sldId="264"/>
            <ac:spMk id="10" creationId="{CF91F9EA-B8BB-4B0A-8F9B-63D17000BABB}"/>
          </ac:spMkLst>
        </pc:spChg>
        <pc:spChg chg="mod">
          <ac:chgData name="Lim Kim Hoong" userId="57f793da-26ee-4737-a350-362f758925b5" providerId="ADAL" clId="{8D656896-5C97-4001-B781-75B10E91A84D}" dt="2026-10-19T06:41:05.224" v="151" actId="20577"/>
          <ac:spMkLst>
            <pc:docMk/>
            <pc:sldMk cId="1382736946" sldId="264"/>
            <ac:spMk id="34" creationId="{5FC09428-49A9-4099-8307-3ED2A81B4D1E}"/>
          </ac:spMkLst>
        </pc:spChg>
      </pc:sldChg>
      <pc:sldChg chg="addSp delSp modSp mod">
        <pc:chgData name="Lim Kim Hoong" userId="57f793da-26ee-4737-a350-362f758925b5" providerId="ADAL" clId="{8D656896-5C97-4001-B781-75B10E91A84D}" dt="2026-10-19T07:00:50.660" v="399" actId="14100"/>
        <pc:sldMkLst>
          <pc:docMk/>
          <pc:sldMk cId="733675574" sldId="265"/>
        </pc:sldMkLst>
        <pc:picChg chg="del mod">
          <ac:chgData name="Lim Kim Hoong" userId="57f793da-26ee-4737-a350-362f758925b5" providerId="ADAL" clId="{8D656896-5C97-4001-B781-75B10E91A84D}" dt="2026-10-19T07:00:22.864" v="395" actId="478"/>
          <ac:picMkLst>
            <pc:docMk/>
            <pc:sldMk cId="733675574" sldId="265"/>
            <ac:picMk id="2" creationId="{00000000-0000-0000-0000-000000000000}"/>
          </ac:picMkLst>
        </pc:picChg>
        <pc:picChg chg="add mod">
          <ac:chgData name="Lim Kim Hoong" userId="57f793da-26ee-4737-a350-362f758925b5" providerId="ADAL" clId="{8D656896-5C97-4001-B781-75B10E91A84D}" dt="2026-10-19T07:00:50.660" v="399" actId="14100"/>
          <ac:picMkLst>
            <pc:docMk/>
            <pc:sldMk cId="733675574" sldId="265"/>
            <ac:picMk id="1026" creationId="{7A5743CC-79A9-1C7C-22E1-620EAE84436B}"/>
          </ac:picMkLst>
        </pc:picChg>
      </pc:sldChg>
      <pc:sldChg chg="modSp mod">
        <pc:chgData name="Lim Kim Hoong" userId="57f793da-26ee-4737-a350-362f758925b5" providerId="ADAL" clId="{8D656896-5C97-4001-B781-75B10E91A84D}" dt="2026-10-19T06:46:34.935" v="220" actId="108"/>
        <pc:sldMkLst>
          <pc:docMk/>
          <pc:sldMk cId="630956728" sldId="266"/>
        </pc:sldMkLst>
        <pc:spChg chg="mod">
          <ac:chgData name="Lim Kim Hoong" userId="57f793da-26ee-4737-a350-362f758925b5" providerId="ADAL" clId="{8D656896-5C97-4001-B781-75B10E91A84D}" dt="2026-10-19T06:46:17.325" v="215" actId="108"/>
          <ac:spMkLst>
            <pc:docMk/>
            <pc:sldMk cId="630956728" sldId="266"/>
            <ac:spMk id="17" creationId="{37442B3A-7012-4A9C-8344-CD1800D7D1FA}"/>
          </ac:spMkLst>
        </pc:spChg>
        <pc:spChg chg="mod">
          <ac:chgData name="Lim Kim Hoong" userId="57f793da-26ee-4737-a350-362f758925b5" providerId="ADAL" clId="{8D656896-5C97-4001-B781-75B10E91A84D}" dt="2026-10-19T06:46:21.170" v="217" actId="1076"/>
          <ac:spMkLst>
            <pc:docMk/>
            <pc:sldMk cId="630956728" sldId="266"/>
            <ac:spMk id="18" creationId="{323190B9-8119-46A6-929C-ED630E472659}"/>
          </ac:spMkLst>
        </pc:spChg>
        <pc:spChg chg="mod">
          <ac:chgData name="Lim Kim Hoong" userId="57f793da-26ee-4737-a350-362f758925b5" providerId="ADAL" clId="{8D656896-5C97-4001-B781-75B10E91A84D}" dt="2026-10-19T06:46:26.281" v="218" actId="108"/>
          <ac:spMkLst>
            <pc:docMk/>
            <pc:sldMk cId="630956728" sldId="266"/>
            <ac:spMk id="23" creationId="{668E7990-86E7-4A0C-BEB8-3C20FD64D398}"/>
          </ac:spMkLst>
        </pc:spChg>
        <pc:spChg chg="mod">
          <ac:chgData name="Lim Kim Hoong" userId="57f793da-26ee-4737-a350-362f758925b5" providerId="ADAL" clId="{8D656896-5C97-4001-B781-75B10E91A84D}" dt="2026-10-19T06:44:17.977" v="172" actId="1076"/>
          <ac:spMkLst>
            <pc:docMk/>
            <pc:sldMk cId="630956728" sldId="266"/>
            <ac:spMk id="24" creationId="{51077DE7-2B25-4FE1-9F11-8EA3380DE413}"/>
          </ac:spMkLst>
        </pc:spChg>
        <pc:spChg chg="mod">
          <ac:chgData name="Lim Kim Hoong" userId="57f793da-26ee-4737-a350-362f758925b5" providerId="ADAL" clId="{8D656896-5C97-4001-B781-75B10E91A84D}" dt="2026-10-19T06:46:30.758" v="219" actId="108"/>
          <ac:spMkLst>
            <pc:docMk/>
            <pc:sldMk cId="630956728" sldId="266"/>
            <ac:spMk id="29" creationId="{E1957B5C-0B45-4C9C-B6DE-51C6AACDD117}"/>
          </ac:spMkLst>
        </pc:spChg>
        <pc:spChg chg="mod">
          <ac:chgData name="Lim Kim Hoong" userId="57f793da-26ee-4737-a350-362f758925b5" providerId="ADAL" clId="{8D656896-5C97-4001-B781-75B10E91A84D}" dt="2026-10-19T06:46:34.935" v="220" actId="108"/>
          <ac:spMkLst>
            <pc:docMk/>
            <pc:sldMk cId="630956728" sldId="266"/>
            <ac:spMk id="35" creationId="{D53A2E25-BE2B-49B6-8566-805B5E89E2C7}"/>
          </ac:spMkLst>
        </pc:spChg>
        <pc:spChg chg="mod">
          <ac:chgData name="Lim Kim Hoong" userId="57f793da-26ee-4737-a350-362f758925b5" providerId="ADAL" clId="{8D656896-5C97-4001-B781-75B10E91A84D}" dt="2026-10-19T06:45:58.065" v="214" actId="20577"/>
          <ac:spMkLst>
            <pc:docMk/>
            <pc:sldMk cId="630956728" sldId="266"/>
            <ac:spMk id="38" creationId="{666D5ACF-0F55-4461-A407-2981858F17A0}"/>
          </ac:spMkLst>
        </pc:spChg>
      </pc:sldChg>
      <pc:sldChg chg="modSp mod">
        <pc:chgData name="Lim Kim Hoong" userId="57f793da-26ee-4737-a350-362f758925b5" providerId="ADAL" clId="{8D656896-5C97-4001-B781-75B10E91A84D}" dt="2026-10-19T06:47:18.585" v="240" actId="20577"/>
        <pc:sldMkLst>
          <pc:docMk/>
          <pc:sldMk cId="2059339752" sldId="267"/>
        </pc:sldMkLst>
        <pc:spChg chg="mod">
          <ac:chgData name="Lim Kim Hoong" userId="57f793da-26ee-4737-a350-362f758925b5" providerId="ADAL" clId="{8D656896-5C97-4001-B781-75B10E91A84D}" dt="2026-10-19T06:47:07.808" v="237" actId="20577"/>
          <ac:spMkLst>
            <pc:docMk/>
            <pc:sldMk cId="2059339752" sldId="267"/>
            <ac:spMk id="41" creationId="{361DCB96-CD6B-46F1-AD75-CBDE54E35714}"/>
          </ac:spMkLst>
        </pc:spChg>
        <pc:spChg chg="mod">
          <ac:chgData name="Lim Kim Hoong" userId="57f793da-26ee-4737-a350-362f758925b5" providerId="ADAL" clId="{8D656896-5C97-4001-B781-75B10E91A84D}" dt="2026-10-19T06:47:18.585" v="240" actId="20577"/>
          <ac:spMkLst>
            <pc:docMk/>
            <pc:sldMk cId="2059339752" sldId="267"/>
            <ac:spMk id="49" creationId="{3B99536A-BB00-4263-9D61-68AD9851CA2B}"/>
          </ac:spMkLst>
        </pc:spChg>
      </pc:sldChg>
      <pc:sldChg chg="addSp delSp modSp mod">
        <pc:chgData name="Lim Kim Hoong" userId="57f793da-26ee-4737-a350-362f758925b5" providerId="ADAL" clId="{8D656896-5C97-4001-B781-75B10E91A84D}" dt="2026-10-19T06:51:29.870" v="350" actId="20577"/>
        <pc:sldMkLst>
          <pc:docMk/>
          <pc:sldMk cId="2008499536" sldId="268"/>
        </pc:sldMkLst>
        <pc:spChg chg="mod">
          <ac:chgData name="Lim Kim Hoong" userId="57f793da-26ee-4737-a350-362f758925b5" providerId="ADAL" clId="{8D656896-5C97-4001-B781-75B10E91A84D}" dt="2026-10-19T06:49:19.467" v="258" actId="1076"/>
          <ac:spMkLst>
            <pc:docMk/>
            <pc:sldMk cId="2008499536" sldId="268"/>
            <ac:spMk id="12" creationId="{D546A9F9-62CA-4BFD-A27B-5672108AF5B7}"/>
          </ac:spMkLst>
        </pc:spChg>
        <pc:spChg chg="mod">
          <ac:chgData name="Lim Kim Hoong" userId="57f793da-26ee-4737-a350-362f758925b5" providerId="ADAL" clId="{8D656896-5C97-4001-B781-75B10E91A84D}" dt="2026-10-19T06:48:55.127" v="255" actId="1076"/>
          <ac:spMkLst>
            <pc:docMk/>
            <pc:sldMk cId="2008499536" sldId="268"/>
            <ac:spMk id="18" creationId="{A2EA016C-70A3-40E9-8AA6-390F5FD9FA3A}"/>
          </ac:spMkLst>
        </pc:spChg>
        <pc:spChg chg="mod">
          <ac:chgData name="Lim Kim Hoong" userId="57f793da-26ee-4737-a350-362f758925b5" providerId="ADAL" clId="{8D656896-5C97-4001-B781-75B10E91A84D}" dt="2026-10-19T06:48:55.127" v="255" actId="1076"/>
          <ac:spMkLst>
            <pc:docMk/>
            <pc:sldMk cId="2008499536" sldId="268"/>
            <ac:spMk id="19" creationId="{F185C513-94B7-4F9A-A780-C8A4E17F93AE}"/>
          </ac:spMkLst>
        </pc:spChg>
        <pc:spChg chg="mod">
          <ac:chgData name="Lim Kim Hoong" userId="57f793da-26ee-4737-a350-362f758925b5" providerId="ADAL" clId="{8D656896-5C97-4001-B781-75B10E91A84D}" dt="2026-10-19T06:47:55.203" v="246" actId="1076"/>
          <ac:spMkLst>
            <pc:docMk/>
            <pc:sldMk cId="2008499536" sldId="268"/>
            <ac:spMk id="27" creationId="{1AF0647C-2BDB-47E6-BB5E-ED8A6E8F75BF}"/>
          </ac:spMkLst>
        </pc:spChg>
        <pc:spChg chg="mod">
          <ac:chgData name="Lim Kim Hoong" userId="57f793da-26ee-4737-a350-362f758925b5" providerId="ADAL" clId="{8D656896-5C97-4001-B781-75B10E91A84D}" dt="2026-10-19T06:51:29.870" v="350" actId="20577"/>
          <ac:spMkLst>
            <pc:docMk/>
            <pc:sldMk cId="2008499536" sldId="268"/>
            <ac:spMk id="55" creationId="{B644A80D-8353-4130-A491-4423FE87B49D}"/>
          </ac:spMkLst>
        </pc:spChg>
        <pc:spChg chg="add del">
          <ac:chgData name="Lim Kim Hoong" userId="57f793da-26ee-4737-a350-362f758925b5" providerId="ADAL" clId="{8D656896-5C97-4001-B781-75B10E91A84D}" dt="2026-10-19T06:47:48.984" v="244" actId="22"/>
          <ac:spMkLst>
            <pc:docMk/>
            <pc:sldMk cId="2008499536" sldId="268"/>
            <ac:spMk id="78" creationId="{8DEA10B8-378E-D63C-4CBB-43B229CFC06F}"/>
          </ac:spMkLst>
        </pc:spChg>
        <pc:spChg chg="add mod">
          <ac:chgData name="Lim Kim Hoong" userId="57f793da-26ee-4737-a350-362f758925b5" providerId="ADAL" clId="{8D656896-5C97-4001-B781-75B10E91A84D}" dt="2026-10-19T06:49:04.926" v="257" actId="1076"/>
          <ac:spMkLst>
            <pc:docMk/>
            <pc:sldMk cId="2008499536" sldId="268"/>
            <ac:spMk id="80" creationId="{36C2780C-EC39-6720-1EE5-C685C8BE72E1}"/>
          </ac:spMkLst>
        </pc:spChg>
        <pc:spChg chg="add mod">
          <ac:chgData name="Lim Kim Hoong" userId="57f793da-26ee-4737-a350-362f758925b5" providerId="ADAL" clId="{8D656896-5C97-4001-B781-75B10E91A84D}" dt="2026-10-19T06:49:33.161" v="277" actId="20577"/>
          <ac:spMkLst>
            <pc:docMk/>
            <pc:sldMk cId="2008499536" sldId="268"/>
            <ac:spMk id="82" creationId="{69D08A5A-73E7-89F4-9524-9B03A8CDCD01}"/>
          </ac:spMkLst>
        </pc:spChg>
        <pc:spChg chg="add mod">
          <ac:chgData name="Lim Kim Hoong" userId="57f793da-26ee-4737-a350-362f758925b5" providerId="ADAL" clId="{8D656896-5C97-4001-B781-75B10E91A84D}" dt="2026-10-19T06:49:53.974" v="279" actId="1076"/>
          <ac:spMkLst>
            <pc:docMk/>
            <pc:sldMk cId="2008499536" sldId="268"/>
            <ac:spMk id="84" creationId="{4671D56B-BFBF-F5D5-561F-854C008AF074}"/>
          </ac:spMkLst>
        </pc:spChg>
        <pc:spChg chg="add mod">
          <ac:chgData name="Lim Kim Hoong" userId="57f793da-26ee-4737-a350-362f758925b5" providerId="ADAL" clId="{8D656896-5C97-4001-B781-75B10E91A84D}" dt="2026-10-19T06:49:58.730" v="289" actId="20577"/>
          <ac:spMkLst>
            <pc:docMk/>
            <pc:sldMk cId="2008499536" sldId="268"/>
            <ac:spMk id="86" creationId="{479ECAD4-79C3-976E-916C-9FD014AF8234}"/>
          </ac:spMkLst>
        </pc:spChg>
        <pc:spChg chg="add del">
          <ac:chgData name="Lim Kim Hoong" userId="57f793da-26ee-4737-a350-362f758925b5" providerId="ADAL" clId="{8D656896-5C97-4001-B781-75B10E91A84D}" dt="2026-10-19T06:50:06.038" v="291" actId="22"/>
          <ac:spMkLst>
            <pc:docMk/>
            <pc:sldMk cId="2008499536" sldId="268"/>
            <ac:spMk id="88" creationId="{B8056163-9113-9A90-6499-30644C79E747}"/>
          </ac:spMkLst>
        </pc:spChg>
        <pc:spChg chg="add del">
          <ac:chgData name="Lim Kim Hoong" userId="57f793da-26ee-4737-a350-362f758925b5" providerId="ADAL" clId="{8D656896-5C97-4001-B781-75B10E91A84D}" dt="2026-10-19T06:50:12.799" v="293" actId="22"/>
          <ac:spMkLst>
            <pc:docMk/>
            <pc:sldMk cId="2008499536" sldId="268"/>
            <ac:spMk id="90" creationId="{628CDBA9-DD93-2277-B795-C460A2991437}"/>
          </ac:spMkLst>
        </pc:spChg>
        <pc:spChg chg="add mod">
          <ac:chgData name="Lim Kim Hoong" userId="57f793da-26ee-4737-a350-362f758925b5" providerId="ADAL" clId="{8D656896-5C97-4001-B781-75B10E91A84D}" dt="2026-10-19T06:50:25.306" v="295" actId="1076"/>
          <ac:spMkLst>
            <pc:docMk/>
            <pc:sldMk cId="2008499536" sldId="268"/>
            <ac:spMk id="92" creationId="{920AAAA3-6CF6-14E5-CC27-682C4ECC0C73}"/>
          </ac:spMkLst>
        </pc:spChg>
        <pc:spChg chg="add mod">
          <ac:chgData name="Lim Kim Hoong" userId="57f793da-26ee-4737-a350-362f758925b5" providerId="ADAL" clId="{8D656896-5C97-4001-B781-75B10E91A84D}" dt="2026-10-19T06:50:40.478" v="303" actId="20577"/>
          <ac:spMkLst>
            <pc:docMk/>
            <pc:sldMk cId="2008499536" sldId="268"/>
            <ac:spMk id="94" creationId="{C86526DD-10A3-AE38-BC7E-DF8A1B2ED172}"/>
          </ac:spMkLst>
        </pc:spChg>
        <pc:picChg chg="mod">
          <ac:chgData name="Lim Kim Hoong" userId="57f793da-26ee-4737-a350-362f758925b5" providerId="ADAL" clId="{8D656896-5C97-4001-B781-75B10E91A84D}" dt="2026-10-19T06:49:24.044" v="260" actId="1076"/>
          <ac:picMkLst>
            <pc:docMk/>
            <pc:sldMk cId="2008499536" sldId="268"/>
            <ac:picMk id="58" creationId="{00000000-0000-0000-0000-000000000000}"/>
          </ac:picMkLst>
        </pc:picChg>
      </pc:sldChg>
      <pc:sldChg chg="modSp mod">
        <pc:chgData name="Lim Kim Hoong" userId="57f793da-26ee-4737-a350-362f758925b5" providerId="ADAL" clId="{8D656896-5C97-4001-B781-75B10E91A84D}" dt="2026-10-19T06:52:24.838" v="394" actId="20577"/>
        <pc:sldMkLst>
          <pc:docMk/>
          <pc:sldMk cId="835894938" sldId="270"/>
        </pc:sldMkLst>
        <pc:spChg chg="mod">
          <ac:chgData name="Lim Kim Hoong" userId="57f793da-26ee-4737-a350-362f758925b5" providerId="ADAL" clId="{8D656896-5C97-4001-B781-75B10E91A84D}" dt="2026-10-19T06:52:24.838" v="394" actId="20577"/>
          <ac:spMkLst>
            <pc:docMk/>
            <pc:sldMk cId="835894938" sldId="270"/>
            <ac:spMk id="75" creationId="{3DB9F73F-C211-4EBA-A16A-DC63EA7F145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light_bg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94C4A3D-1CF8-46A3-997D-627B38FAEE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B5E91EF-5EBA-44BD-B5F4-6B39FA307055}"/>
              </a:ext>
            </a:extLst>
          </p:cNvPr>
          <p:cNvSpPr>
            <a:spLocks noGrp="1"/>
          </p:cNvSpPr>
          <p:nvPr/>
        </p:nvSpPr>
        <p:spPr>
          <a:xfrm>
            <a:off x="576072" y="896112"/>
            <a:ext cx="2788920" cy="347472"/>
          </a:xfrm>
          <a:prstGeom prst="roundRect">
            <a:avLst>
              <a:gd name="adj" fmla="val 50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3BC60BA-AE8F-4C3C-8115-43F3394E4B26}"/>
              </a:ext>
            </a:extLst>
          </p:cNvPr>
          <p:cNvSpPr>
            <a:spLocks noGrp="1"/>
          </p:cNvSpPr>
          <p:nvPr/>
        </p:nvSpPr>
        <p:spPr>
          <a:xfrm>
            <a:off x="576072" y="896112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 spc="25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THE PROPOSED SOLUTION</a:t>
            </a:r>
            <a:endParaRPr sz="10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0BBCFFB-8D53-47DB-AA7D-75DD2F336AAE}"/>
              </a:ext>
            </a:extLst>
          </p:cNvPr>
          <p:cNvSpPr>
            <a:spLocks noGrp="1"/>
          </p:cNvSpPr>
          <p:nvPr/>
        </p:nvSpPr>
        <p:spPr>
          <a:xfrm>
            <a:off x="576072" y="1316736"/>
            <a:ext cx="8686800" cy="10607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BursaIQ</a:t>
            </a:r>
            <a:endParaRPr sz="60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4DF4B7A-0C45-4495-B548-6F45AF91C78E}"/>
              </a:ext>
            </a:extLst>
          </p:cNvPr>
          <p:cNvSpPr>
            <a:spLocks noGrp="1"/>
          </p:cNvSpPr>
          <p:nvPr/>
        </p:nvSpPr>
        <p:spPr>
          <a:xfrm>
            <a:off x="576072" y="2450592"/>
            <a:ext cx="960120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One workspace. A hybrid AI workforce. Governed intelligence.</a:t>
            </a:r>
            <a:endParaRPr sz="21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918C3A1-3292-4C93-9AB0-571D468310C0}"/>
              </a:ext>
            </a:extLst>
          </p:cNvPr>
          <p:cNvSpPr>
            <a:spLocks noGrp="1"/>
          </p:cNvSpPr>
          <p:nvPr/>
        </p:nvSpPr>
        <p:spPr>
          <a:xfrm>
            <a:off x="576071" y="2980944"/>
            <a:ext cx="11039551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500" dirty="0" err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BursaIQ</a:t>
            </a:r>
            <a:r>
              <a:rPr sz="15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 combines Microsoft AI services with self-hosted</a:t>
            </a:r>
            <a:r>
              <a:rPr lang="en-US" sz="15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 open-source models</a:t>
            </a:r>
            <a:r>
              <a:rPr sz="15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, specialist</a:t>
            </a:r>
            <a:r>
              <a:rPr lang="en-US" sz="15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/>
            </a:r>
            <a:r>
              <a:rPr sz="15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 AI workers, trusted knowledge and human oversight.</a:t>
            </a:r>
            <a:endParaRPr sz="12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4AB40EF-3DD1-4FAF-8FB4-C38CA82A631D}"/>
              </a:ext>
            </a:extLst>
          </p:cNvPr>
          <p:cNvSpPr>
            <a:spLocks noGrp="1"/>
          </p:cNvSpPr>
          <p:nvPr/>
        </p:nvSpPr>
        <p:spPr>
          <a:xfrm>
            <a:off x="576072" y="3986784"/>
            <a:ext cx="2587752" cy="1700784"/>
          </a:xfrm>
          <a:prstGeom prst="roundRect">
            <a:avLst>
              <a:gd name="adj" fmla="val 3763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AFE9A10-8D97-4AA6-9307-F837ED4D6835}"/>
              </a:ext>
            </a:extLst>
          </p:cNvPr>
          <p:cNvSpPr>
            <a:spLocks noGrp="1"/>
          </p:cNvSpPr>
          <p:nvPr/>
        </p:nvSpPr>
        <p:spPr>
          <a:xfrm>
            <a:off x="777240" y="418795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38F22943-4076-4657-8DB7-6C921A479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4288902"/>
            <a:ext cx="218724" cy="21872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51CC1AC8-E3B9-41EE-A2A1-9185DB79CF29}"/>
              </a:ext>
            </a:extLst>
          </p:cNvPr>
          <p:cNvSpPr>
            <a:spLocks noGrp="1"/>
          </p:cNvSpPr>
          <p:nvPr/>
        </p:nvSpPr>
        <p:spPr>
          <a:xfrm>
            <a:off x="1307592" y="4187952"/>
            <a:ext cx="169164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 spc="2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HYBRID AI</a:t>
            </a:r>
            <a:endParaRPr sz="14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E6AA576-5EF9-43E1-BE32-494582A9E057}"/>
              </a:ext>
            </a:extLst>
          </p:cNvPr>
          <p:cNvSpPr>
            <a:spLocks noGrp="1"/>
          </p:cNvSpPr>
          <p:nvPr/>
        </p:nvSpPr>
        <p:spPr>
          <a:xfrm>
            <a:off x="795528" y="47548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Microsoft services and </a:t>
            </a:r>
            <a:r>
              <a:rPr lang="en-US" sz="13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l</a:t>
            </a:r>
            <a:r>
              <a:rPr sz="13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ocal open-source models in one workspace</a:t>
            </a:r>
            <a:endParaRPr sz="10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89827A9-577A-48AF-A09B-1BFC346DC0CB}"/>
              </a:ext>
            </a:extLst>
          </p:cNvPr>
          <p:cNvSpPr>
            <a:spLocks noGrp="1"/>
          </p:cNvSpPr>
          <p:nvPr/>
        </p:nvSpPr>
        <p:spPr>
          <a:xfrm>
            <a:off x="3393338" y="3986784"/>
            <a:ext cx="2587752" cy="1700784"/>
          </a:xfrm>
          <a:prstGeom prst="roundRect">
            <a:avLst>
              <a:gd name="adj" fmla="val 3763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E1C1DC0-E498-4F49-8A27-42CB2986F2D6}"/>
              </a:ext>
            </a:extLst>
          </p:cNvPr>
          <p:cNvSpPr>
            <a:spLocks noGrp="1"/>
          </p:cNvSpPr>
          <p:nvPr/>
        </p:nvSpPr>
        <p:spPr>
          <a:xfrm>
            <a:off x="3594506" y="418795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>
            <a:extLst>
              <a:ext uri="{FF2B5EF4-FFF2-40B4-BE49-F238E27FC236}">
                <a16:creationId xmlns:a16="http://schemas.microsoft.com/office/drawing/2014/main" id="{024DE653-031D-4E9F-A71B-E5F841FBF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456" y="4288902"/>
            <a:ext cx="218724" cy="21872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F8118105-0311-432C-80AC-D5D71F022F7E}"/>
              </a:ext>
            </a:extLst>
          </p:cNvPr>
          <p:cNvSpPr>
            <a:spLocks noGrp="1"/>
          </p:cNvSpPr>
          <p:nvPr/>
        </p:nvSpPr>
        <p:spPr>
          <a:xfrm>
            <a:off x="4124858" y="4187952"/>
            <a:ext cx="169164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 spc="2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AI WORKFORCE</a:t>
            </a:r>
            <a:endParaRPr sz="14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BB2BF4D-50EF-4D92-8A6E-1498DE727D1B}"/>
              </a:ext>
            </a:extLst>
          </p:cNvPr>
          <p:cNvSpPr>
            <a:spLocks noGrp="1"/>
          </p:cNvSpPr>
          <p:nvPr/>
        </p:nvSpPr>
        <p:spPr>
          <a:xfrm>
            <a:off x="3612794" y="47548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Specialist agents for </a:t>
            </a:r>
            <a:r>
              <a:rPr lang="en-US" sz="13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knowledge, analysis and delivery</a:t>
            </a:r>
            <a:endParaRPr sz="105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9566975D-68BF-4358-A8C8-7A76564506C5}"/>
              </a:ext>
            </a:extLst>
          </p:cNvPr>
          <p:cNvSpPr>
            <a:spLocks noGrp="1"/>
          </p:cNvSpPr>
          <p:nvPr/>
        </p:nvSpPr>
        <p:spPr>
          <a:xfrm>
            <a:off x="6210605" y="3986784"/>
            <a:ext cx="2587752" cy="1700784"/>
          </a:xfrm>
          <a:prstGeom prst="roundRect">
            <a:avLst>
              <a:gd name="adj" fmla="val 3763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FE79F9CD-087D-489F-AE0A-2CFE9AB5F818}"/>
              </a:ext>
            </a:extLst>
          </p:cNvPr>
          <p:cNvSpPr>
            <a:spLocks noGrp="1"/>
          </p:cNvSpPr>
          <p:nvPr/>
        </p:nvSpPr>
        <p:spPr>
          <a:xfrm>
            <a:off x="6411773" y="418795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>
            <a:extLst>
              <a:ext uri="{FF2B5EF4-FFF2-40B4-BE49-F238E27FC236}">
                <a16:creationId xmlns:a16="http://schemas.microsoft.com/office/drawing/2014/main" id="{0E16BDD9-6616-475E-936E-2D7E62B6E8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723" y="4288902"/>
            <a:ext cx="218724" cy="21872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D954A47C-1FB7-468C-8CC9-A15B11787B7F}"/>
              </a:ext>
            </a:extLst>
          </p:cNvPr>
          <p:cNvSpPr>
            <a:spLocks noGrp="1"/>
          </p:cNvSpPr>
          <p:nvPr/>
        </p:nvSpPr>
        <p:spPr>
          <a:xfrm>
            <a:off x="6942125" y="4187952"/>
            <a:ext cx="169164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 spc="2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GOVERNED KNOWLEDGE</a:t>
            </a:r>
            <a:endParaRPr sz="140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4C2B6FF4-E73C-4DFC-9DA1-B6332D6C6A9F}"/>
              </a:ext>
            </a:extLst>
          </p:cNvPr>
          <p:cNvSpPr>
            <a:spLocks noGrp="1"/>
          </p:cNvSpPr>
          <p:nvPr/>
        </p:nvSpPr>
        <p:spPr>
          <a:xfrm>
            <a:off x="6430061" y="47548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Trusted internal sources and reusable intelligence</a:t>
            </a:r>
            <a:endParaRPr sz="105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EAAD2A02-E52A-4239-963D-8CD69B09D92A}"/>
              </a:ext>
            </a:extLst>
          </p:cNvPr>
          <p:cNvSpPr>
            <a:spLocks noGrp="1"/>
          </p:cNvSpPr>
          <p:nvPr/>
        </p:nvSpPr>
        <p:spPr>
          <a:xfrm>
            <a:off x="9027871" y="3986784"/>
            <a:ext cx="2587752" cy="1700784"/>
          </a:xfrm>
          <a:prstGeom prst="roundRect">
            <a:avLst>
              <a:gd name="adj" fmla="val 3763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4AB9C3B3-BA5A-4FE0-8711-3B18C1D7F4F1}"/>
              </a:ext>
            </a:extLst>
          </p:cNvPr>
          <p:cNvSpPr>
            <a:spLocks noGrp="1"/>
          </p:cNvSpPr>
          <p:nvPr/>
        </p:nvSpPr>
        <p:spPr>
          <a:xfrm>
            <a:off x="9229039" y="418795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>
            <a:extLst>
              <a:ext uri="{FF2B5EF4-FFF2-40B4-BE49-F238E27FC236}">
                <a16:creationId xmlns:a16="http://schemas.microsoft.com/office/drawing/2014/main" id="{0800AA40-9D9A-404A-957B-923249DEE4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9989" y="4288902"/>
            <a:ext cx="218724" cy="21872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AB70BAE1-84F7-4038-BD49-E65016251525}"/>
              </a:ext>
            </a:extLst>
          </p:cNvPr>
          <p:cNvSpPr>
            <a:spLocks noGrp="1"/>
          </p:cNvSpPr>
          <p:nvPr/>
        </p:nvSpPr>
        <p:spPr>
          <a:xfrm>
            <a:off x="9759391" y="4187952"/>
            <a:ext cx="169164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 spc="2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HUMAN CONTROL</a:t>
            </a:r>
            <a:endParaRPr sz="140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16238660-DBE1-4340-B404-A4D0DBFE7FD8}"/>
              </a:ext>
            </a:extLst>
          </p:cNvPr>
          <p:cNvSpPr>
            <a:spLocks noGrp="1"/>
          </p:cNvSpPr>
          <p:nvPr/>
        </p:nvSpPr>
        <p:spPr>
          <a:xfrm>
            <a:off x="9247327" y="475488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Verification, approvals and audit-ready delivery</a:t>
            </a:r>
            <a:endParaRPr sz="105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70F134FE-4FC0-41C9-8647-FA1DD2A665D7}"/>
              </a:ext>
            </a:extLst>
          </p:cNvPr>
          <p:cNvSpPr>
            <a:spLocks noGrp="1"/>
          </p:cNvSpPr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75" b="1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08 / 19</a:t>
            </a:r>
            <a:endParaRPr sz="975"/>
          </a:p>
        </p:txBody>
      </p:sp>
      <p:sp>
        <p:nvSpPr>
          <p:cNvPr id="31" name="Oval 30"/>
          <p:cNvSpPr/>
          <p:nvPr/>
        </p:nvSpPr>
        <p:spPr>
          <a:xfrm>
            <a:off x="772667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86384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00100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3815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7531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41248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54964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686800" y="6547104"/>
            <a:ext cx="96012" cy="96012"/>
          </a:xfrm>
          <a:prstGeom prst="ellipse">
            <a:avLst/>
          </a:prstGeom>
          <a:solidFill>
            <a:srgbClr val="506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82395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96111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09828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23544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37260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50975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64691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78408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92124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05840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19555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55698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light_bg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5FC8E63-92B4-4AD9-98FB-4916DE8934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75E8A19-28EA-4D21-9564-85F9068729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CF54F09-0CC9-43B5-8DEB-BF4273D6922B}"/>
              </a:ext>
            </a:extLst>
          </p:cNvPr>
          <p:cNvSpPr>
            <a:spLocks noGrp="1"/>
          </p:cNvSpPr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C1468B3-C137-4A5A-9870-FDA648591035}"/>
              </a:ext>
            </a:extLst>
          </p:cNvPr>
          <p:cNvSpPr>
            <a:spLocks noGrp="1"/>
          </p:cNvSpPr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7E1CEDD-4855-4814-A724-98CE2341CF6D}"/>
              </a:ext>
            </a:extLst>
          </p:cNvPr>
          <p:cNvSpPr>
            <a:spLocks noGrp="1"/>
          </p:cNvSpPr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BE80AE7-4F82-40ED-993A-D75B11193A57}"/>
              </a:ext>
            </a:extLst>
          </p:cNvPr>
          <p:cNvSpPr>
            <a:spLocks noGrp="1"/>
          </p:cNvSpPr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4FC441D-18DA-4697-B791-F3ADC74DD245}"/>
              </a:ext>
            </a:extLst>
          </p:cNvPr>
          <p:cNvSpPr>
            <a:spLocks noGrp="1"/>
          </p:cNvSpPr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50" b="1" spc="300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06 · THE PROPOSED EXPERIENCE</a:t>
            </a:r>
            <a:endParaRPr sz="10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F91F9EA-B8BB-4B0A-8F9B-63D17000BABB}"/>
              </a:ext>
            </a:extLst>
          </p:cNvPr>
          <p:cNvSpPr>
            <a:spLocks noGrp="1"/>
          </p:cNvSpPr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 dirty="0" err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BursaIQ</a:t>
            </a:r>
            <a:r>
              <a:rPr lang="en-US" sz="26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: The</a:t>
            </a:r>
            <a:r>
              <a:rPr sz="26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 </a:t>
            </a:r>
            <a:r>
              <a:rPr lang="en-US" sz="26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P</a:t>
            </a:r>
            <a:r>
              <a:rPr sz="26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roduct </a:t>
            </a:r>
            <a:r>
              <a:rPr lang="en-US" sz="26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E</a:t>
            </a:r>
            <a:r>
              <a:rPr sz="26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xperience</a:t>
            </a:r>
            <a:endParaRPr sz="2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EA6DD39-E81D-4D60-A444-57DE72E9EADC}"/>
              </a:ext>
            </a:extLst>
          </p:cNvPr>
          <p:cNvSpPr>
            <a:spLocks noGrp="1"/>
          </p:cNvSpPr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BursaIQ presents one governed AI workforce powered by two complementary model paths.</a:t>
            </a:r>
            <a:endParaRPr sz="115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017BBC5-A6A2-44D6-AA37-79EEEB938822}"/>
              </a:ext>
            </a:extLst>
          </p:cNvPr>
          <p:cNvSpPr>
            <a:spLocks noGrp="1"/>
          </p:cNvSpPr>
          <p:nvPr/>
        </p:nvSpPr>
        <p:spPr>
          <a:xfrm>
            <a:off x="576072" y="5592752"/>
            <a:ext cx="6510528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Microsoft providers support connected enterprise experiences; self-hosted models provide local control and choice.</a:t>
            </a:r>
            <a:endParaRPr sz="95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FCCFCBB-380D-42D0-8866-8E47165EDBC8}"/>
              </a:ext>
            </a:extLst>
          </p:cNvPr>
          <p:cNvSpPr>
            <a:spLocks noGrp="1"/>
          </p:cNvSpPr>
          <p:nvPr/>
        </p:nvSpPr>
        <p:spPr>
          <a:xfrm>
            <a:off x="7031736" y="1792224"/>
            <a:ext cx="4583887" cy="914400"/>
          </a:xfrm>
          <a:prstGeom prst="roundRect">
            <a:avLst>
              <a:gd name="adj" fmla="val 7000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9E053AE-A5C7-442E-9B9E-E6CA7B0628CD}"/>
              </a:ext>
            </a:extLst>
          </p:cNvPr>
          <p:cNvSpPr>
            <a:spLocks noGrp="1"/>
          </p:cNvSpPr>
          <p:nvPr/>
        </p:nvSpPr>
        <p:spPr>
          <a:xfrm>
            <a:off x="7214616" y="1920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01</a:t>
            </a:r>
            <a:endParaRPr sz="130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6D7216F-6017-47AA-8E6A-F14B32064751}"/>
              </a:ext>
            </a:extLst>
          </p:cNvPr>
          <p:cNvSpPr>
            <a:spLocks noGrp="1"/>
          </p:cNvSpPr>
          <p:nvPr/>
        </p:nvSpPr>
        <p:spPr>
          <a:xfrm>
            <a:off x="7635240" y="1920240"/>
            <a:ext cx="3815791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Hybrid model choice</a:t>
            </a:r>
            <a:endParaRPr sz="115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E52D21E-2D26-41AB-A3CF-0DFED710920E}"/>
              </a:ext>
            </a:extLst>
          </p:cNvPr>
          <p:cNvSpPr>
            <a:spLocks noGrp="1"/>
          </p:cNvSpPr>
          <p:nvPr/>
        </p:nvSpPr>
        <p:spPr>
          <a:xfrm>
            <a:off x="7214616" y="2212848"/>
            <a:ext cx="421812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Select Microsoft or local open-source AI according to the work, policy and operating context.</a:t>
            </a:r>
            <a:endParaRPr sz="90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E9B45B8-C83F-4253-B33C-1A75F262BBC6}"/>
              </a:ext>
            </a:extLst>
          </p:cNvPr>
          <p:cNvSpPr>
            <a:spLocks noGrp="1"/>
          </p:cNvSpPr>
          <p:nvPr/>
        </p:nvSpPr>
        <p:spPr>
          <a:xfrm>
            <a:off x="7031736" y="2816352"/>
            <a:ext cx="4583887" cy="914400"/>
          </a:xfrm>
          <a:prstGeom prst="roundRect">
            <a:avLst>
              <a:gd name="adj" fmla="val 7000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C2FE280-B2D2-4A60-980C-9B62773071E6}"/>
              </a:ext>
            </a:extLst>
          </p:cNvPr>
          <p:cNvSpPr>
            <a:spLocks noGrp="1"/>
          </p:cNvSpPr>
          <p:nvPr/>
        </p:nvSpPr>
        <p:spPr>
          <a:xfrm>
            <a:off x="7214616" y="29443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02</a:t>
            </a:r>
            <a:endParaRPr sz="130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01E0E683-B1AA-41A1-90F6-C239C0956958}"/>
              </a:ext>
            </a:extLst>
          </p:cNvPr>
          <p:cNvSpPr>
            <a:spLocks noGrp="1"/>
          </p:cNvSpPr>
          <p:nvPr/>
        </p:nvSpPr>
        <p:spPr>
          <a:xfrm>
            <a:off x="7635240" y="2944368"/>
            <a:ext cx="3815791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One AI workforce experience</a:t>
            </a:r>
            <a:endParaRPr sz="115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1DDC4D19-6D1C-451E-9350-2FE0E422FDF8}"/>
              </a:ext>
            </a:extLst>
          </p:cNvPr>
          <p:cNvSpPr>
            <a:spLocks noGrp="1"/>
          </p:cNvSpPr>
          <p:nvPr/>
        </p:nvSpPr>
        <p:spPr>
          <a:xfrm>
            <a:off x="7214616" y="3236976"/>
            <a:ext cx="421812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Users work with specialist agents without managing separate tools or model interfaces.</a:t>
            </a:r>
            <a:endParaRPr sz="90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76B7A103-BF71-40E3-886B-AA46FA901A26}"/>
              </a:ext>
            </a:extLst>
          </p:cNvPr>
          <p:cNvSpPr>
            <a:spLocks noGrp="1"/>
          </p:cNvSpPr>
          <p:nvPr/>
        </p:nvSpPr>
        <p:spPr>
          <a:xfrm>
            <a:off x="7031736" y="3840480"/>
            <a:ext cx="4583887" cy="914400"/>
          </a:xfrm>
          <a:prstGeom prst="roundRect">
            <a:avLst>
              <a:gd name="adj" fmla="val 7000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5548BE8-F219-4A69-A5C7-1E2451CA7386}"/>
              </a:ext>
            </a:extLst>
          </p:cNvPr>
          <p:cNvSpPr>
            <a:spLocks noGrp="1"/>
          </p:cNvSpPr>
          <p:nvPr/>
        </p:nvSpPr>
        <p:spPr>
          <a:xfrm>
            <a:off x="7214616" y="396849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03</a:t>
            </a:r>
            <a:endParaRPr sz="130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DF8A6517-CD50-4971-AC3B-B3EBCAD4944E}"/>
              </a:ext>
            </a:extLst>
          </p:cNvPr>
          <p:cNvSpPr>
            <a:spLocks noGrp="1"/>
          </p:cNvSpPr>
          <p:nvPr/>
        </p:nvSpPr>
        <p:spPr>
          <a:xfrm>
            <a:off x="7635240" y="3968496"/>
            <a:ext cx="3815791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Trusted knowledge and evidence</a:t>
            </a:r>
            <a:endParaRPr sz="115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07F2363-4E20-4FDB-AD8F-12E2DA7BA658}"/>
              </a:ext>
            </a:extLst>
          </p:cNvPr>
          <p:cNvSpPr>
            <a:spLocks noGrp="1"/>
          </p:cNvSpPr>
          <p:nvPr/>
        </p:nvSpPr>
        <p:spPr>
          <a:xfrm>
            <a:off x="7214616" y="4261104"/>
            <a:ext cx="421812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Answers and deliverables remain grounded in approved knowledge and traceable sources.</a:t>
            </a:r>
            <a:endParaRPr sz="9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032F5E28-75C4-41EF-92FB-9093DB8E337E}"/>
              </a:ext>
            </a:extLst>
          </p:cNvPr>
          <p:cNvSpPr>
            <a:spLocks noGrp="1"/>
          </p:cNvSpPr>
          <p:nvPr/>
        </p:nvSpPr>
        <p:spPr>
          <a:xfrm>
            <a:off x="7031736" y="4864608"/>
            <a:ext cx="4583887" cy="914400"/>
          </a:xfrm>
          <a:prstGeom prst="roundRect">
            <a:avLst>
              <a:gd name="adj" fmla="val 7000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CC2B45C1-4383-43A4-B6C1-5C2649E2A4FE}"/>
              </a:ext>
            </a:extLst>
          </p:cNvPr>
          <p:cNvSpPr>
            <a:spLocks noGrp="1"/>
          </p:cNvSpPr>
          <p:nvPr/>
        </p:nvSpPr>
        <p:spPr>
          <a:xfrm>
            <a:off x="7214616" y="499262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04</a:t>
            </a:r>
            <a:endParaRPr sz="130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1C6495D-D339-45BF-B38A-92795CA0CFC6}"/>
              </a:ext>
            </a:extLst>
          </p:cNvPr>
          <p:cNvSpPr>
            <a:spLocks noGrp="1"/>
          </p:cNvSpPr>
          <p:nvPr/>
        </p:nvSpPr>
        <p:spPr>
          <a:xfrm>
            <a:off x="7635240" y="4992624"/>
            <a:ext cx="3815791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Human oversight and reuse</a:t>
            </a:r>
            <a:endParaRPr sz="115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8506706-188F-458C-AF24-1F461D338289}"/>
              </a:ext>
            </a:extLst>
          </p:cNvPr>
          <p:cNvSpPr>
            <a:spLocks noGrp="1"/>
          </p:cNvSpPr>
          <p:nvPr/>
        </p:nvSpPr>
        <p:spPr>
          <a:xfrm>
            <a:off x="7214616" y="5285232"/>
            <a:ext cx="4218127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People review important outputs before the organisation publishes or reuses them.</a:t>
            </a:r>
            <a:endParaRPr sz="90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E2F58D68-35ED-41D2-B324-17B15DE3CC0F}"/>
              </a:ext>
            </a:extLst>
          </p:cNvPr>
          <p:cNvSpPr>
            <a:spLocks noGrp="1"/>
          </p:cNvSpPr>
          <p:nvPr/>
        </p:nvSpPr>
        <p:spPr>
          <a:xfrm>
            <a:off x="576072" y="5943600"/>
            <a:ext cx="11039551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D470EB22-8B65-4519-A89E-33D4CF7FA8A8}"/>
              </a:ext>
            </a:extLst>
          </p:cNvPr>
          <p:cNvSpPr>
            <a:spLocks noGrp="1"/>
          </p:cNvSpPr>
          <p:nvPr/>
        </p:nvSpPr>
        <p:spPr>
          <a:xfrm>
            <a:off x="722376" y="6016752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2">
            <a:extLst>
              <a:ext uri="{FF2B5EF4-FFF2-40B4-BE49-F238E27FC236}">
                <a16:creationId xmlns:a16="http://schemas.microsoft.com/office/drawing/2014/main" id="{4EA719C4-71D0-446A-9AE3-53C0FFA99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91" y="6091367"/>
            <a:ext cx="161666" cy="161666"/>
          </a:xfrm>
          <a:prstGeom prst="rect">
            <a:avLst/>
          </a:prstGeom>
        </p:spPr>
      </p:pic>
      <p:sp>
        <p:nvSpPr>
          <p:cNvPr id="34" name="Text 29">
            <a:extLst>
              <a:ext uri="{FF2B5EF4-FFF2-40B4-BE49-F238E27FC236}">
                <a16:creationId xmlns:a16="http://schemas.microsoft.com/office/drawing/2014/main" id="{5FC09428-49A9-4099-8307-3ED2A81B4D1E}"/>
              </a:ext>
            </a:extLst>
          </p:cNvPr>
          <p:cNvSpPr>
            <a:spLocks noGrp="1"/>
          </p:cNvSpPr>
          <p:nvPr/>
        </p:nvSpPr>
        <p:spPr>
          <a:xfrm>
            <a:off x="1143000" y="5943600"/>
            <a:ext cx="1032631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Proposed architecture: a shared BursaIQ governance layer across Microsoft AI services and self-hosted </a:t>
            </a:r>
            <a:r>
              <a:rPr lang="en-US" sz="11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open-source models</a:t>
            </a:r>
            <a:r>
              <a:rPr sz="11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, with one experience for users and reviewers.</a:t>
            </a:r>
            <a:endParaRPr sz="115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6EBED7AF-F90C-448E-A9D4-CD605DDFE1EF}"/>
              </a:ext>
            </a:extLst>
          </p:cNvPr>
          <p:cNvSpPr>
            <a:spLocks noGrp="1"/>
          </p:cNvSpPr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75" b="1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IQ</a:t>
            </a:r>
            <a:r>
              <a:rPr sz="975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4838CF6F-8257-4F5F-8515-46EC6DC1A903}"/>
              </a:ext>
            </a:extLst>
          </p:cNvPr>
          <p:cNvSpPr>
            <a:spLocks noGrp="1"/>
          </p:cNvSpPr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75" b="1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09 / 19</a:t>
            </a:r>
            <a:endParaRPr sz="975"/>
          </a:p>
        </p:txBody>
      </p:sp>
      <p:sp>
        <p:nvSpPr>
          <p:cNvPr id="38" name="Rounded Rectangle 37"/>
          <p:cNvSpPr/>
          <p:nvPr/>
        </p:nvSpPr>
        <p:spPr>
          <a:xfrm>
            <a:off x="694944" y="1965960"/>
            <a:ext cx="2770632" cy="987552"/>
          </a:xfrm>
          <a:prstGeom prst="roundRect">
            <a:avLst/>
          </a:prstGeom>
          <a:solidFill>
            <a:srgbClr val="FFFFFF">
              <a:alpha val="77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13816" y="2121408"/>
            <a:ext cx="338328" cy="338328"/>
          </a:xfrm>
          <a:prstGeom prst="roundRect">
            <a:avLst/>
          </a:prstGeom>
          <a:solidFill>
            <a:srgbClr val="D6E0F6">
              <a:alpha val="70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532" y="2185415"/>
            <a:ext cx="310896" cy="219456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1">
                <a:solidFill>
                  <a:srgbClr val="5474B0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2728" y="2112264"/>
            <a:ext cx="2011680" cy="347472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1300" b="1">
                <a:solidFill>
                  <a:srgbClr val="1E2A5E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My Workforce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2728" y="2514600"/>
            <a:ext cx="2066543" cy="292608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0">
                <a:solidFill>
                  <a:srgbClr val="6B7A99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AI missions and specialist workers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30168" y="1965960"/>
            <a:ext cx="2770632" cy="987552"/>
          </a:xfrm>
          <a:prstGeom prst="roundRect">
            <a:avLst/>
          </a:prstGeom>
          <a:solidFill>
            <a:srgbClr val="FFFFFF">
              <a:alpha val="77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749039" y="2121408"/>
            <a:ext cx="338328" cy="338328"/>
          </a:xfrm>
          <a:prstGeom prst="roundRect">
            <a:avLst/>
          </a:prstGeom>
          <a:solidFill>
            <a:srgbClr val="D6E0F6">
              <a:alpha val="70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762755" y="2185415"/>
            <a:ext cx="310896" cy="219456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1">
                <a:solidFill>
                  <a:srgbClr val="5474B0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87952" y="2112264"/>
            <a:ext cx="2011680" cy="347472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1300" b="1">
                <a:solidFill>
                  <a:srgbClr val="1E2A5E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Intelligence Exchange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87952" y="2514600"/>
            <a:ext cx="2066543" cy="292608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0">
                <a:solidFill>
                  <a:srgbClr val="6B7A99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Approved insights and reuse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" y="3081528"/>
            <a:ext cx="2770632" cy="987552"/>
          </a:xfrm>
          <a:prstGeom prst="roundRect">
            <a:avLst/>
          </a:prstGeom>
          <a:solidFill>
            <a:srgbClr val="FFFFFF">
              <a:alpha val="77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13816" y="3236976"/>
            <a:ext cx="338328" cy="338328"/>
          </a:xfrm>
          <a:prstGeom prst="roundRect">
            <a:avLst/>
          </a:prstGeom>
          <a:solidFill>
            <a:srgbClr val="D6E0F6">
              <a:alpha val="70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7532" y="3300984"/>
            <a:ext cx="310896" cy="219456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1">
                <a:solidFill>
                  <a:srgbClr val="5474B0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52728" y="3227832"/>
            <a:ext cx="2011680" cy="347472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1300" b="1">
                <a:solidFill>
                  <a:srgbClr val="1E2A5E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AI Assistant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2728" y="3630168"/>
            <a:ext cx="2066543" cy="292608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0">
                <a:solidFill>
                  <a:srgbClr val="6B7A99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Everyday support and insight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30168" y="3081528"/>
            <a:ext cx="2770632" cy="987552"/>
          </a:xfrm>
          <a:prstGeom prst="roundRect">
            <a:avLst/>
          </a:prstGeom>
          <a:solidFill>
            <a:srgbClr val="FFFFFF">
              <a:alpha val="77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749039" y="3236976"/>
            <a:ext cx="338328" cy="338328"/>
          </a:xfrm>
          <a:prstGeom prst="roundRect">
            <a:avLst/>
          </a:prstGeom>
          <a:solidFill>
            <a:srgbClr val="D6E0F6">
              <a:alpha val="70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62755" y="3300984"/>
            <a:ext cx="310896" cy="219456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1">
                <a:solidFill>
                  <a:srgbClr val="5474B0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87952" y="3227832"/>
            <a:ext cx="2011680" cy="347472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1300" b="1">
                <a:solidFill>
                  <a:srgbClr val="1E2A5E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Ask Bursa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7952" y="3630168"/>
            <a:ext cx="2066543" cy="292608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0">
                <a:solidFill>
                  <a:srgbClr val="6B7A99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Trusted internal knowledge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4944" y="4197096"/>
            <a:ext cx="2770632" cy="987552"/>
          </a:xfrm>
          <a:prstGeom prst="roundRect">
            <a:avLst/>
          </a:prstGeom>
          <a:solidFill>
            <a:srgbClr val="FFFFFF">
              <a:alpha val="77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13816" y="4352544"/>
            <a:ext cx="338328" cy="338328"/>
          </a:xfrm>
          <a:prstGeom prst="roundRect">
            <a:avLst/>
          </a:prstGeom>
          <a:solidFill>
            <a:srgbClr val="D6E0F6">
              <a:alpha val="70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7532" y="4416552"/>
            <a:ext cx="310896" cy="219456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1">
                <a:solidFill>
                  <a:srgbClr val="5474B0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52728" y="4343400"/>
            <a:ext cx="2011680" cy="347472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1300" b="1">
                <a:solidFill>
                  <a:srgbClr val="1E2A5E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Verification Centre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2728" y="4745736"/>
            <a:ext cx="2066543" cy="292608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0">
                <a:solidFill>
                  <a:srgbClr val="6B7A99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Human review and approval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30168" y="4197096"/>
            <a:ext cx="2770632" cy="987552"/>
          </a:xfrm>
          <a:prstGeom prst="roundRect">
            <a:avLst/>
          </a:prstGeom>
          <a:solidFill>
            <a:srgbClr val="FFFFFF">
              <a:alpha val="77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3749039" y="4352544"/>
            <a:ext cx="338328" cy="338328"/>
          </a:xfrm>
          <a:prstGeom prst="roundRect">
            <a:avLst/>
          </a:prstGeom>
          <a:solidFill>
            <a:srgbClr val="D6E0F6">
              <a:alpha val="70000"/>
            </a:srgbClr>
          </a:solidFill>
          <a:ln w="13335">
            <a:solidFill>
              <a:srgbClr val="FFFF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62755" y="4416552"/>
            <a:ext cx="310896" cy="219456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1">
                <a:solidFill>
                  <a:srgbClr val="5474B0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87952" y="4343400"/>
            <a:ext cx="2011680" cy="347472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1300" b="1">
                <a:solidFill>
                  <a:srgbClr val="1E2A5E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Administration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87952" y="4745736"/>
            <a:ext cx="2066543" cy="292608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>
              <a:defRPr sz="900" b="0">
                <a:solidFill>
                  <a:srgbClr val="6B7A99"/>
                </a:solidFill>
                <a:latin typeface="Sora"/>
              </a:defRPr>
            </a:pPr>
            <a:r>
              <a:rPr>
                <a:solidFill/>
                <a:latin typeface="Sora"/>
              </a:rPr>
              <a:t>Models, access and governance</a:t>
            </a:r>
          </a:p>
        </p:txBody>
      </p:sp>
      <p:sp>
        <p:nvSpPr>
          <p:cNvPr id="68" name="Oval 67"/>
          <p:cNvSpPr/>
          <p:nvPr/>
        </p:nvSpPr>
        <p:spPr>
          <a:xfrm>
            <a:off x="772667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786384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00100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13815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27531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41248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54964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868680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8823959" y="6547104"/>
            <a:ext cx="96012" cy="96012"/>
          </a:xfrm>
          <a:prstGeom prst="ellipse">
            <a:avLst/>
          </a:prstGeom>
          <a:solidFill>
            <a:srgbClr val="506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96111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09828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23544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37260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950975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964691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978408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992124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005840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019555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8273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83112" y="6684264"/>
            <a:ext cx="694944" cy="128016"/>
          </a:xfrm>
          <a:prstGeom prst="rect">
            <a:avLst/>
          </a:prstGeom>
          <a:noFill/>
        </p:spPr>
        <p:txBody>
          <a:bodyPr wrap="square" lIns="27432" tIns="13716" rIns="27432" bIns="13716">
            <a:spAutoFit/>
          </a:bodyPr>
          <a:lstStyle/>
          <a:p>
            <a:pPr algn="r">
              <a:defRPr sz="800" b="1">
                <a:solidFill>
                  <a:srgbClr val="6B7A99"/>
                </a:solidFill>
                <a:latin typeface="Sora"/>
              </a:defRPr>
            </a:pPr>
            <a:r>
              <a:t>10 / 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2C801-EA5D-839C-4192-89A25FFD7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7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light_bg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5" y="0"/>
            <a:ext cx="12192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8ACD8C8-AE51-42A2-A5E3-3ED2DB751F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7169514-A562-4D2C-A33D-BC37970377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A18DD67-2522-46A2-872E-BAEA62DEEAFD}"/>
              </a:ext>
            </a:extLst>
          </p:cNvPr>
          <p:cNvSpPr>
            <a:spLocks noGrp="1"/>
          </p:cNvSpPr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0F0580B-8550-4B99-8486-10D920E155B7}"/>
              </a:ext>
            </a:extLst>
          </p:cNvPr>
          <p:cNvSpPr>
            <a:spLocks noGrp="1"/>
          </p:cNvSpPr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4AF3191-E1AD-49B8-90F7-21361FAB5433}"/>
              </a:ext>
            </a:extLst>
          </p:cNvPr>
          <p:cNvSpPr>
            <a:spLocks noGrp="1"/>
          </p:cNvSpPr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7E5D099-4CAC-4739-961F-340C671A3BDF}"/>
              </a:ext>
            </a:extLst>
          </p:cNvPr>
          <p:cNvSpPr>
            <a:spLocks noGrp="1"/>
          </p:cNvSpPr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A40C07D-C8DF-477D-BF00-92119CD31545}"/>
              </a:ext>
            </a:extLst>
          </p:cNvPr>
          <p:cNvSpPr>
            <a:spLocks noGrp="1"/>
          </p:cNvSpPr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50" b="1" spc="300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10 · THE HYBRID EXPERIENCE</a:t>
            </a:r>
            <a:endParaRPr sz="10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BF30E4E-7FE9-4037-AE7B-65D525CDBF2E}"/>
              </a:ext>
            </a:extLst>
          </p:cNvPr>
          <p:cNvSpPr>
            <a:spLocks noGrp="1"/>
          </p:cNvSpPr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One platform. Two model paths. One governance layer.</a:t>
            </a:r>
            <a:endParaRPr sz="26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ADE8F95-7005-47EE-BBE5-F007A90177BB}"/>
              </a:ext>
            </a:extLst>
          </p:cNvPr>
          <p:cNvSpPr>
            <a:spLocks noGrp="1"/>
          </p:cNvSpPr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BursaIQ gives users a consistent AI workforce experience while the organisation chooses the right provider for each context.</a:t>
            </a:r>
            <a:endParaRPr sz="11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546A9F9-62CA-4BFD-A27B-5672108AF5B7}"/>
              </a:ext>
            </a:extLst>
          </p:cNvPr>
          <p:cNvSpPr>
            <a:spLocks noGrp="1"/>
          </p:cNvSpPr>
          <p:nvPr/>
        </p:nvSpPr>
        <p:spPr>
          <a:xfrm>
            <a:off x="576072" y="1865376"/>
            <a:ext cx="3520440" cy="1755648"/>
          </a:xfrm>
          <a:prstGeom prst="roundRect">
            <a:avLst>
              <a:gd name="adj" fmla="val 3646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548B03F-1A38-4ECD-A1FA-70889511FF87}"/>
              </a:ext>
            </a:extLst>
          </p:cNvPr>
          <p:cNvSpPr>
            <a:spLocks noGrp="1"/>
          </p:cNvSpPr>
          <p:nvPr/>
        </p:nvSpPr>
        <p:spPr>
          <a:xfrm>
            <a:off x="777240" y="204825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2BD03CA6-4DA7-4D0F-A1AA-47FF36A68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157984"/>
            <a:ext cx="237744" cy="237744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4CCD4185-C774-45FC-A13B-8793F804F266}"/>
              </a:ext>
            </a:extLst>
          </p:cNvPr>
          <p:cNvSpPr>
            <a:spLocks noGrp="1"/>
          </p:cNvSpPr>
          <p:nvPr/>
        </p:nvSpPr>
        <p:spPr>
          <a:xfrm>
            <a:off x="1362456" y="2029968"/>
            <a:ext cx="255117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16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WORKFORCE</a:t>
            </a:r>
            <a:endParaRPr sz="90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9DE451A-D2EB-4B8C-9C49-652DE5ED3998}"/>
              </a:ext>
            </a:extLst>
          </p:cNvPr>
          <p:cNvSpPr>
            <a:spLocks noGrp="1"/>
          </p:cNvSpPr>
          <p:nvPr/>
        </p:nvSpPr>
        <p:spPr>
          <a:xfrm>
            <a:off x="1362456" y="2267712"/>
            <a:ext cx="255117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My Workforce</a:t>
            </a:r>
            <a:endParaRPr sz="125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81B2648-A4E4-4E25-858C-A1FBB9869469}"/>
              </a:ext>
            </a:extLst>
          </p:cNvPr>
          <p:cNvSpPr>
            <a:spLocks noGrp="1"/>
          </p:cNvSpPr>
          <p:nvPr/>
        </p:nvSpPr>
        <p:spPr>
          <a:xfrm>
            <a:off x="795528" y="2670048"/>
            <a:ext cx="308152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Coordinate specialist AI workers across Microsoft and local model paths.</a:t>
            </a:r>
            <a:endParaRPr sz="95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2EA016C-70A3-40E9-8AA6-390F5FD9FA3A}"/>
              </a:ext>
            </a:extLst>
          </p:cNvPr>
          <p:cNvSpPr>
            <a:spLocks noGrp="1"/>
          </p:cNvSpPr>
          <p:nvPr/>
        </p:nvSpPr>
        <p:spPr>
          <a:xfrm>
            <a:off x="3127248" y="2029968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185C513-94B7-4F9A-A780-C8A4E17F93AE}"/>
              </a:ext>
            </a:extLst>
          </p:cNvPr>
          <p:cNvSpPr>
            <a:spLocks noGrp="1"/>
          </p:cNvSpPr>
          <p:nvPr/>
        </p:nvSpPr>
        <p:spPr>
          <a:xfrm>
            <a:off x="3127248" y="2029968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 spc="1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MISSIONS</a:t>
            </a:r>
            <a:endParaRPr sz="75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F650489-E362-4783-BB91-E4313AC04647}"/>
              </a:ext>
            </a:extLst>
          </p:cNvPr>
          <p:cNvSpPr>
            <a:spLocks noGrp="1"/>
          </p:cNvSpPr>
          <p:nvPr/>
        </p:nvSpPr>
        <p:spPr>
          <a:xfrm>
            <a:off x="4335628" y="1847088"/>
            <a:ext cx="3520440" cy="1755648"/>
          </a:xfrm>
          <a:prstGeom prst="roundRect">
            <a:avLst>
              <a:gd name="adj" fmla="val 3646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11D2DAFB-1869-45FD-B4C0-BCCEA6B241FF}"/>
              </a:ext>
            </a:extLst>
          </p:cNvPr>
          <p:cNvSpPr>
            <a:spLocks noGrp="1"/>
          </p:cNvSpPr>
          <p:nvPr/>
        </p:nvSpPr>
        <p:spPr>
          <a:xfrm>
            <a:off x="4536796" y="204825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2">
            <a:extLst>
              <a:ext uri="{FF2B5EF4-FFF2-40B4-BE49-F238E27FC236}">
                <a16:creationId xmlns:a16="http://schemas.microsoft.com/office/drawing/2014/main" id="{C823DFFB-FF7B-47C2-9092-CC04D7734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524" y="2157984"/>
            <a:ext cx="237744" cy="237744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BD115526-877E-42EC-B4EF-48FFFFFB226B}"/>
              </a:ext>
            </a:extLst>
          </p:cNvPr>
          <p:cNvSpPr>
            <a:spLocks noGrp="1"/>
          </p:cNvSpPr>
          <p:nvPr/>
        </p:nvSpPr>
        <p:spPr>
          <a:xfrm>
            <a:off x="5122012" y="2029968"/>
            <a:ext cx="255117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16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INTELLIGENCE</a:t>
            </a:r>
            <a:endParaRPr sz="90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87203FDB-1198-43AE-8541-934D343ADB15}"/>
              </a:ext>
            </a:extLst>
          </p:cNvPr>
          <p:cNvSpPr>
            <a:spLocks noGrp="1"/>
          </p:cNvSpPr>
          <p:nvPr/>
        </p:nvSpPr>
        <p:spPr>
          <a:xfrm>
            <a:off x="5122012" y="2267712"/>
            <a:ext cx="255117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Intelligence Exchange</a:t>
            </a:r>
            <a:endParaRPr sz="125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3254F2CA-2760-4C9A-83D9-004D1EE7D6E7}"/>
              </a:ext>
            </a:extLst>
          </p:cNvPr>
          <p:cNvSpPr>
            <a:spLocks noGrp="1"/>
          </p:cNvSpPr>
          <p:nvPr/>
        </p:nvSpPr>
        <p:spPr>
          <a:xfrm>
            <a:off x="4555084" y="2670048"/>
            <a:ext cx="308152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Publish approved insights and reuse them with clear provenance.</a:t>
            </a:r>
            <a:endParaRPr sz="95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C5E2DF1-22EA-4C79-9CCE-A17D35CF3F52}"/>
              </a:ext>
            </a:extLst>
          </p:cNvPr>
          <p:cNvSpPr>
            <a:spLocks noGrp="1"/>
          </p:cNvSpPr>
          <p:nvPr/>
        </p:nvSpPr>
        <p:spPr>
          <a:xfrm>
            <a:off x="6886804" y="2029968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1AF0647C-2BDB-47E6-BB5E-ED8A6E8F75BF}"/>
              </a:ext>
            </a:extLst>
          </p:cNvPr>
          <p:cNvSpPr>
            <a:spLocks noGrp="1"/>
          </p:cNvSpPr>
          <p:nvPr/>
        </p:nvSpPr>
        <p:spPr>
          <a:xfrm>
            <a:off x="6886804" y="2029968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 spc="100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KNOWLEDGE</a:t>
            </a:r>
            <a:endParaRPr sz="750" dirty="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E685C408-69B0-4497-8366-BABBA986DD6F}"/>
              </a:ext>
            </a:extLst>
          </p:cNvPr>
          <p:cNvSpPr>
            <a:spLocks noGrp="1"/>
          </p:cNvSpPr>
          <p:nvPr/>
        </p:nvSpPr>
        <p:spPr>
          <a:xfrm>
            <a:off x="8095183" y="1847088"/>
            <a:ext cx="3520440" cy="1755648"/>
          </a:xfrm>
          <a:prstGeom prst="roundRect">
            <a:avLst>
              <a:gd name="adj" fmla="val 3646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A0BDECBC-D6F1-4F58-B1B0-C4F110E7697D}"/>
              </a:ext>
            </a:extLst>
          </p:cNvPr>
          <p:cNvSpPr>
            <a:spLocks noGrp="1"/>
          </p:cNvSpPr>
          <p:nvPr/>
        </p:nvSpPr>
        <p:spPr>
          <a:xfrm>
            <a:off x="8296351" y="204825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Image 3">
            <a:extLst>
              <a:ext uri="{FF2B5EF4-FFF2-40B4-BE49-F238E27FC236}">
                <a16:creationId xmlns:a16="http://schemas.microsoft.com/office/drawing/2014/main" id="{A9694DAB-FC54-40F1-95C9-C9DA554320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079" y="2157984"/>
            <a:ext cx="237744" cy="23774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D3AFC99A-C717-4CD2-A067-AC58DC764CF8}"/>
              </a:ext>
            </a:extLst>
          </p:cNvPr>
          <p:cNvSpPr>
            <a:spLocks noGrp="1"/>
          </p:cNvSpPr>
          <p:nvPr/>
        </p:nvSpPr>
        <p:spPr>
          <a:xfrm>
            <a:off x="8881567" y="2029968"/>
            <a:ext cx="255117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160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INTELLIGENCE</a:t>
            </a:r>
            <a:endParaRPr sz="90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06C23753-3868-4AAB-AA5F-ABD9BC82D8E7}"/>
              </a:ext>
            </a:extLst>
          </p:cNvPr>
          <p:cNvSpPr>
            <a:spLocks noGrp="1"/>
          </p:cNvSpPr>
          <p:nvPr/>
        </p:nvSpPr>
        <p:spPr>
          <a:xfrm>
            <a:off x="8881567" y="2267712"/>
            <a:ext cx="255117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Ask Bursa</a:t>
            </a:r>
            <a:endParaRPr sz="125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D5C81B2-1A21-46A4-B66F-D76CC0E1DFB8}"/>
              </a:ext>
            </a:extLst>
          </p:cNvPr>
          <p:cNvSpPr>
            <a:spLocks noGrp="1"/>
          </p:cNvSpPr>
          <p:nvPr/>
        </p:nvSpPr>
        <p:spPr>
          <a:xfrm>
            <a:off x="8314639" y="2670048"/>
            <a:ext cx="308152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Answer internal questions from trusted knowledge and access controls.</a:t>
            </a:r>
            <a:endParaRPr sz="95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83B697E6-49F7-456A-9A4C-B39AFCED5A05}"/>
              </a:ext>
            </a:extLst>
          </p:cNvPr>
          <p:cNvSpPr>
            <a:spLocks noGrp="1"/>
          </p:cNvSpPr>
          <p:nvPr/>
        </p:nvSpPr>
        <p:spPr>
          <a:xfrm>
            <a:off x="576072" y="3803904"/>
            <a:ext cx="3520440" cy="1755648"/>
          </a:xfrm>
          <a:prstGeom prst="roundRect">
            <a:avLst>
              <a:gd name="adj" fmla="val 3646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C1D0E646-E8CB-44A1-8556-51BAE21A7957}"/>
              </a:ext>
            </a:extLst>
          </p:cNvPr>
          <p:cNvSpPr>
            <a:spLocks noGrp="1"/>
          </p:cNvSpPr>
          <p:nvPr/>
        </p:nvSpPr>
        <p:spPr>
          <a:xfrm>
            <a:off x="777240" y="4005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4">
            <a:extLst>
              <a:ext uri="{FF2B5EF4-FFF2-40B4-BE49-F238E27FC236}">
                <a16:creationId xmlns:a16="http://schemas.microsoft.com/office/drawing/2014/main" id="{5F303E03-A4BE-4E97-84FA-B78864BD8B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114800"/>
            <a:ext cx="237744" cy="237744"/>
          </a:xfrm>
          <a:prstGeom prst="rect">
            <a:avLst/>
          </a:prstGeom>
        </p:spPr>
      </p:pic>
      <p:sp>
        <p:nvSpPr>
          <p:cNvPr id="37" name="Text 30">
            <a:extLst>
              <a:ext uri="{FF2B5EF4-FFF2-40B4-BE49-F238E27FC236}">
                <a16:creationId xmlns:a16="http://schemas.microsoft.com/office/drawing/2014/main" id="{41E4EE92-1DB8-40F8-A820-FF3884B50067}"/>
              </a:ext>
            </a:extLst>
          </p:cNvPr>
          <p:cNvSpPr>
            <a:spLocks noGrp="1"/>
          </p:cNvSpPr>
          <p:nvPr/>
        </p:nvSpPr>
        <p:spPr>
          <a:xfrm>
            <a:off x="1362456" y="3986784"/>
            <a:ext cx="255117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16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ASSISTANT</a:t>
            </a:r>
            <a:endParaRPr sz="900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38AE3D55-5DDF-4624-93A5-417FB7D3A810}"/>
              </a:ext>
            </a:extLst>
          </p:cNvPr>
          <p:cNvSpPr>
            <a:spLocks noGrp="1"/>
          </p:cNvSpPr>
          <p:nvPr/>
        </p:nvSpPr>
        <p:spPr>
          <a:xfrm>
            <a:off x="1362456" y="4224528"/>
            <a:ext cx="255117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AI Assistant</a:t>
            </a:r>
            <a:endParaRPr sz="1250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74DBC824-D285-4906-B512-1FD0C21AA3DD}"/>
              </a:ext>
            </a:extLst>
          </p:cNvPr>
          <p:cNvSpPr>
            <a:spLocks noGrp="1"/>
          </p:cNvSpPr>
          <p:nvPr/>
        </p:nvSpPr>
        <p:spPr>
          <a:xfrm>
            <a:off x="795528" y="4626864"/>
            <a:ext cx="308152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Support everyday work through the model path that best fits the request.</a:t>
            </a:r>
            <a:endParaRPr sz="950"/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0B28D97C-9C1B-4DE5-BDBB-6EBCD2C354D9}"/>
              </a:ext>
            </a:extLst>
          </p:cNvPr>
          <p:cNvSpPr>
            <a:spLocks noGrp="1"/>
          </p:cNvSpPr>
          <p:nvPr/>
        </p:nvSpPr>
        <p:spPr>
          <a:xfrm>
            <a:off x="4335628" y="3803904"/>
            <a:ext cx="3520440" cy="1755648"/>
          </a:xfrm>
          <a:prstGeom prst="roundRect">
            <a:avLst>
              <a:gd name="adj" fmla="val 3646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54040DCE-0D0D-411F-BF5B-F551FBB11553}"/>
              </a:ext>
            </a:extLst>
          </p:cNvPr>
          <p:cNvSpPr>
            <a:spLocks noGrp="1"/>
          </p:cNvSpPr>
          <p:nvPr/>
        </p:nvSpPr>
        <p:spPr>
          <a:xfrm>
            <a:off x="4536796" y="4005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2" name="Image 5">
            <a:extLst>
              <a:ext uri="{FF2B5EF4-FFF2-40B4-BE49-F238E27FC236}">
                <a16:creationId xmlns:a16="http://schemas.microsoft.com/office/drawing/2014/main" id="{D9B5F140-BAEB-4E3C-8AD0-429A6FAB1E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6524" y="4114800"/>
            <a:ext cx="237744" cy="237744"/>
          </a:xfrm>
          <a:prstGeom prst="rect">
            <a:avLst/>
          </a:prstGeom>
        </p:spPr>
      </p:pic>
      <p:sp>
        <p:nvSpPr>
          <p:cNvPr id="43" name="Text 35">
            <a:extLst>
              <a:ext uri="{FF2B5EF4-FFF2-40B4-BE49-F238E27FC236}">
                <a16:creationId xmlns:a16="http://schemas.microsoft.com/office/drawing/2014/main" id="{01E87788-7367-4CB0-9687-70CC628C47AA}"/>
              </a:ext>
            </a:extLst>
          </p:cNvPr>
          <p:cNvSpPr>
            <a:spLocks noGrp="1"/>
          </p:cNvSpPr>
          <p:nvPr/>
        </p:nvSpPr>
        <p:spPr>
          <a:xfrm>
            <a:off x="5122012" y="3986784"/>
            <a:ext cx="255117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160">
                <a:solidFill>
                  <a:srgbClr val="5378B4"/>
                </a:solidFill>
                <a:latin typeface="Sora"/>
                <a:ea typeface="Segoe UI"/>
                <a:cs typeface="Segoe UI"/>
              </a:rPr>
              <a:t>GOVERNANCE</a:t>
            </a:r>
            <a:endParaRPr sz="900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97C50982-1AAF-4033-8D42-8AE285492F33}"/>
              </a:ext>
            </a:extLst>
          </p:cNvPr>
          <p:cNvSpPr>
            <a:spLocks noGrp="1"/>
          </p:cNvSpPr>
          <p:nvPr/>
        </p:nvSpPr>
        <p:spPr>
          <a:xfrm>
            <a:off x="5122012" y="4224528"/>
            <a:ext cx="255117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Verification Centre</a:t>
            </a:r>
            <a:endParaRPr sz="1250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C39C62F2-0507-4F7B-998C-564322DCCF1F}"/>
              </a:ext>
            </a:extLst>
          </p:cNvPr>
          <p:cNvSpPr>
            <a:spLocks noGrp="1"/>
          </p:cNvSpPr>
          <p:nvPr/>
        </p:nvSpPr>
        <p:spPr>
          <a:xfrm>
            <a:off x="4555084" y="4626864"/>
            <a:ext cx="308152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Keep people responsible for review, refinement and approval.</a:t>
            </a:r>
            <a:endParaRPr sz="950"/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A5F31B5F-55EA-480A-AFDD-C64E1AEF06E8}"/>
              </a:ext>
            </a:extLst>
          </p:cNvPr>
          <p:cNvSpPr>
            <a:spLocks noGrp="1"/>
          </p:cNvSpPr>
          <p:nvPr/>
        </p:nvSpPr>
        <p:spPr>
          <a:xfrm>
            <a:off x="8095183" y="3803904"/>
            <a:ext cx="3520440" cy="1755648"/>
          </a:xfrm>
          <a:prstGeom prst="roundRect">
            <a:avLst>
              <a:gd name="adj" fmla="val 3646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BE1F45F6-DA33-4C14-A185-A30EFB057C6F}"/>
              </a:ext>
            </a:extLst>
          </p:cNvPr>
          <p:cNvSpPr>
            <a:spLocks noGrp="1"/>
          </p:cNvSpPr>
          <p:nvPr/>
        </p:nvSpPr>
        <p:spPr>
          <a:xfrm>
            <a:off x="8296351" y="4005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8" name="Image 6">
            <a:extLst>
              <a:ext uri="{FF2B5EF4-FFF2-40B4-BE49-F238E27FC236}">
                <a16:creationId xmlns:a16="http://schemas.microsoft.com/office/drawing/2014/main" id="{B44DAAE5-3815-4301-96B9-FD66E0CB53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6079" y="4114800"/>
            <a:ext cx="237744" cy="237744"/>
          </a:xfrm>
          <a:prstGeom prst="rect">
            <a:avLst/>
          </a:prstGeom>
        </p:spPr>
      </p:pic>
      <p:sp>
        <p:nvSpPr>
          <p:cNvPr id="49" name="Text 40">
            <a:extLst>
              <a:ext uri="{FF2B5EF4-FFF2-40B4-BE49-F238E27FC236}">
                <a16:creationId xmlns:a16="http://schemas.microsoft.com/office/drawing/2014/main" id="{72AEDEA6-4E9A-494C-B667-558F5F03A2A2}"/>
              </a:ext>
            </a:extLst>
          </p:cNvPr>
          <p:cNvSpPr>
            <a:spLocks noGrp="1"/>
          </p:cNvSpPr>
          <p:nvPr/>
        </p:nvSpPr>
        <p:spPr>
          <a:xfrm>
            <a:off x="8881567" y="3986784"/>
            <a:ext cx="255117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 spc="160">
                <a:solidFill>
                  <a:srgbClr val="5378B4"/>
                </a:solidFill>
                <a:latin typeface="Sora"/>
                <a:ea typeface="Segoe UI"/>
                <a:cs typeface="Segoe UI"/>
              </a:rPr>
              <a:t>GOVERNANCE</a:t>
            </a:r>
            <a:endParaRPr sz="900"/>
          </a:p>
        </p:txBody>
      </p:sp>
      <p:sp>
        <p:nvSpPr>
          <p:cNvPr id="50" name="Text 41">
            <a:extLst>
              <a:ext uri="{FF2B5EF4-FFF2-40B4-BE49-F238E27FC236}">
                <a16:creationId xmlns:a16="http://schemas.microsoft.com/office/drawing/2014/main" id="{0446BE41-CA6F-4977-A5BA-7623A4CB6FD4}"/>
              </a:ext>
            </a:extLst>
          </p:cNvPr>
          <p:cNvSpPr>
            <a:spLocks noGrp="1"/>
          </p:cNvSpPr>
          <p:nvPr/>
        </p:nvSpPr>
        <p:spPr>
          <a:xfrm>
            <a:off x="8881567" y="4224528"/>
            <a:ext cx="2551176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Administration</a:t>
            </a:r>
            <a:endParaRPr sz="1250"/>
          </a:p>
        </p:txBody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58330997-88E0-4367-87DE-26178473866A}"/>
              </a:ext>
            </a:extLst>
          </p:cNvPr>
          <p:cNvSpPr>
            <a:spLocks noGrp="1"/>
          </p:cNvSpPr>
          <p:nvPr/>
        </p:nvSpPr>
        <p:spPr>
          <a:xfrm>
            <a:off x="8314639" y="4626864"/>
            <a:ext cx="3081528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Set model availability, access policies and approved knowledge.</a:t>
            </a:r>
            <a:endParaRPr sz="950"/>
          </a:p>
        </p:txBody>
      </p:sp>
      <p:sp>
        <p:nvSpPr>
          <p:cNvPr id="52" name="Shape 43">
            <a:extLst>
              <a:ext uri="{FF2B5EF4-FFF2-40B4-BE49-F238E27FC236}">
                <a16:creationId xmlns:a16="http://schemas.microsoft.com/office/drawing/2014/main" id="{B74585C6-FA20-4F22-AC16-DCB5349C37A8}"/>
              </a:ext>
            </a:extLst>
          </p:cNvPr>
          <p:cNvSpPr>
            <a:spLocks noGrp="1"/>
          </p:cNvSpPr>
          <p:nvPr/>
        </p:nvSpPr>
        <p:spPr>
          <a:xfrm>
            <a:off x="576072" y="5760720"/>
            <a:ext cx="11039551" cy="512064"/>
          </a:xfrm>
          <a:prstGeom prst="roundRect">
            <a:avLst>
              <a:gd name="adj" fmla="val 12500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3" name="Shape 44">
            <a:extLst>
              <a:ext uri="{FF2B5EF4-FFF2-40B4-BE49-F238E27FC236}">
                <a16:creationId xmlns:a16="http://schemas.microsoft.com/office/drawing/2014/main" id="{F2D860DD-8BFF-469F-92D7-36AB13FE4A2C}"/>
              </a:ext>
            </a:extLst>
          </p:cNvPr>
          <p:cNvSpPr>
            <a:spLocks noGrp="1"/>
          </p:cNvSpPr>
          <p:nvPr/>
        </p:nvSpPr>
        <p:spPr>
          <a:xfrm>
            <a:off x="722376" y="5861304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4" name="Image 7">
            <a:extLst>
              <a:ext uri="{FF2B5EF4-FFF2-40B4-BE49-F238E27FC236}">
                <a16:creationId xmlns:a16="http://schemas.microsoft.com/office/drawing/2014/main" id="{36C6ECB7-C052-411B-B648-7A40180D2E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991" y="5935919"/>
            <a:ext cx="161666" cy="161666"/>
          </a:xfrm>
          <a:prstGeom prst="rect">
            <a:avLst/>
          </a:prstGeom>
        </p:spPr>
      </p:pic>
      <p:sp>
        <p:nvSpPr>
          <p:cNvPr id="55" name="Text 45">
            <a:extLst>
              <a:ext uri="{FF2B5EF4-FFF2-40B4-BE49-F238E27FC236}">
                <a16:creationId xmlns:a16="http://schemas.microsoft.com/office/drawing/2014/main" id="{B644A80D-8353-4130-A491-4423FE87B49D}"/>
              </a:ext>
            </a:extLst>
          </p:cNvPr>
          <p:cNvSpPr>
            <a:spLocks noGrp="1"/>
          </p:cNvSpPr>
          <p:nvPr/>
        </p:nvSpPr>
        <p:spPr>
          <a:xfrm>
            <a:off x="1143000" y="5760720"/>
            <a:ext cx="10326319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Microsoft services provide connected enterprise experiences; self-hosted </a:t>
            </a:r>
            <a:r>
              <a:rPr lang="en-US" sz="11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open-source AI models</a:t>
            </a:r>
            <a:r>
              <a:rPr sz="11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 provide local control. </a:t>
            </a:r>
            <a:r>
              <a:rPr lang="en-US" sz="11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B</a:t>
            </a:r>
            <a:r>
              <a:rPr sz="11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ursaIQ applies the same governance across both.</a:t>
            </a:r>
            <a:endParaRPr sz="1150" dirty="0"/>
          </a:p>
        </p:txBody>
      </p:sp>
      <p:sp>
        <p:nvSpPr>
          <p:cNvPr id="56" name="Text 46">
            <a:extLst>
              <a:ext uri="{FF2B5EF4-FFF2-40B4-BE49-F238E27FC236}">
                <a16:creationId xmlns:a16="http://schemas.microsoft.com/office/drawing/2014/main" id="{781A016C-C60A-4C12-A4E5-2B2EB687A1D1}"/>
              </a:ext>
            </a:extLst>
          </p:cNvPr>
          <p:cNvSpPr>
            <a:spLocks noGrp="1"/>
          </p:cNvSpPr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75" b="1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IQ</a:t>
            </a:r>
            <a:r>
              <a:rPr sz="975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57" name="Text 47">
            <a:extLst>
              <a:ext uri="{FF2B5EF4-FFF2-40B4-BE49-F238E27FC236}">
                <a16:creationId xmlns:a16="http://schemas.microsoft.com/office/drawing/2014/main" id="{31AE4EEF-4A7E-456D-80C6-705AB61F018C}"/>
              </a:ext>
            </a:extLst>
          </p:cNvPr>
          <p:cNvSpPr>
            <a:spLocks noGrp="1"/>
          </p:cNvSpPr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75" b="1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13 / 19</a:t>
            </a:r>
            <a:endParaRPr sz="975"/>
          </a:p>
        </p:txBody>
      </p:sp>
      <p:sp>
        <p:nvSpPr>
          <p:cNvPr id="59" name="Oval 58"/>
          <p:cNvSpPr/>
          <p:nvPr/>
        </p:nvSpPr>
        <p:spPr>
          <a:xfrm>
            <a:off x="772667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86384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00100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13815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27531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41248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54964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868680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882395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96111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09828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23544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372600" y="6547104"/>
            <a:ext cx="96012" cy="96012"/>
          </a:xfrm>
          <a:prstGeom prst="ellipse">
            <a:avLst/>
          </a:prstGeom>
          <a:solidFill>
            <a:srgbClr val="506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50975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64691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78408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992124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005840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019555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Shape 14">
            <a:extLst>
              <a:ext uri="{FF2B5EF4-FFF2-40B4-BE49-F238E27FC236}">
                <a16:creationId xmlns:a16="http://schemas.microsoft.com/office/drawing/2014/main" id="{36C2780C-EC39-6720-1EE5-C685C8BE72E1}"/>
              </a:ext>
            </a:extLst>
          </p:cNvPr>
          <p:cNvSpPr>
            <a:spLocks noGrp="1"/>
          </p:cNvSpPr>
          <p:nvPr/>
        </p:nvSpPr>
        <p:spPr>
          <a:xfrm>
            <a:off x="10756087" y="1998105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15">
            <a:extLst>
              <a:ext uri="{FF2B5EF4-FFF2-40B4-BE49-F238E27FC236}">
                <a16:creationId xmlns:a16="http://schemas.microsoft.com/office/drawing/2014/main" id="{69D08A5A-73E7-89F4-9524-9B03A8CDCD01}"/>
              </a:ext>
            </a:extLst>
          </p:cNvPr>
          <p:cNvSpPr>
            <a:spLocks noGrp="1"/>
          </p:cNvSpPr>
          <p:nvPr/>
        </p:nvSpPr>
        <p:spPr>
          <a:xfrm>
            <a:off x="10756087" y="1998105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750" b="1" spc="100" dirty="0">
                <a:solidFill>
                  <a:srgbClr val="1E2A5E"/>
                </a:solidFill>
                <a:latin typeface="Sora"/>
                <a:cs typeface="Segoe UI"/>
              </a:rPr>
              <a:t>KNOWLEDGE</a:t>
            </a:r>
            <a:endParaRPr sz="750" dirty="0"/>
          </a:p>
        </p:txBody>
      </p:sp>
      <p:sp>
        <p:nvSpPr>
          <p:cNvPr id="84" name="Shape 14">
            <a:extLst>
              <a:ext uri="{FF2B5EF4-FFF2-40B4-BE49-F238E27FC236}">
                <a16:creationId xmlns:a16="http://schemas.microsoft.com/office/drawing/2014/main" id="{4671D56B-BFBF-F5D5-561F-854C008AF074}"/>
              </a:ext>
            </a:extLst>
          </p:cNvPr>
          <p:cNvSpPr>
            <a:spLocks noGrp="1"/>
          </p:cNvSpPr>
          <p:nvPr/>
        </p:nvSpPr>
        <p:spPr>
          <a:xfrm>
            <a:off x="3145536" y="4005072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15">
            <a:extLst>
              <a:ext uri="{FF2B5EF4-FFF2-40B4-BE49-F238E27FC236}">
                <a16:creationId xmlns:a16="http://schemas.microsoft.com/office/drawing/2014/main" id="{479ECAD4-79C3-976E-916C-9FD014AF8234}"/>
              </a:ext>
            </a:extLst>
          </p:cNvPr>
          <p:cNvSpPr>
            <a:spLocks noGrp="1"/>
          </p:cNvSpPr>
          <p:nvPr/>
        </p:nvSpPr>
        <p:spPr>
          <a:xfrm>
            <a:off x="3145536" y="4005072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750" b="1" spc="100" dirty="0">
                <a:solidFill>
                  <a:srgbClr val="1E2A5E"/>
                </a:solidFill>
                <a:latin typeface="Sora"/>
                <a:cs typeface="Segoe UI"/>
              </a:rPr>
              <a:t>MODEL CHOICE</a:t>
            </a:r>
            <a:endParaRPr sz="750" dirty="0"/>
          </a:p>
        </p:txBody>
      </p:sp>
      <p:sp>
        <p:nvSpPr>
          <p:cNvPr id="92" name="Shape 14">
            <a:extLst>
              <a:ext uri="{FF2B5EF4-FFF2-40B4-BE49-F238E27FC236}">
                <a16:creationId xmlns:a16="http://schemas.microsoft.com/office/drawing/2014/main" id="{920AAAA3-6CF6-14E5-CC27-682C4ECC0C73}"/>
              </a:ext>
            </a:extLst>
          </p:cNvPr>
          <p:cNvSpPr>
            <a:spLocks noGrp="1"/>
          </p:cNvSpPr>
          <p:nvPr/>
        </p:nvSpPr>
        <p:spPr>
          <a:xfrm>
            <a:off x="6886804" y="3986784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DDE7FA">
              <a:alpha val="55000"/>
            </a:srgbClr>
          </a:solidFill>
          <a:ln w="9525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Text 15">
            <a:extLst>
              <a:ext uri="{FF2B5EF4-FFF2-40B4-BE49-F238E27FC236}">
                <a16:creationId xmlns:a16="http://schemas.microsoft.com/office/drawing/2014/main" id="{C86526DD-10A3-AE38-BC7E-DF8A1B2ED172}"/>
              </a:ext>
            </a:extLst>
          </p:cNvPr>
          <p:cNvSpPr>
            <a:spLocks noGrp="1"/>
          </p:cNvSpPr>
          <p:nvPr/>
        </p:nvSpPr>
        <p:spPr>
          <a:xfrm>
            <a:off x="6905092" y="3983736"/>
            <a:ext cx="768096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750" b="1" spc="100" dirty="0">
                <a:solidFill>
                  <a:srgbClr val="1E2A5E"/>
                </a:solidFill>
                <a:latin typeface="Sora"/>
                <a:cs typeface="Segoe UI"/>
              </a:rPr>
              <a:t>GOVERNANCE</a:t>
            </a:r>
            <a:endParaRPr sz="750" dirty="0"/>
          </a:p>
        </p:txBody>
      </p:sp>
    </p:spTree>
    <p:extLst>
      <p:ext uri="{BB962C8B-B14F-4D97-AF65-F5344CB8AC3E}">
        <p14:creationId xmlns:p14="http://schemas.microsoft.com/office/powerpoint/2010/main" val="200849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 descr="light_bg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689F229-A7F6-48DD-ABFE-ED9ACFB24D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0629012-9226-43F4-A576-3786F592BB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57F664B-2552-4D4D-B78E-6374ABCCD5A5}"/>
              </a:ext>
            </a:extLst>
          </p:cNvPr>
          <p:cNvSpPr>
            <a:spLocks noGrp="1"/>
          </p:cNvSpPr>
          <p:nvPr/>
        </p:nvSpPr>
        <p:spPr>
          <a:xfrm>
            <a:off x="11162995" y="566928"/>
            <a:ext cx="77724" cy="77724"/>
          </a:xfrm>
          <a:prstGeom prst="ellipse">
            <a:avLst/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7AA7457-17B5-4271-AE68-C4AA7B40C541}"/>
              </a:ext>
            </a:extLst>
          </p:cNvPr>
          <p:cNvSpPr>
            <a:spLocks noGrp="1"/>
          </p:cNvSpPr>
          <p:nvPr/>
        </p:nvSpPr>
        <p:spPr>
          <a:xfrm>
            <a:off x="11350447" y="566928"/>
            <a:ext cx="77724" cy="77724"/>
          </a:xfrm>
          <a:prstGeom prst="ellipse">
            <a:avLst/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92ECF93-8AD0-4B44-801C-694B0FBC7DF6}"/>
              </a:ext>
            </a:extLst>
          </p:cNvPr>
          <p:cNvSpPr>
            <a:spLocks noGrp="1"/>
          </p:cNvSpPr>
          <p:nvPr/>
        </p:nvSpPr>
        <p:spPr>
          <a:xfrm>
            <a:off x="11537899" y="566928"/>
            <a:ext cx="77724" cy="77724"/>
          </a:xfrm>
          <a:prstGeom prst="ellipse">
            <a:avLst/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05A3B59-8767-47A4-B7F6-55C86CB9EBA8}"/>
              </a:ext>
            </a:extLst>
          </p:cNvPr>
          <p:cNvSpPr>
            <a:spLocks noGrp="1"/>
          </p:cNvSpPr>
          <p:nvPr/>
        </p:nvSpPr>
        <p:spPr>
          <a:xfrm>
            <a:off x="576072" y="512064"/>
            <a:ext cx="59436" cy="237744"/>
          </a:xfrm>
          <a:prstGeom prst="roundRect">
            <a:avLst>
              <a:gd name="adj" fmla="val 49231"/>
            </a:avLst>
          </a:prstGeom>
          <a:solidFill>
            <a:srgbClr val="B8C0E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5E5D3E1-8A14-41A1-93F8-BFA65AAFC75F}"/>
              </a:ext>
            </a:extLst>
          </p:cNvPr>
          <p:cNvSpPr>
            <a:spLocks noGrp="1"/>
          </p:cNvSpPr>
          <p:nvPr/>
        </p:nvSpPr>
        <p:spPr>
          <a:xfrm>
            <a:off x="722376" y="457200"/>
            <a:ext cx="10893247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50" b="1" spc="300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12 · THE HYBRID MODEL</a:t>
            </a:r>
            <a:endParaRPr sz="10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BA7ECBC-B696-4C0A-A8A3-6470C8F8E385}"/>
              </a:ext>
            </a:extLst>
          </p:cNvPr>
          <p:cNvSpPr>
            <a:spLocks noGrp="1"/>
          </p:cNvSpPr>
          <p:nvPr/>
        </p:nvSpPr>
        <p:spPr>
          <a:xfrm>
            <a:off x="576072" y="786384"/>
            <a:ext cx="11039551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BursaIQ combines provider choice with consistent control</a:t>
            </a:r>
            <a:endParaRPr sz="26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82617D8-648E-4EB5-ADC5-B68CBA4DC454}"/>
              </a:ext>
            </a:extLst>
          </p:cNvPr>
          <p:cNvSpPr>
            <a:spLocks noGrp="1"/>
          </p:cNvSpPr>
          <p:nvPr/>
        </p:nvSpPr>
        <p:spPr>
          <a:xfrm>
            <a:off x="576072" y="1371600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Microsoft AI services and self-hosted open-source models operate as complementary options inside one governed workspace.</a:t>
            </a:r>
            <a:endParaRPr sz="11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3A0E795-CFB0-48DE-BA0F-B0FA14681190}"/>
              </a:ext>
            </a:extLst>
          </p:cNvPr>
          <p:cNvSpPr>
            <a:spLocks noGrp="1"/>
          </p:cNvSpPr>
          <p:nvPr/>
        </p:nvSpPr>
        <p:spPr>
          <a:xfrm>
            <a:off x="2971800" y="1773936"/>
            <a:ext cx="276148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spc="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Microsoft AI Services</a:t>
            </a:r>
            <a:endParaRPr sz="11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16E022A-51CB-4D66-9079-4822B40A9829}"/>
              </a:ext>
            </a:extLst>
          </p:cNvPr>
          <p:cNvSpPr>
            <a:spLocks noGrp="1"/>
          </p:cNvSpPr>
          <p:nvPr/>
        </p:nvSpPr>
        <p:spPr>
          <a:xfrm>
            <a:off x="5879592" y="1773936"/>
            <a:ext cx="276148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 spc="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Self-hosted Open Source</a:t>
            </a:r>
            <a:endParaRPr sz="11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4F4C173-8440-4F3C-AF35-9B6BAD487246}"/>
              </a:ext>
            </a:extLst>
          </p:cNvPr>
          <p:cNvSpPr>
            <a:spLocks noGrp="1"/>
          </p:cNvSpPr>
          <p:nvPr/>
        </p:nvSpPr>
        <p:spPr>
          <a:xfrm>
            <a:off x="8787384" y="1773936"/>
            <a:ext cx="2761488" cy="365760"/>
          </a:xfrm>
          <a:prstGeom prst="roundRect">
            <a:avLst>
              <a:gd name="adj" fmla="val 20000"/>
            </a:avLst>
          </a:prstGeom>
          <a:solidFill>
            <a:srgbClr val="DDE7FA">
              <a:alpha val="5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BB32944-8621-499F-9A64-C5CEBD432DDE}"/>
              </a:ext>
            </a:extLst>
          </p:cNvPr>
          <p:cNvSpPr>
            <a:spLocks noGrp="1"/>
          </p:cNvSpPr>
          <p:nvPr/>
        </p:nvSpPr>
        <p:spPr>
          <a:xfrm>
            <a:off x="8787384" y="1773936"/>
            <a:ext cx="276148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BursaIQ Governance</a:t>
            </a:r>
            <a:endParaRPr sz="11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840CA2E-472B-4B2F-B0FA-C5B7F6A48ECB}"/>
              </a:ext>
            </a:extLst>
          </p:cNvPr>
          <p:cNvSpPr>
            <a:spLocks noGrp="1"/>
          </p:cNvSpPr>
          <p:nvPr/>
        </p:nvSpPr>
        <p:spPr>
          <a:xfrm>
            <a:off x="576072" y="2231136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Best fit</a:t>
            </a:r>
            <a:endParaRPr sz="10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BFE573B-7E95-4EA7-9F78-D8AFA5CCEB2E}"/>
              </a:ext>
            </a:extLst>
          </p:cNvPr>
          <p:cNvSpPr>
            <a:spLocks noGrp="1"/>
          </p:cNvSpPr>
          <p:nvPr/>
        </p:nvSpPr>
        <p:spPr>
          <a:xfrm>
            <a:off x="2971800" y="2231136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B0BF3B7-4FDC-4585-955C-46C0B0B36DB0}"/>
              </a:ext>
            </a:extLst>
          </p:cNvPr>
          <p:cNvSpPr>
            <a:spLocks noGrp="1"/>
          </p:cNvSpPr>
          <p:nvPr/>
        </p:nvSpPr>
        <p:spPr>
          <a:xfrm>
            <a:off x="3099816" y="2231136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8C6E6FB-30E1-4EC1-9939-D029291BC3DA}"/>
              </a:ext>
            </a:extLst>
          </p:cNvPr>
          <p:cNvSpPr>
            <a:spLocks noGrp="1"/>
          </p:cNvSpPr>
          <p:nvPr/>
        </p:nvSpPr>
        <p:spPr>
          <a:xfrm>
            <a:off x="3410712" y="2231136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Connected enterprise experiences</a:t>
            </a:r>
            <a:endParaRPr sz="9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444339C-C945-4490-872D-6EBA3E476511}"/>
              </a:ext>
            </a:extLst>
          </p:cNvPr>
          <p:cNvSpPr>
            <a:spLocks noGrp="1"/>
          </p:cNvSpPr>
          <p:nvPr/>
        </p:nvSpPr>
        <p:spPr>
          <a:xfrm>
            <a:off x="5879592" y="2231136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679D8DF-493B-4F6A-9121-951A94987F73}"/>
              </a:ext>
            </a:extLst>
          </p:cNvPr>
          <p:cNvSpPr>
            <a:spLocks noGrp="1"/>
          </p:cNvSpPr>
          <p:nvPr/>
        </p:nvSpPr>
        <p:spPr>
          <a:xfrm>
            <a:off x="6007608" y="2231136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FC04FAC-44E6-44A0-BD51-650262A8FECB}"/>
              </a:ext>
            </a:extLst>
          </p:cNvPr>
          <p:cNvSpPr>
            <a:spLocks noGrp="1"/>
          </p:cNvSpPr>
          <p:nvPr/>
        </p:nvSpPr>
        <p:spPr>
          <a:xfrm>
            <a:off x="6318504" y="2231136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Local and controlled processing</a:t>
            </a:r>
            <a:endParaRPr sz="9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4E36DDE-09A2-4B80-A574-916D94DB11B9}"/>
              </a:ext>
            </a:extLst>
          </p:cNvPr>
          <p:cNvSpPr>
            <a:spLocks noGrp="1"/>
          </p:cNvSpPr>
          <p:nvPr/>
        </p:nvSpPr>
        <p:spPr>
          <a:xfrm>
            <a:off x="8787384" y="2231136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F2D22A8-FA75-4CBE-B30E-F2D2B860DECE}"/>
              </a:ext>
            </a:extLst>
          </p:cNvPr>
          <p:cNvSpPr>
            <a:spLocks noGrp="1"/>
          </p:cNvSpPr>
          <p:nvPr/>
        </p:nvSpPr>
        <p:spPr>
          <a:xfrm>
            <a:off x="8915400" y="2231136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3AE75DA-108D-4ED3-80E9-A3917F5FD879}"/>
              </a:ext>
            </a:extLst>
          </p:cNvPr>
          <p:cNvSpPr>
            <a:spLocks noGrp="1"/>
          </p:cNvSpPr>
          <p:nvPr/>
        </p:nvSpPr>
        <p:spPr>
          <a:xfrm>
            <a:off x="9226296" y="2231136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Routes work by context and policy</a:t>
            </a:r>
            <a:endParaRPr sz="95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449A701-56EB-4CB0-A65B-19539F7403B4}"/>
              </a:ext>
            </a:extLst>
          </p:cNvPr>
          <p:cNvSpPr>
            <a:spLocks noGrp="1"/>
          </p:cNvSpPr>
          <p:nvPr/>
        </p:nvSpPr>
        <p:spPr>
          <a:xfrm>
            <a:off x="576072" y="2834640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Deployment choice</a:t>
            </a:r>
            <a:endParaRPr sz="105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21C69415-8226-48C4-BB90-C4A5B4190960}"/>
              </a:ext>
            </a:extLst>
          </p:cNvPr>
          <p:cNvSpPr>
            <a:spLocks noGrp="1"/>
          </p:cNvSpPr>
          <p:nvPr/>
        </p:nvSpPr>
        <p:spPr>
          <a:xfrm>
            <a:off x="2971800" y="2834640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ACBD1C0-16DF-48AA-B374-4A18DB0305E9}"/>
              </a:ext>
            </a:extLst>
          </p:cNvPr>
          <p:cNvSpPr>
            <a:spLocks noGrp="1"/>
          </p:cNvSpPr>
          <p:nvPr/>
        </p:nvSpPr>
        <p:spPr>
          <a:xfrm>
            <a:off x="3099816" y="2834640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C16454A-0758-41E1-B341-64C9498D58B7}"/>
              </a:ext>
            </a:extLst>
          </p:cNvPr>
          <p:cNvSpPr>
            <a:spLocks noGrp="1"/>
          </p:cNvSpPr>
          <p:nvPr/>
        </p:nvSpPr>
        <p:spPr>
          <a:xfrm>
            <a:off x="3410712" y="2834640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Managed Microsoft ecosystem</a:t>
            </a:r>
            <a:endParaRPr sz="9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455128B-438A-44AC-AD10-9127A2799883}"/>
              </a:ext>
            </a:extLst>
          </p:cNvPr>
          <p:cNvSpPr>
            <a:spLocks noGrp="1"/>
          </p:cNvSpPr>
          <p:nvPr/>
        </p:nvSpPr>
        <p:spPr>
          <a:xfrm>
            <a:off x="5879592" y="2834640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1E2482D9-DE16-4D52-8953-992329ABDE45}"/>
              </a:ext>
            </a:extLst>
          </p:cNvPr>
          <p:cNvSpPr>
            <a:spLocks noGrp="1"/>
          </p:cNvSpPr>
          <p:nvPr/>
        </p:nvSpPr>
        <p:spPr>
          <a:xfrm>
            <a:off x="6007608" y="2834640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E187E49-6D39-4900-B627-419C4B9B243D}"/>
              </a:ext>
            </a:extLst>
          </p:cNvPr>
          <p:cNvSpPr>
            <a:spLocks noGrp="1"/>
          </p:cNvSpPr>
          <p:nvPr/>
        </p:nvSpPr>
        <p:spPr>
          <a:xfrm>
            <a:off x="6318504" y="2834640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Bursa-controlled environment</a:t>
            </a:r>
            <a:endParaRPr sz="9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3CBD4835-C282-4E16-87C4-188C425BC496}"/>
              </a:ext>
            </a:extLst>
          </p:cNvPr>
          <p:cNvSpPr>
            <a:spLocks noGrp="1"/>
          </p:cNvSpPr>
          <p:nvPr/>
        </p:nvSpPr>
        <p:spPr>
          <a:xfrm>
            <a:off x="8787384" y="2834640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22A901B0-571B-4E3A-A291-E54D5575AA23}"/>
              </a:ext>
            </a:extLst>
          </p:cNvPr>
          <p:cNvSpPr>
            <a:spLocks noGrp="1"/>
          </p:cNvSpPr>
          <p:nvPr/>
        </p:nvSpPr>
        <p:spPr>
          <a:xfrm>
            <a:off x="8915400" y="2834640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AFE4BA58-D2EB-416A-A9E1-9A87BA6A8BC7}"/>
              </a:ext>
            </a:extLst>
          </p:cNvPr>
          <p:cNvSpPr>
            <a:spLocks noGrp="1"/>
          </p:cNvSpPr>
          <p:nvPr/>
        </p:nvSpPr>
        <p:spPr>
          <a:xfrm>
            <a:off x="9226296" y="2834640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One consistent user experience</a:t>
            </a:r>
            <a:endParaRPr sz="95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01747797-F690-4037-8B32-15B2DB0A15BA}"/>
              </a:ext>
            </a:extLst>
          </p:cNvPr>
          <p:cNvSpPr>
            <a:spLocks noGrp="1"/>
          </p:cNvSpPr>
          <p:nvPr/>
        </p:nvSpPr>
        <p:spPr>
          <a:xfrm>
            <a:off x="576072" y="3438144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Knowledge</a:t>
            </a:r>
            <a:endParaRPr sz="105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45C151F-C400-4718-BACC-336AA245638A}"/>
              </a:ext>
            </a:extLst>
          </p:cNvPr>
          <p:cNvSpPr>
            <a:spLocks noGrp="1"/>
          </p:cNvSpPr>
          <p:nvPr/>
        </p:nvSpPr>
        <p:spPr>
          <a:xfrm>
            <a:off x="2971800" y="3438144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77BAC4FD-7C33-4B21-BE61-444515D4A0C7}"/>
              </a:ext>
            </a:extLst>
          </p:cNvPr>
          <p:cNvSpPr>
            <a:spLocks noGrp="1"/>
          </p:cNvSpPr>
          <p:nvPr/>
        </p:nvSpPr>
        <p:spPr>
          <a:xfrm>
            <a:off x="3099816" y="3438144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D9C9BC99-7728-413F-BB17-C2C62CFE9979}"/>
              </a:ext>
            </a:extLst>
          </p:cNvPr>
          <p:cNvSpPr>
            <a:spLocks noGrp="1"/>
          </p:cNvSpPr>
          <p:nvPr/>
        </p:nvSpPr>
        <p:spPr>
          <a:xfrm>
            <a:off x="3410712" y="3438144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Approved enterprise sources</a:t>
            </a:r>
            <a:endParaRPr sz="95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EAB83602-D5EA-4EDC-B8CE-934A0B814A61}"/>
              </a:ext>
            </a:extLst>
          </p:cNvPr>
          <p:cNvSpPr>
            <a:spLocks noGrp="1"/>
          </p:cNvSpPr>
          <p:nvPr/>
        </p:nvSpPr>
        <p:spPr>
          <a:xfrm>
            <a:off x="5879592" y="3438144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A8E05CD5-BCA3-464F-A643-71B2013D72D7}"/>
              </a:ext>
            </a:extLst>
          </p:cNvPr>
          <p:cNvSpPr>
            <a:spLocks noGrp="1"/>
          </p:cNvSpPr>
          <p:nvPr/>
        </p:nvSpPr>
        <p:spPr>
          <a:xfrm>
            <a:off x="6007608" y="3438144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6748D470-6B41-4E8B-8609-79EE9AF5C474}"/>
              </a:ext>
            </a:extLst>
          </p:cNvPr>
          <p:cNvSpPr>
            <a:spLocks noGrp="1"/>
          </p:cNvSpPr>
          <p:nvPr/>
        </p:nvSpPr>
        <p:spPr>
          <a:xfrm>
            <a:off x="6318504" y="3438144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Approved local sources</a:t>
            </a:r>
            <a:endParaRPr sz="95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A7AF8735-E512-4509-87A8-9B1EB6EEF56A}"/>
              </a:ext>
            </a:extLst>
          </p:cNvPr>
          <p:cNvSpPr>
            <a:spLocks noGrp="1"/>
          </p:cNvSpPr>
          <p:nvPr/>
        </p:nvSpPr>
        <p:spPr>
          <a:xfrm>
            <a:off x="8787384" y="3438144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D0168DA9-7ECD-4F40-B908-3DABF62F03AF}"/>
              </a:ext>
            </a:extLst>
          </p:cNvPr>
          <p:cNvSpPr>
            <a:spLocks noGrp="1"/>
          </p:cNvSpPr>
          <p:nvPr/>
        </p:nvSpPr>
        <p:spPr>
          <a:xfrm>
            <a:off x="8915400" y="3438144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7A9E859D-7707-4B5C-9CC4-01DDB121419F}"/>
              </a:ext>
            </a:extLst>
          </p:cNvPr>
          <p:cNvSpPr>
            <a:spLocks noGrp="1"/>
          </p:cNvSpPr>
          <p:nvPr/>
        </p:nvSpPr>
        <p:spPr>
          <a:xfrm>
            <a:off x="9226296" y="3438144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Common source and evidence controls</a:t>
            </a:r>
            <a:endParaRPr sz="95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17ACF599-4C7D-4020-A58C-7D6053A98811}"/>
              </a:ext>
            </a:extLst>
          </p:cNvPr>
          <p:cNvSpPr>
            <a:spLocks noGrp="1"/>
          </p:cNvSpPr>
          <p:nvPr/>
        </p:nvSpPr>
        <p:spPr>
          <a:xfrm>
            <a:off x="576072" y="4041648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Oversight</a:t>
            </a:r>
            <a:endParaRPr sz="1050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16BC952E-C0E8-46B6-BE4C-75CD7AD437D6}"/>
              </a:ext>
            </a:extLst>
          </p:cNvPr>
          <p:cNvSpPr>
            <a:spLocks noGrp="1"/>
          </p:cNvSpPr>
          <p:nvPr/>
        </p:nvSpPr>
        <p:spPr>
          <a:xfrm>
            <a:off x="2971800" y="4041648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6E8FEFD2-3A94-41CD-B3CF-50A4311FD005}"/>
              </a:ext>
            </a:extLst>
          </p:cNvPr>
          <p:cNvSpPr>
            <a:spLocks noGrp="1"/>
          </p:cNvSpPr>
          <p:nvPr/>
        </p:nvSpPr>
        <p:spPr>
          <a:xfrm>
            <a:off x="3099816" y="4041648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F0561D77-F240-4A33-80BC-BE67C05501C3}"/>
              </a:ext>
            </a:extLst>
          </p:cNvPr>
          <p:cNvSpPr>
            <a:spLocks noGrp="1"/>
          </p:cNvSpPr>
          <p:nvPr/>
        </p:nvSpPr>
        <p:spPr>
          <a:xfrm>
            <a:off x="3410712" y="4041648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Enterprise identity and channels</a:t>
            </a:r>
            <a:endParaRPr sz="950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5285D98C-5C94-4EA2-941E-13A1F9F7EFC5}"/>
              </a:ext>
            </a:extLst>
          </p:cNvPr>
          <p:cNvSpPr>
            <a:spLocks noGrp="1"/>
          </p:cNvSpPr>
          <p:nvPr/>
        </p:nvSpPr>
        <p:spPr>
          <a:xfrm>
            <a:off x="5879592" y="4041648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F762FD2B-9A2D-462C-A21E-157B7F5A707D}"/>
              </a:ext>
            </a:extLst>
          </p:cNvPr>
          <p:cNvSpPr>
            <a:spLocks noGrp="1"/>
          </p:cNvSpPr>
          <p:nvPr/>
        </p:nvSpPr>
        <p:spPr>
          <a:xfrm>
            <a:off x="6007608" y="4041648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115CE381-C4D1-4F4E-9D77-DCC2C6E9B180}"/>
              </a:ext>
            </a:extLst>
          </p:cNvPr>
          <p:cNvSpPr>
            <a:spLocks noGrp="1"/>
          </p:cNvSpPr>
          <p:nvPr/>
        </p:nvSpPr>
        <p:spPr>
          <a:xfrm>
            <a:off x="6318504" y="4041648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Local model and data control</a:t>
            </a:r>
            <a:endParaRPr sz="95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F35CFB19-2CD6-45E8-BA21-5EACABE8A562}"/>
              </a:ext>
            </a:extLst>
          </p:cNvPr>
          <p:cNvSpPr>
            <a:spLocks noGrp="1"/>
          </p:cNvSpPr>
          <p:nvPr/>
        </p:nvSpPr>
        <p:spPr>
          <a:xfrm>
            <a:off x="8787384" y="4041648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35EE53C-E361-45BB-8A9A-7C3E99E1ABD8}"/>
              </a:ext>
            </a:extLst>
          </p:cNvPr>
          <p:cNvSpPr>
            <a:spLocks noGrp="1"/>
          </p:cNvSpPr>
          <p:nvPr/>
        </p:nvSpPr>
        <p:spPr>
          <a:xfrm>
            <a:off x="8915400" y="4041648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5E181297-F061-4FE0-9EEB-FAE1A80FEE08}"/>
              </a:ext>
            </a:extLst>
          </p:cNvPr>
          <p:cNvSpPr>
            <a:spLocks noGrp="1"/>
          </p:cNvSpPr>
          <p:nvPr/>
        </p:nvSpPr>
        <p:spPr>
          <a:xfrm>
            <a:off x="9226296" y="4041648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Human review and audit</a:t>
            </a:r>
            <a:endParaRPr sz="95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1E64B643-2A7D-4CC4-B853-F552FDFDE364}"/>
              </a:ext>
            </a:extLst>
          </p:cNvPr>
          <p:cNvSpPr>
            <a:spLocks noGrp="1"/>
          </p:cNvSpPr>
          <p:nvPr/>
        </p:nvSpPr>
        <p:spPr>
          <a:xfrm>
            <a:off x="576072" y="4645152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Continuity</a:t>
            </a:r>
            <a:endParaRPr sz="1050"/>
          </a:p>
        </p:txBody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95801E6C-D4D6-4283-9F5C-38AF3DF4EC72}"/>
              </a:ext>
            </a:extLst>
          </p:cNvPr>
          <p:cNvSpPr>
            <a:spLocks noGrp="1"/>
          </p:cNvSpPr>
          <p:nvPr/>
        </p:nvSpPr>
        <p:spPr>
          <a:xfrm>
            <a:off x="2971800" y="4645152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FDB3AB63-163B-4C75-A997-457ABD9D2167}"/>
              </a:ext>
            </a:extLst>
          </p:cNvPr>
          <p:cNvSpPr>
            <a:spLocks noGrp="1"/>
          </p:cNvSpPr>
          <p:nvPr/>
        </p:nvSpPr>
        <p:spPr>
          <a:xfrm>
            <a:off x="3099816" y="4645152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F2C60BEB-8202-4392-B70B-D074F07C8D72}"/>
              </a:ext>
            </a:extLst>
          </p:cNvPr>
          <p:cNvSpPr>
            <a:spLocks noGrp="1"/>
          </p:cNvSpPr>
          <p:nvPr/>
        </p:nvSpPr>
        <p:spPr>
          <a:xfrm>
            <a:off x="3410712" y="4645152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Configured Microsoft availability</a:t>
            </a:r>
            <a:endParaRPr sz="950"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0BA6CADC-7EED-412E-9792-E22AF3C1EEAF}"/>
              </a:ext>
            </a:extLst>
          </p:cNvPr>
          <p:cNvSpPr>
            <a:spLocks noGrp="1"/>
          </p:cNvSpPr>
          <p:nvPr/>
        </p:nvSpPr>
        <p:spPr>
          <a:xfrm>
            <a:off x="5879592" y="4645152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7A385259-9097-40F9-BE0C-FD2348732795}"/>
              </a:ext>
            </a:extLst>
          </p:cNvPr>
          <p:cNvSpPr>
            <a:spLocks noGrp="1"/>
          </p:cNvSpPr>
          <p:nvPr/>
        </p:nvSpPr>
        <p:spPr>
          <a:xfrm>
            <a:off x="6007608" y="4645152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8952CEC7-170F-44C0-8498-E3EC893F6E73}"/>
              </a:ext>
            </a:extLst>
          </p:cNvPr>
          <p:cNvSpPr>
            <a:spLocks noGrp="1"/>
          </p:cNvSpPr>
          <p:nvPr/>
        </p:nvSpPr>
        <p:spPr>
          <a:xfrm>
            <a:off x="6318504" y="4645152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Independent local model option</a:t>
            </a:r>
            <a:endParaRPr sz="950"/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91DB2EA5-57E5-4245-A22C-1DE02FC80DE3}"/>
              </a:ext>
            </a:extLst>
          </p:cNvPr>
          <p:cNvSpPr>
            <a:spLocks noGrp="1"/>
          </p:cNvSpPr>
          <p:nvPr/>
        </p:nvSpPr>
        <p:spPr>
          <a:xfrm>
            <a:off x="8787384" y="4645152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AF4E9A73-4E3E-4EE6-8309-3204B05F6051}"/>
              </a:ext>
            </a:extLst>
          </p:cNvPr>
          <p:cNvSpPr>
            <a:spLocks noGrp="1"/>
          </p:cNvSpPr>
          <p:nvPr/>
        </p:nvSpPr>
        <p:spPr>
          <a:xfrm>
            <a:off x="8915400" y="4645152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49E96D19-0507-480F-9A51-410B4CC64E9C}"/>
              </a:ext>
            </a:extLst>
          </p:cNvPr>
          <p:cNvSpPr>
            <a:spLocks noGrp="1"/>
          </p:cNvSpPr>
          <p:nvPr/>
        </p:nvSpPr>
        <p:spPr>
          <a:xfrm>
            <a:off x="9226296" y="4645152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Visible provider status and choice</a:t>
            </a:r>
            <a:endParaRPr sz="950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CB84D041-2B42-42E9-B343-755910DF12D0}"/>
              </a:ext>
            </a:extLst>
          </p:cNvPr>
          <p:cNvSpPr>
            <a:spLocks noGrp="1"/>
          </p:cNvSpPr>
          <p:nvPr/>
        </p:nvSpPr>
        <p:spPr>
          <a:xfrm>
            <a:off x="576072" y="5248656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Strategic role</a:t>
            </a:r>
            <a:endParaRPr sz="1050"/>
          </a:p>
        </p:txBody>
      </p:sp>
      <p:sp>
        <p:nvSpPr>
          <p:cNvPr id="67" name="Shape 64">
            <a:extLst>
              <a:ext uri="{FF2B5EF4-FFF2-40B4-BE49-F238E27FC236}">
                <a16:creationId xmlns:a16="http://schemas.microsoft.com/office/drawing/2014/main" id="{777B618F-3203-4755-AD5B-05DD162C88AB}"/>
              </a:ext>
            </a:extLst>
          </p:cNvPr>
          <p:cNvSpPr>
            <a:spLocks noGrp="1"/>
          </p:cNvSpPr>
          <p:nvPr/>
        </p:nvSpPr>
        <p:spPr>
          <a:xfrm>
            <a:off x="2971800" y="5248656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619CBE37-AB85-468D-A61C-61239EC46AF3}"/>
              </a:ext>
            </a:extLst>
          </p:cNvPr>
          <p:cNvSpPr>
            <a:spLocks noGrp="1"/>
          </p:cNvSpPr>
          <p:nvPr/>
        </p:nvSpPr>
        <p:spPr>
          <a:xfrm>
            <a:off x="3099816" y="5248656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4114C61D-25E4-4645-B8B5-3216451250E6}"/>
              </a:ext>
            </a:extLst>
          </p:cNvPr>
          <p:cNvSpPr>
            <a:spLocks noGrp="1"/>
          </p:cNvSpPr>
          <p:nvPr/>
        </p:nvSpPr>
        <p:spPr>
          <a:xfrm>
            <a:off x="3410712" y="5248656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Connected cloud capability</a:t>
            </a:r>
            <a:endParaRPr sz="950"/>
          </a:p>
        </p:txBody>
      </p:sp>
      <p:sp>
        <p:nvSpPr>
          <p:cNvPr id="70" name="Shape 67">
            <a:extLst>
              <a:ext uri="{FF2B5EF4-FFF2-40B4-BE49-F238E27FC236}">
                <a16:creationId xmlns:a16="http://schemas.microsoft.com/office/drawing/2014/main" id="{8DFE3C45-8B84-4584-A114-E3F1D85CB622}"/>
              </a:ext>
            </a:extLst>
          </p:cNvPr>
          <p:cNvSpPr>
            <a:spLocks noGrp="1"/>
          </p:cNvSpPr>
          <p:nvPr/>
        </p:nvSpPr>
        <p:spPr>
          <a:xfrm>
            <a:off x="5879592" y="5248656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AD4B0C98-AF25-4DA3-A0E8-A02A085B1914}"/>
              </a:ext>
            </a:extLst>
          </p:cNvPr>
          <p:cNvSpPr>
            <a:spLocks noGrp="1"/>
          </p:cNvSpPr>
          <p:nvPr/>
        </p:nvSpPr>
        <p:spPr>
          <a:xfrm>
            <a:off x="6007608" y="5248656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10E98650-13A5-4CD2-8FD1-D39B3AA297BD}"/>
              </a:ext>
            </a:extLst>
          </p:cNvPr>
          <p:cNvSpPr>
            <a:spLocks noGrp="1"/>
          </p:cNvSpPr>
          <p:nvPr/>
        </p:nvSpPr>
        <p:spPr>
          <a:xfrm>
            <a:off x="6318504" y="5248656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Control over selected workloads</a:t>
            </a:r>
            <a:endParaRPr sz="950"/>
          </a:p>
        </p:txBody>
      </p:sp>
      <p:sp>
        <p:nvSpPr>
          <p:cNvPr id="73" name="Shape 70">
            <a:extLst>
              <a:ext uri="{FF2B5EF4-FFF2-40B4-BE49-F238E27FC236}">
                <a16:creationId xmlns:a16="http://schemas.microsoft.com/office/drawing/2014/main" id="{511957BB-07ED-4BD5-A5ED-6FB194004B5B}"/>
              </a:ext>
            </a:extLst>
          </p:cNvPr>
          <p:cNvSpPr>
            <a:spLocks noGrp="1"/>
          </p:cNvSpPr>
          <p:nvPr/>
        </p:nvSpPr>
        <p:spPr>
          <a:xfrm>
            <a:off x="8787384" y="5248656"/>
            <a:ext cx="2761488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64000"/>
            </a:srgbClr>
          </a:solidFill>
          <a:ln w="13335">
            <a:solidFill>
              <a:srgbClr val="FFFFFF">
                <a:alpha val="8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240D60C3-DC72-4E32-9A5B-961F95FD449F}"/>
              </a:ext>
            </a:extLst>
          </p:cNvPr>
          <p:cNvSpPr>
            <a:spLocks noGrp="1"/>
          </p:cNvSpPr>
          <p:nvPr/>
        </p:nvSpPr>
        <p:spPr>
          <a:xfrm>
            <a:off x="8915400" y="5248656"/>
            <a:ext cx="27432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✓</a:t>
            </a:r>
            <a:endParaRPr sz="1200"/>
          </a:p>
        </p:txBody>
      </p:sp>
      <p:sp>
        <p:nvSpPr>
          <p:cNvPr id="75" name="Text 72">
            <a:extLst>
              <a:ext uri="{FF2B5EF4-FFF2-40B4-BE49-F238E27FC236}">
                <a16:creationId xmlns:a16="http://schemas.microsoft.com/office/drawing/2014/main" id="{3DB9F73F-C211-4EBA-A16A-DC63EA7F145E}"/>
              </a:ext>
            </a:extLst>
          </p:cNvPr>
          <p:cNvSpPr>
            <a:spLocks noGrp="1"/>
          </p:cNvSpPr>
          <p:nvPr/>
        </p:nvSpPr>
        <p:spPr>
          <a:xfrm>
            <a:off x="9226296" y="5248656"/>
            <a:ext cx="2212848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A shared </a:t>
            </a:r>
            <a:r>
              <a:rPr lang="en-US" sz="10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governance </a:t>
            </a:r>
            <a:r>
              <a:rPr sz="1000" b="1" dirty="0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layer across both paths</a:t>
            </a:r>
            <a:endParaRPr sz="950" dirty="0"/>
          </a:p>
        </p:txBody>
      </p:sp>
      <p:sp>
        <p:nvSpPr>
          <p:cNvPr id="76" name="Text 73">
            <a:extLst>
              <a:ext uri="{FF2B5EF4-FFF2-40B4-BE49-F238E27FC236}">
                <a16:creationId xmlns:a16="http://schemas.microsoft.com/office/drawing/2014/main" id="{42E408D0-6A7E-408B-B932-504D06955AA0}"/>
              </a:ext>
            </a:extLst>
          </p:cNvPr>
          <p:cNvSpPr>
            <a:spLocks noGrp="1"/>
          </p:cNvSpPr>
          <p:nvPr/>
        </p:nvSpPr>
        <p:spPr>
          <a:xfrm>
            <a:off x="576072" y="5943600"/>
            <a:ext cx="11039551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1E2A5E"/>
                </a:solidFill>
                <a:latin typeface="Sora"/>
                <a:ea typeface="Segoe UI"/>
                <a:cs typeface="Segoe UI"/>
              </a:rPr>
              <a:t>The proposal supports a hybrid model strategy without splitting the user experience or governance model.</a:t>
            </a:r>
            <a:endParaRPr sz="1150"/>
          </a:p>
        </p:txBody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FDF2EADD-15CB-4FAE-A2EF-8D1480D49A2B}"/>
              </a:ext>
            </a:extLst>
          </p:cNvPr>
          <p:cNvSpPr>
            <a:spLocks noGrp="1"/>
          </p:cNvSpPr>
          <p:nvPr/>
        </p:nvSpPr>
        <p:spPr>
          <a:xfrm>
            <a:off x="576072" y="645566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75" b="1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Bursa</a:t>
            </a:r>
            <a:r>
              <a:rPr sz="975" b="1">
                <a:solidFill>
                  <a:srgbClr val="5474B0"/>
                </a:solidFill>
                <a:latin typeface="Sora"/>
                <a:ea typeface="Segoe UI"/>
                <a:cs typeface="Segoe UI"/>
              </a:rPr>
              <a:t>IQ</a:t>
            </a:r>
            <a:r>
              <a:rPr sz="975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   ·   Prompt-a-thon 2026</a:t>
            </a:r>
            <a:endParaRPr sz="975"/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ED0A90EE-444C-4435-BCE4-973ED2D13893}"/>
              </a:ext>
            </a:extLst>
          </p:cNvPr>
          <p:cNvSpPr>
            <a:spLocks noGrp="1"/>
          </p:cNvSpPr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75" b="1">
                <a:solidFill>
                  <a:srgbClr val="6B7A99"/>
                </a:solidFill>
                <a:latin typeface="Sora"/>
                <a:ea typeface="Segoe UI"/>
                <a:cs typeface="Segoe UI"/>
              </a:rPr>
              <a:t>15 / 19</a:t>
            </a:r>
            <a:endParaRPr sz="975"/>
          </a:p>
        </p:txBody>
      </p:sp>
      <p:sp>
        <p:nvSpPr>
          <p:cNvPr id="80" name="Oval 79"/>
          <p:cNvSpPr/>
          <p:nvPr/>
        </p:nvSpPr>
        <p:spPr>
          <a:xfrm>
            <a:off x="772667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786384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800100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813815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827531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41248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854964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868680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882395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896111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909828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923544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9372600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9509759" y="6547104"/>
            <a:ext cx="59436" cy="59436"/>
          </a:xfrm>
          <a:prstGeom prst="ellipse">
            <a:avLst/>
          </a:prstGeom>
          <a:solidFill>
            <a:srgbClr val="AAB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9646919" y="6547104"/>
            <a:ext cx="96012" cy="96012"/>
          </a:xfrm>
          <a:prstGeom prst="ellipse">
            <a:avLst/>
          </a:prstGeom>
          <a:solidFill>
            <a:srgbClr val="506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978408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992124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0058400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0195559" y="6547104"/>
            <a:ext cx="59436" cy="59436"/>
          </a:xfrm>
          <a:prstGeom prst="ellipse">
            <a:avLst/>
          </a:prstGeom>
          <a:solidFill>
            <a:srgbClr val="D9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35894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600</Words>
  <Application>Microsoft Office PowerPoint</Application>
  <DocSecurity>0</DocSecurity>
  <PresentationFormat>Widescreen</PresentationFormat>
  <Paragraphs>131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Sora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Lim Kim Hoong</cp:lastModifiedBy>
  <cp:revision>2</cp:revision>
  <dcterms:created xsi:type="dcterms:W3CDTF">2026-10-09T13:28:09Z</dcterms:created>
  <dcterms:modified xsi:type="dcterms:W3CDTF">2026-10-21T09:21:50Z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d48a1c6-a2ec-49d2-beaa-ed3d16628e0e_Enabled">
    <vt:lpwstr>true</vt:lpwstr>
  </property>
  <property fmtid="{D5CDD505-2E9C-101B-9397-08002B2CF9AE}" pid="3" name="MSIP_Label_0d48a1c6-a2ec-49d2-beaa-ed3d16628e0e_SetDate">
    <vt:lpwstr>2026-10-19T06:27:32Z</vt:lpwstr>
  </property>
  <property fmtid="{D5CDD505-2E9C-101B-9397-08002B2CF9AE}" pid="4" name="MSIP_Label_0d48a1c6-a2ec-49d2-beaa-ed3d16628e0e_Method">
    <vt:lpwstr>Standard</vt:lpwstr>
  </property>
  <property fmtid="{D5CDD505-2E9C-101B-9397-08002B2CF9AE}" pid="5" name="MSIP_Label_0d48a1c6-a2ec-49d2-beaa-ed3d16628e0e_Name">
    <vt:lpwstr>Public</vt:lpwstr>
  </property>
  <property fmtid="{D5CDD505-2E9C-101B-9397-08002B2CF9AE}" pid="6" name="MSIP_Label_0d48a1c6-a2ec-49d2-beaa-ed3d16628e0e_SiteId">
    <vt:lpwstr>d6d2c0de-fe9d-4b6f-90eb-25edd69db24c</vt:lpwstr>
  </property>
  <property fmtid="{D5CDD505-2E9C-101B-9397-08002B2CF9AE}" pid="7" name="MSIP_Label_0d48a1c6-a2ec-49d2-beaa-ed3d16628e0e_ActionId">
    <vt:lpwstr>21c0d7a5-e764-4ab2-8030-2c06440f707d</vt:lpwstr>
  </property>
  <property fmtid="{D5CDD505-2E9C-101B-9397-08002B2CF9AE}" pid="8" name="MSIP_Label_0d48a1c6-a2ec-49d2-beaa-ed3d16628e0e_ContentBits">
    <vt:lpwstr>0</vt:lpwstr>
  </property>
  <property fmtid="{D5CDD505-2E9C-101B-9397-08002B2CF9AE}" pid="9" name="MSIP_Label_0d48a1c6-a2ec-49d2-beaa-ed3d16628e0e_Tag">
    <vt:lpwstr>10, 3, 0, 1</vt:lpwstr>
  </property>
</Properties>
</file>